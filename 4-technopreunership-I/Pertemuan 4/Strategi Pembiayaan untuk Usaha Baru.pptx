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27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7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27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7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1996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MATERI KULIAH · KEWIRAUSAHAAN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40660"/>
            <a:ext cx="10883392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 Pembiayaan untuk Usaha Baru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33578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C9D2D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modal, sumber dana, analisa BEP, dan kelayakan usaha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7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dalam Pencarian Modal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5"/>
            <a:ext cx="3380317" cy="1192530"/>
          </a:xfrm>
          <a:prstGeom prst="roundRect">
            <a:avLst>
              <a:gd name="adj" fmla="val 825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72920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Minim agunan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1080" y="2092960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Usaha baru belum punya aset yang diterima bank sebagai jaminan.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05842" y="1567815"/>
            <a:ext cx="3380317" cy="1192530"/>
          </a:xfrm>
          <a:prstGeom prst="roundRect">
            <a:avLst>
              <a:gd name="adj" fmla="val 825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0946" y="1772920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Belum ada rekam jejak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0946" y="2092960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Belum ada riwayat penjualan dan arus kas yang bisa dinilai pemberi dana.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95708" y="1567815"/>
            <a:ext cx="3380317" cy="1192530"/>
          </a:xfrm>
          <a:prstGeom prst="roundRect">
            <a:avLst>
              <a:gd name="adj" fmla="val 825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00813" y="1772920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Biaya dana tinggi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00813" y="2092960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Bunga, provisi, dan syarat pinjaman bisa memberatkan di awal usaha.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2969895"/>
            <a:ext cx="3380317" cy="1423670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080" y="3175000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Proposal lemah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1080" y="3495040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Rencana bisnis dan proyeksi keuangan belum disusun meyakinkan.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05842" y="2969895"/>
            <a:ext cx="3380317" cy="1423670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0946" y="3175000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Pembukuan belum rapi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0946" y="3495040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Uang pribadi dan usaha tercampur, laporan keuangan tidak tersedia.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95708" y="2969895"/>
            <a:ext cx="3380317" cy="1423670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0813" y="3175000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Informasi terbatas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00813" y="3495040"/>
            <a:ext cx="305921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Pengusaha pemula kurang tahu skema dan lembaga pembiayaan yang tersedia.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7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Jenis-jenis Pembiayaan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74799"/>
          <a:ext cx="10556240" cy="388112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C27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Jenis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C27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Ciri utama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C27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Contoh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</a:tr>
              <a:tr h="8331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7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Modal sendiri (ekuitas)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7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Tanpa kewajiban cicilan, risiko ditanggung pemilik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7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Tabungan, patungan mitra, investor saham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31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7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Utang (kredit)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7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Wajib dikembalikan pokok dan bunga, sering perlu agunan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7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Kredit bank, KUR, pinjaman koperasi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31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7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Bagi hasil (syariah)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7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Keuntungan dan risiko dibagi sesuai akad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7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Mudharabah, musyarakah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31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7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Hibah dan bantuan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7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Tidak perlu dikembalikan, ada syarat program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7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Hibah pemerintah, dana CSR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7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Faktor Penentu dalam Pembiayaan Usaha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3380317" cy="1192530"/>
          </a:xfrm>
          <a:prstGeom prst="roundRect">
            <a:avLst>
              <a:gd name="adj" fmla="val 825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72920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Besar kebutuhan modal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1080" y="2092961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Hitung modal investasi dan modal kerja yang benar-benar diperlukan.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05842" y="1567814"/>
            <a:ext cx="3380317" cy="1192530"/>
          </a:xfrm>
          <a:prstGeom prst="roundRect">
            <a:avLst>
              <a:gd name="adj" fmla="val 825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0946" y="1772920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Biaya modal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0946" y="2092961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Bunga atau bagi hasil yang dibayar harus lebih kecil dari manfaat usaha.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95708" y="1567814"/>
            <a:ext cx="3380317" cy="1192530"/>
          </a:xfrm>
          <a:prstGeom prst="roundRect">
            <a:avLst>
              <a:gd name="adj" fmla="val 825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00813" y="1772920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Jangka waktu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00813" y="2092961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Tenor pembiayaan disesuaikan dengan umur manfaat dana dan arus kas.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2969895"/>
            <a:ext cx="3380317" cy="1423670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080" y="3175000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Tingkat risiko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1080" y="3495039"/>
            <a:ext cx="305921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Risiko pasar, operasional, dan keuangan memengaruhi minat pemberi dana.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05842" y="2969895"/>
            <a:ext cx="3380317" cy="1423670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0946" y="3175000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Kemampuan membayar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0946" y="3495039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Proyeksi arus kas harus mampu menutup cicilan secara rutin.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95708" y="2969895"/>
            <a:ext cx="3380317" cy="1423670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0813" y="3175000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Kontrol kepemilikan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00813" y="3495039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Dana dari investor dapat mengurangi porsi dan kendali pemilik.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7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Analisa BEP: Kedai Kopi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5175250" cy="165481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72921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(contoh ilustrasi)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1080" y="2092961"/>
            <a:ext cx="4907991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Harga jual Rp25.000 per cup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Biaya variabel Rp10.000 per cup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Biaya tetap Rp9.000.000 per bulan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Margin kontribusi Rp15.000 (60%)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00775" y="1567814"/>
            <a:ext cx="5175250" cy="165481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5880" y="1772921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Rumus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5880" y="2092961"/>
            <a:ext cx="490799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BEP unit = Biaya tetap ÷ (Harga − Biaya variabel)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BEP rupiah = Biaya tetap ÷ Margin kontribusi 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75" y="3432175"/>
            <a:ext cx="5175250" cy="1192530"/>
          </a:xfrm>
          <a:prstGeom prst="roundRect">
            <a:avLst>
              <a:gd name="adj" fmla="val 8253"/>
            </a:avLst>
          </a:prstGeom>
          <a:solidFill>
            <a:srgbClr val="12263A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1080" y="3637279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Hasil BEP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1080" y="3957321"/>
            <a:ext cx="490799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BEP unit = 9.000.000 ÷ 15.000 = 600 cup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BEP rupiah = 600 × 25.000 = Rp15.000.000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00775" y="3432175"/>
            <a:ext cx="5175250" cy="1192530"/>
          </a:xfrm>
          <a:prstGeom prst="roundRect">
            <a:avLst>
              <a:gd name="adj" fmla="val 8253"/>
            </a:avLst>
          </a:prstGeom>
          <a:solidFill>
            <a:srgbClr val="12263A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5880" y="3637279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Interpretasi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5880" y="3957321"/>
            <a:ext cx="490799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Jika terjual 900 cup per bulan, laba = 300 × 15.000 = Rp4.500.000. Di bawah 600 cup usaha merugi.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7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Dari Mana Modal Didapat?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5175250" cy="1885950"/>
          </a:xfrm>
          <a:prstGeom prst="roundRect">
            <a:avLst>
              <a:gd name="adj" fmla="val 5219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72921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Sumber internal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1080" y="2092961"/>
            <a:ext cx="490799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Tabungan pribadi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Keluarga dan teman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Laba ditahan dari usaha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00775" y="1567814"/>
            <a:ext cx="5175250" cy="1885950"/>
          </a:xfrm>
          <a:prstGeom prst="roundRect">
            <a:avLst>
              <a:gd name="adj" fmla="val 5219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5880" y="1772921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Sumber eksternal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5880" y="2092961"/>
            <a:ext cx="4907991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Bank dan KUR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Koperasi dan lembaga keuangan non-bank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Investor (angel, venture capital)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Crowdfunding dan pinjaman online berizin OJK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Hibah pemerintah dan program CSR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7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Aspek Penilaian Kelayakan Usaha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3380317" cy="1192530"/>
          </a:xfrm>
          <a:prstGeom prst="roundRect">
            <a:avLst>
              <a:gd name="adj" fmla="val 825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72921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Pasar dan pemasaran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1080" y="2092961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Ukuran pasar, segmen, pesaing, dan strategi pemasaran.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05842" y="1567814"/>
            <a:ext cx="3380317" cy="1192530"/>
          </a:xfrm>
          <a:prstGeom prst="roundRect">
            <a:avLst>
              <a:gd name="adj" fmla="val 825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0946" y="1772921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Teknis dan operasional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0946" y="2092961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Lokasi, bahan baku, peralatan, dan proses produksi.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95708" y="1567814"/>
            <a:ext cx="3380317" cy="1192530"/>
          </a:xfrm>
          <a:prstGeom prst="roundRect">
            <a:avLst>
              <a:gd name="adj" fmla="val 825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00813" y="1772921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Manajemen dan SDM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00813" y="2092961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Kompetensi pemilik, struktur organisasi, dan tenaga kerja.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2969896"/>
            <a:ext cx="3380317" cy="1192530"/>
          </a:xfrm>
          <a:prstGeom prst="roundRect">
            <a:avLst>
              <a:gd name="adj" fmla="val 825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080" y="3175000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Hukum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1080" y="3495039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Legalitas usaha, perizinan, dan perlindungan merek.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05842" y="2969896"/>
            <a:ext cx="3380317" cy="1192530"/>
          </a:xfrm>
          <a:prstGeom prst="roundRect">
            <a:avLst>
              <a:gd name="adj" fmla="val 825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0946" y="3175000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Keuangan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0946" y="3495039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Kebutuhan dana, BEP, NPV, IRR, dan payback period.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95708" y="2969896"/>
            <a:ext cx="3380317" cy="1192530"/>
          </a:xfrm>
          <a:prstGeom prst="roundRect">
            <a:avLst>
              <a:gd name="adj" fmla="val 825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0813" y="3175000"/>
            <a:ext cx="30592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7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Sosial, ekonomi, lingkungan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00813" y="3495039"/>
            <a:ext cx="30592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Dampak bagi masyarakat, lapangan kerja, dan lingkungan.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ategi Pembiayaan untuk Usaha Baru">
  <a:themeElements>
    <a:clrScheme name="Strategi Pembiayaan untuk Usaha Baru">
      <a:dk1>
        <a:srgbClr val="1C2733"/>
      </a:dk1>
      <a:lt1>
        <a:srgbClr val="F6F4EE"/>
      </a:lt1>
      <a:dk2>
        <a:srgbClr val="535A62"/>
      </a:dk2>
      <a:lt2>
        <a:srgbClr val="E0E0DB"/>
      </a:lt2>
      <a:accent1>
        <a:srgbClr val="E07A2F"/>
      </a:accent1>
      <a:accent2>
        <a:srgbClr val="4A5560"/>
      </a:accent2>
      <a:accent3>
        <a:srgbClr val="C9D2DA"/>
      </a:accent3>
      <a:accent4>
        <a:srgbClr val="9AA0A6"/>
      </a:accent4>
      <a:accent5>
        <a:srgbClr val="73797E"/>
      </a:accent5>
      <a:accent6>
        <a:srgbClr val="94989A"/>
      </a:accent6>
      <a:hlink>
        <a:srgbClr val="0563C1"/>
      </a:hlink>
      <a:folHlink>
        <a:srgbClr val="954F72"/>
      </a:folHlink>
    </a:clrScheme>
    <a:fontScheme name="Strategi Pembiayaan untuk Usaha Baru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 Pembiayaan untuk Usaha Baru</dc:title>
  <dc:subject/>
  <dc:creator/>
  <cp:lastModifiedBy/>
  <cp:revision>1</cp:revision>
  <dcterms:created xsi:type="dcterms:W3CDTF">2026-10-12T23:11:34Z</dcterms:created>
  <dcterms:modified xsi:type="dcterms:W3CDTF">2026-10-12T23:11:34Z</dcterms:modified>
</cp:coreProperties>
</file>