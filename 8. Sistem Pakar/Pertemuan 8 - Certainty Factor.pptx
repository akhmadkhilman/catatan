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72" r:id="rId4"/>
  </p:sldMasterIdLst>
  <p:notesMasterIdLst>
    <p:notesMasterId r:id="rId33"/>
  </p:notesMasterIdLst>
  <p:handoutMasterIdLst>
    <p:handoutMasterId r:id="rId34"/>
  </p:handoutMasterIdLst>
  <p:sldIdLst>
    <p:sldId id="256" r:id="rId5"/>
    <p:sldId id="261" r:id="rId6"/>
    <p:sldId id="262" r:id="rId7"/>
    <p:sldId id="263" r:id="rId8"/>
    <p:sldId id="264" r:id="rId9"/>
    <p:sldId id="265" r:id="rId10"/>
    <p:sldId id="267"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60"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48" autoAdjust="0"/>
  </p:normalViewPr>
  <p:slideViewPr>
    <p:cSldViewPr snapToGrid="0">
      <p:cViewPr varScale="1">
        <p:scale>
          <a:sx n="66" d="100"/>
          <a:sy n="66" d="100"/>
        </p:scale>
        <p:origin x="816" y="66"/>
      </p:cViewPr>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44646B-21C0-410B-BA17-64C59EB292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289392C-F5C5-4C38-94CE-455C7F4027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929A4FD-FAFB-4CDA-9DC5-D20CA18269A9}" type="datetimeFigureOut">
              <a:rPr lang="en-US" smtClean="0"/>
              <a:t>10/8/2026</a:t>
            </a:fld>
            <a:endParaRPr lang="en-US" dirty="0"/>
          </a:p>
        </p:txBody>
      </p:sp>
      <p:sp>
        <p:nvSpPr>
          <p:cNvPr id="4" name="Footer Placeholder 3">
            <a:extLst>
              <a:ext uri="{FF2B5EF4-FFF2-40B4-BE49-F238E27FC236}">
                <a16:creationId xmlns:a16="http://schemas.microsoft.com/office/drawing/2014/main" id="{A62F3D2C-86D2-4CEA-B1B8-750885E16DD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A6D5F72-69F2-4B4B-A943-B04C4B1E36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3BEBA49-8001-49C3-9348-74483362155A}" type="slidenum">
              <a:rPr lang="en-US" smtClean="0"/>
              <a:t>‹#›</a:t>
            </a:fld>
            <a:endParaRPr lang="en-US" dirty="0"/>
          </a:p>
        </p:txBody>
      </p:sp>
    </p:spTree>
    <p:extLst>
      <p:ext uri="{BB962C8B-B14F-4D97-AF65-F5344CB8AC3E}">
        <p14:creationId xmlns:p14="http://schemas.microsoft.com/office/powerpoint/2010/main" val="27479060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91E35E-F34C-4F0E-B8A1-D9F5F49CB3AD}" type="datetimeFigureOut">
              <a:rPr lang="en-US" smtClean="0"/>
              <a:t>10/8/2026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3F15BC-4AA1-41C4-8C26-91A7E3BB93DC}" type="slidenum">
              <a:rPr lang="en-US" smtClean="0"/>
              <a:t>‹#›</a:t>
            </a:fld>
            <a:endParaRPr lang="en-US" dirty="0"/>
          </a:p>
        </p:txBody>
      </p:sp>
    </p:spTree>
    <p:extLst>
      <p:ext uri="{BB962C8B-B14F-4D97-AF65-F5344CB8AC3E}">
        <p14:creationId xmlns:p14="http://schemas.microsoft.com/office/powerpoint/2010/main" val="1413467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1</a:t>
            </a:fld>
            <a:endParaRPr lang="en-US" dirty="0"/>
          </a:p>
        </p:txBody>
      </p:sp>
    </p:spTree>
    <p:extLst>
      <p:ext uri="{BB962C8B-B14F-4D97-AF65-F5344CB8AC3E}">
        <p14:creationId xmlns:p14="http://schemas.microsoft.com/office/powerpoint/2010/main" val="4150052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2</a:t>
            </a:fld>
            <a:endParaRPr lang="en-US" dirty="0"/>
          </a:p>
        </p:txBody>
      </p:sp>
    </p:spTree>
    <p:extLst>
      <p:ext uri="{BB962C8B-B14F-4D97-AF65-F5344CB8AC3E}">
        <p14:creationId xmlns:p14="http://schemas.microsoft.com/office/powerpoint/2010/main" val="3573156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3</a:t>
            </a:fld>
            <a:endParaRPr lang="en-US" dirty="0"/>
          </a:p>
        </p:txBody>
      </p:sp>
    </p:spTree>
    <p:extLst>
      <p:ext uri="{BB962C8B-B14F-4D97-AF65-F5344CB8AC3E}">
        <p14:creationId xmlns:p14="http://schemas.microsoft.com/office/powerpoint/2010/main" val="15378363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4</a:t>
            </a:fld>
            <a:endParaRPr lang="en-US" dirty="0"/>
          </a:p>
        </p:txBody>
      </p:sp>
    </p:spTree>
    <p:extLst>
      <p:ext uri="{BB962C8B-B14F-4D97-AF65-F5344CB8AC3E}">
        <p14:creationId xmlns:p14="http://schemas.microsoft.com/office/powerpoint/2010/main" val="4410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5</a:t>
            </a:fld>
            <a:endParaRPr lang="en-US" dirty="0"/>
          </a:p>
        </p:txBody>
      </p:sp>
    </p:spTree>
    <p:extLst>
      <p:ext uri="{BB962C8B-B14F-4D97-AF65-F5344CB8AC3E}">
        <p14:creationId xmlns:p14="http://schemas.microsoft.com/office/powerpoint/2010/main" val="202768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6</a:t>
            </a:fld>
            <a:endParaRPr lang="en-US" dirty="0"/>
          </a:p>
        </p:txBody>
      </p:sp>
    </p:spTree>
    <p:extLst>
      <p:ext uri="{BB962C8B-B14F-4D97-AF65-F5344CB8AC3E}">
        <p14:creationId xmlns:p14="http://schemas.microsoft.com/office/powerpoint/2010/main" val="4169568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7</a:t>
            </a:fld>
            <a:endParaRPr lang="en-US" dirty="0"/>
          </a:p>
        </p:txBody>
      </p:sp>
    </p:spTree>
    <p:extLst>
      <p:ext uri="{BB962C8B-B14F-4D97-AF65-F5344CB8AC3E}">
        <p14:creationId xmlns:p14="http://schemas.microsoft.com/office/powerpoint/2010/main" val="761416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8</a:t>
            </a:fld>
            <a:endParaRPr lang="en-US" dirty="0"/>
          </a:p>
        </p:txBody>
      </p:sp>
    </p:spTree>
    <p:extLst>
      <p:ext uri="{BB962C8B-B14F-4D97-AF65-F5344CB8AC3E}">
        <p14:creationId xmlns:p14="http://schemas.microsoft.com/office/powerpoint/2010/main" val="745181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9</a:t>
            </a:fld>
            <a:endParaRPr lang="en-US" dirty="0"/>
          </a:p>
        </p:txBody>
      </p:sp>
    </p:spTree>
    <p:extLst>
      <p:ext uri="{BB962C8B-B14F-4D97-AF65-F5344CB8AC3E}">
        <p14:creationId xmlns:p14="http://schemas.microsoft.com/office/powerpoint/2010/main" val="3923484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10</a:t>
            </a:fld>
            <a:endParaRPr lang="en-US" dirty="0"/>
          </a:p>
        </p:txBody>
      </p:sp>
    </p:spTree>
    <p:extLst>
      <p:ext uri="{BB962C8B-B14F-4D97-AF65-F5344CB8AC3E}">
        <p14:creationId xmlns:p14="http://schemas.microsoft.com/office/powerpoint/2010/main" val="3347127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11</a:t>
            </a:fld>
            <a:endParaRPr lang="en-US" dirty="0"/>
          </a:p>
        </p:txBody>
      </p:sp>
    </p:spTree>
    <p:extLst>
      <p:ext uri="{BB962C8B-B14F-4D97-AF65-F5344CB8AC3E}">
        <p14:creationId xmlns:p14="http://schemas.microsoft.com/office/powerpoint/2010/main" val="8234870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12</a:t>
            </a:fld>
            <a:endParaRPr lang="en-US" dirty="0"/>
          </a:p>
        </p:txBody>
      </p:sp>
    </p:spTree>
    <p:extLst>
      <p:ext uri="{BB962C8B-B14F-4D97-AF65-F5344CB8AC3E}">
        <p14:creationId xmlns:p14="http://schemas.microsoft.com/office/powerpoint/2010/main" val="17352299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13</a:t>
            </a:fld>
            <a:endParaRPr lang="en-US" dirty="0"/>
          </a:p>
        </p:txBody>
      </p:sp>
    </p:spTree>
    <p:extLst>
      <p:ext uri="{BB962C8B-B14F-4D97-AF65-F5344CB8AC3E}">
        <p14:creationId xmlns:p14="http://schemas.microsoft.com/office/powerpoint/2010/main" val="436768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14</a:t>
            </a:fld>
            <a:endParaRPr lang="en-US" dirty="0"/>
          </a:p>
        </p:txBody>
      </p:sp>
    </p:spTree>
    <p:extLst>
      <p:ext uri="{BB962C8B-B14F-4D97-AF65-F5344CB8AC3E}">
        <p14:creationId xmlns:p14="http://schemas.microsoft.com/office/powerpoint/2010/main" val="4343473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15</a:t>
            </a:fld>
            <a:endParaRPr lang="en-US" dirty="0"/>
          </a:p>
        </p:txBody>
      </p:sp>
    </p:spTree>
    <p:extLst>
      <p:ext uri="{BB962C8B-B14F-4D97-AF65-F5344CB8AC3E}">
        <p14:creationId xmlns:p14="http://schemas.microsoft.com/office/powerpoint/2010/main" val="10978168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16</a:t>
            </a:fld>
            <a:endParaRPr lang="en-US" dirty="0"/>
          </a:p>
        </p:txBody>
      </p:sp>
    </p:spTree>
    <p:extLst>
      <p:ext uri="{BB962C8B-B14F-4D97-AF65-F5344CB8AC3E}">
        <p14:creationId xmlns:p14="http://schemas.microsoft.com/office/powerpoint/2010/main" val="4263620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17</a:t>
            </a:fld>
            <a:endParaRPr lang="en-US" dirty="0"/>
          </a:p>
        </p:txBody>
      </p:sp>
    </p:spTree>
    <p:extLst>
      <p:ext uri="{BB962C8B-B14F-4D97-AF65-F5344CB8AC3E}">
        <p14:creationId xmlns:p14="http://schemas.microsoft.com/office/powerpoint/2010/main" val="6395195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18</a:t>
            </a:fld>
            <a:endParaRPr lang="en-US" dirty="0"/>
          </a:p>
        </p:txBody>
      </p:sp>
    </p:spTree>
    <p:extLst>
      <p:ext uri="{BB962C8B-B14F-4D97-AF65-F5344CB8AC3E}">
        <p14:creationId xmlns:p14="http://schemas.microsoft.com/office/powerpoint/2010/main" val="21369737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19</a:t>
            </a:fld>
            <a:endParaRPr lang="en-US" dirty="0"/>
          </a:p>
        </p:txBody>
      </p:sp>
    </p:spTree>
    <p:extLst>
      <p:ext uri="{BB962C8B-B14F-4D97-AF65-F5344CB8AC3E}">
        <p14:creationId xmlns:p14="http://schemas.microsoft.com/office/powerpoint/2010/main" val="23143264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20</a:t>
            </a:fld>
            <a:endParaRPr lang="en-US" dirty="0"/>
          </a:p>
        </p:txBody>
      </p:sp>
    </p:spTree>
    <p:extLst>
      <p:ext uri="{BB962C8B-B14F-4D97-AF65-F5344CB8AC3E}">
        <p14:creationId xmlns:p14="http://schemas.microsoft.com/office/powerpoint/2010/main" val="3757740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21</a:t>
            </a:fld>
            <a:endParaRPr lang="en-US" dirty="0"/>
          </a:p>
        </p:txBody>
      </p:sp>
    </p:spTree>
    <p:extLst>
      <p:ext uri="{BB962C8B-B14F-4D97-AF65-F5344CB8AC3E}">
        <p14:creationId xmlns:p14="http://schemas.microsoft.com/office/powerpoint/2010/main" val="34018604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22</a:t>
            </a:fld>
            <a:endParaRPr lang="en-US" dirty="0"/>
          </a:p>
        </p:txBody>
      </p:sp>
    </p:spTree>
    <p:extLst>
      <p:ext uri="{BB962C8B-B14F-4D97-AF65-F5344CB8AC3E}">
        <p14:creationId xmlns:p14="http://schemas.microsoft.com/office/powerpoint/2010/main" val="21014391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23</a:t>
            </a:fld>
            <a:endParaRPr lang="en-US" dirty="0"/>
          </a:p>
        </p:txBody>
      </p:sp>
    </p:spTree>
    <p:extLst>
      <p:ext uri="{BB962C8B-B14F-4D97-AF65-F5344CB8AC3E}">
        <p14:creationId xmlns:p14="http://schemas.microsoft.com/office/powerpoint/2010/main" val="23537491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24</a:t>
            </a:fld>
            <a:endParaRPr lang="en-US" dirty="0"/>
          </a:p>
        </p:txBody>
      </p:sp>
    </p:spTree>
    <p:extLst>
      <p:ext uri="{BB962C8B-B14F-4D97-AF65-F5344CB8AC3E}">
        <p14:creationId xmlns:p14="http://schemas.microsoft.com/office/powerpoint/2010/main" val="5436728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25</a:t>
            </a:fld>
            <a:endParaRPr lang="en-US" dirty="0"/>
          </a:p>
        </p:txBody>
      </p:sp>
    </p:spTree>
    <p:extLst>
      <p:ext uri="{BB962C8B-B14F-4D97-AF65-F5344CB8AC3E}">
        <p14:creationId xmlns:p14="http://schemas.microsoft.com/office/powerpoint/2010/main" val="3346086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26</a:t>
            </a:fld>
            <a:endParaRPr lang="en-US" dirty="0"/>
          </a:p>
        </p:txBody>
      </p:sp>
    </p:spTree>
    <p:extLst>
      <p:ext uri="{BB962C8B-B14F-4D97-AF65-F5344CB8AC3E}">
        <p14:creationId xmlns:p14="http://schemas.microsoft.com/office/powerpoint/2010/main" val="8387319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27</a:t>
            </a:fld>
            <a:endParaRPr lang="en-US" dirty="0"/>
          </a:p>
        </p:txBody>
      </p:sp>
    </p:spTree>
    <p:extLst>
      <p:ext uri="{BB962C8B-B14F-4D97-AF65-F5344CB8AC3E}">
        <p14:creationId xmlns:p14="http://schemas.microsoft.com/office/powerpoint/2010/main" val="32541414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28</a:t>
            </a:fld>
            <a:endParaRPr lang="en-US" dirty="0"/>
          </a:p>
        </p:txBody>
      </p:sp>
    </p:spTree>
    <p:extLst>
      <p:ext uri="{BB962C8B-B14F-4D97-AF65-F5344CB8AC3E}">
        <p14:creationId xmlns:p14="http://schemas.microsoft.com/office/powerpoint/2010/main" val="3122064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10/8/2026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6000" dirty="0">
                <a:solidFill>
                  <a:schemeClr val="bg1"/>
                </a:solidFill>
              </a:rPr>
              <a:t>METODE CERTANTY FACTOR</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r>
              <a:rPr lang="en-US" dirty="0">
                <a:solidFill>
                  <a:srgbClr val="7CEBFF"/>
                </a:solidFill>
              </a:rPr>
              <a:t>EXPERT SYSTEM</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solidFill>
                  <a:srgbClr val="FFFEFF"/>
                </a:solidFill>
              </a:rPr>
              <a:t>KONSEP DASAR</a:t>
            </a: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p:txBody>
          <a:bodyPr>
            <a:normAutofit/>
          </a:bodyPr>
          <a:lstStyle/>
          <a:p>
            <a:pPr marL="0" indent="0" algn="ctr">
              <a:buNone/>
            </a:pPr>
            <a:r>
              <a:rPr lang="id-ID" sz="3600" dirty="0"/>
              <a:t>Faktor kepastian (</a:t>
            </a:r>
            <a:r>
              <a:rPr lang="id-ID" sz="3600" i="1" dirty="0"/>
              <a:t>Certainty Factor</a:t>
            </a:r>
            <a:r>
              <a:rPr lang="id-ID" sz="3600" dirty="0"/>
              <a:t>) menyatakan kepercayaan dalam sebuah kejadian (atau fakta atau hipotesis) berdasarkan bukti atau penilaian pakar. Certainty factor menggunakan suatu nilai untuk mengasumsi derajad keyakinan seorang pakar terhadap suatu data. </a:t>
            </a:r>
          </a:p>
        </p:txBody>
      </p:sp>
    </p:spTree>
    <p:extLst>
      <p:ext uri="{BB962C8B-B14F-4D97-AF65-F5344CB8AC3E}">
        <p14:creationId xmlns:p14="http://schemas.microsoft.com/office/powerpoint/2010/main" val="170334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solidFill>
                  <a:srgbClr val="FFFEFF"/>
                </a:solidFill>
              </a:rPr>
              <a:t>KONSEP DASAR</a:t>
            </a: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p:txBody>
          <a:bodyPr>
            <a:normAutofit fontScale="62500" lnSpcReduction="20000"/>
          </a:bodyPr>
          <a:lstStyle/>
          <a:p>
            <a:r>
              <a:rPr lang="en-US" sz="3600" dirty="0"/>
              <a:t>C</a:t>
            </a:r>
            <a:r>
              <a:rPr lang="id-ID" sz="3600" dirty="0"/>
              <a:t>ertainty factor adalah suatu metode untuk membuktikan apakah suatu fakta itu pasti ataukah tidak pasti yang berbentuk metric yang biasanya digunakan dalam sistem pakar. Metode ini sangat cocok untuk sistem pakar yang mendiagnosis sesuatu yang belum pasti.</a:t>
            </a:r>
          </a:p>
          <a:p>
            <a:r>
              <a:rPr lang="id-ID" sz="3600" dirty="0"/>
              <a:t>Faktor kepastian (certainty factor) diperkenalkan oleh Shortliffe Buchanan dalam pembuatan MYCIN. Certainty Factor (CF) merupakan nilai parameter klinis yang diberikan MYCIN untuk menunjukkan besarnya kepercayaan. Certainty Factor didefinisikan sebagai persamaan berikut :</a:t>
            </a:r>
          </a:p>
          <a:p>
            <a:pPr marL="0" indent="0">
              <a:buNone/>
            </a:pPr>
            <a:r>
              <a:rPr lang="id-ID" sz="3600" dirty="0"/>
              <a:t>	CF (H, E) = MB (H, E) – MD (H, E)</a:t>
            </a:r>
          </a:p>
          <a:p>
            <a:pPr marL="0" indent="0">
              <a:buNone/>
            </a:pPr>
            <a:r>
              <a:rPr lang="id-ID" sz="3600" dirty="0"/>
              <a:t>	CF (H, E) : Certainty Factor dari hipotesis H yang dipengaruhi oleh</a:t>
            </a:r>
          </a:p>
          <a:p>
            <a:pPr marL="0" indent="0">
              <a:buNone/>
            </a:pPr>
            <a:r>
              <a:rPr lang="id-ID" sz="3600" dirty="0"/>
              <a:t>                               gejala (evidence) E.</a:t>
            </a:r>
          </a:p>
        </p:txBody>
      </p:sp>
    </p:spTree>
    <p:extLst>
      <p:ext uri="{BB962C8B-B14F-4D97-AF65-F5344CB8AC3E}">
        <p14:creationId xmlns:p14="http://schemas.microsoft.com/office/powerpoint/2010/main" val="2414625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solidFill>
                  <a:srgbClr val="FFFEFF"/>
                </a:solidFill>
              </a:rPr>
              <a:t>KONSEP DASAR</a:t>
            </a: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p:txBody>
          <a:bodyPr>
            <a:normAutofit fontScale="85000" lnSpcReduction="20000"/>
          </a:bodyPr>
          <a:lstStyle/>
          <a:p>
            <a:r>
              <a:rPr lang="id-ID" sz="3600" dirty="0"/>
              <a:t>Besarnya CF berkisar antara -1 sampai 1. Nilai -1 menunjukkan ketidakpercayaan mutlak sedangkan nilai 1 menunjukkan kepercayaan mutlak.</a:t>
            </a:r>
          </a:p>
          <a:p>
            <a:r>
              <a:rPr lang="id-ID" sz="3600" dirty="0"/>
              <a:t>MB (H, E) : ukuran kenaikan kepercayaan (measure of increased belief) terhadap hipotesis H yang dipengaruhi oleh gejala E.</a:t>
            </a:r>
          </a:p>
          <a:p>
            <a:r>
              <a:rPr lang="id-ID" sz="3600" dirty="0"/>
              <a:t>MD (H, E) : ukuran kenaikan ketidakpercayaan (measure of increased disbelief) terhadap hipotesis H yang dipengaruhi oleh gejala E.</a:t>
            </a:r>
          </a:p>
        </p:txBody>
      </p:sp>
    </p:spTree>
    <p:extLst>
      <p:ext uri="{BB962C8B-B14F-4D97-AF65-F5344CB8AC3E}">
        <p14:creationId xmlns:p14="http://schemas.microsoft.com/office/powerpoint/2010/main" val="2074952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solidFill>
                  <a:srgbClr val="FFFEFF"/>
                </a:solidFill>
              </a:rPr>
              <a:t>KONSEP DASAR</a:t>
            </a: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p:txBody>
          <a:bodyPr>
            <a:normAutofit fontScale="77500" lnSpcReduction="20000"/>
          </a:bodyPr>
          <a:lstStyle/>
          <a:p>
            <a:r>
              <a:rPr lang="id-ID" sz="3600" dirty="0"/>
              <a:t>Bentuk dasar rumus certainty factor, adalah sebuah aturan JIKA E MAKA H seperti ditunjukkan oleh persamaan 2 berikut:</a:t>
            </a:r>
          </a:p>
          <a:p>
            <a:pPr marL="0" indent="0">
              <a:buNone/>
            </a:pPr>
            <a:r>
              <a:rPr lang="id-ID" sz="3600" dirty="0"/>
              <a:t>	CF (H, e) = CF (E, e) * CF (H, E)</a:t>
            </a:r>
          </a:p>
          <a:p>
            <a:pPr marL="0" indent="0">
              <a:buNone/>
            </a:pPr>
            <a:r>
              <a:rPr lang="id-ID" sz="3600" dirty="0"/>
              <a:t>Dimana</a:t>
            </a:r>
          </a:p>
          <a:p>
            <a:r>
              <a:rPr lang="id-ID" sz="3600" dirty="0"/>
              <a:t>CF (H, e) : certainty factor hipotesis yang dipengaruhi oleh evidence e.</a:t>
            </a:r>
          </a:p>
          <a:p>
            <a:r>
              <a:rPr lang="id-ID" sz="3600" dirty="0"/>
              <a:t>CF (E, e) : certainty factor evidence E yang dipengaruhi oleh evidence e</a:t>
            </a:r>
          </a:p>
          <a:p>
            <a:r>
              <a:rPr lang="id-ID" sz="3600" dirty="0"/>
              <a:t>CF (H, E) : certainty factor hipotesis dengan asumsi evidence diketahui dengan pasti, yaitu ketika CF(E, e) = 1</a:t>
            </a:r>
          </a:p>
        </p:txBody>
      </p:sp>
    </p:spTree>
    <p:extLst>
      <p:ext uri="{BB962C8B-B14F-4D97-AF65-F5344CB8AC3E}">
        <p14:creationId xmlns:p14="http://schemas.microsoft.com/office/powerpoint/2010/main" val="873502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solidFill>
                  <a:srgbClr val="FFFEFF"/>
                </a:solidFill>
              </a:rPr>
              <a:t>KONSEP DASAR</a:t>
            </a: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p:txBody>
          <a:bodyPr>
            <a:normAutofit fontScale="92500" lnSpcReduction="10000"/>
          </a:bodyPr>
          <a:lstStyle/>
          <a:p>
            <a:r>
              <a:rPr lang="id-ID" sz="3600" dirty="0"/>
              <a:t>Jika semua evidence pada antecedent diketahui dengan pasti maka persamaannya akan menjadi:</a:t>
            </a:r>
          </a:p>
          <a:p>
            <a:pPr marL="0" indent="0">
              <a:buNone/>
            </a:pPr>
            <a:r>
              <a:rPr lang="id-ID" sz="3600" dirty="0"/>
              <a:t>	CF (E, e) = CF (H, E)</a:t>
            </a:r>
          </a:p>
          <a:p>
            <a:r>
              <a:rPr lang="id-ID" sz="3600" dirty="0"/>
              <a:t>Dalam aplikasinya, CF(H,E) merupakan nilai kepastian yang diberikan oleh pakar terhadap suatu aturan, sedangkan CF(E,e) merupakan nilai kerpercayaan yang diberikan oleh pengguna terhadap gejala yang dialaminya.</a:t>
            </a:r>
          </a:p>
        </p:txBody>
      </p:sp>
    </p:spTree>
    <p:extLst>
      <p:ext uri="{BB962C8B-B14F-4D97-AF65-F5344CB8AC3E}">
        <p14:creationId xmlns:p14="http://schemas.microsoft.com/office/powerpoint/2010/main" val="3249236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err="1"/>
              <a:t>Faktor</a:t>
            </a:r>
            <a:r>
              <a:rPr lang="en-US" dirty="0"/>
              <a:t> </a:t>
            </a:r>
            <a:r>
              <a:rPr lang="en-US" dirty="0" err="1"/>
              <a:t>kepastian</a:t>
            </a:r>
            <a:r>
              <a:rPr lang="en-US" dirty="0"/>
              <a:t> (Certainty Factor)</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p:txBody>
          <a:bodyPr>
            <a:normAutofit fontScale="92500" lnSpcReduction="10000"/>
          </a:bodyPr>
          <a:lstStyle/>
          <a:p>
            <a:r>
              <a:rPr lang="en-US" sz="3600" dirty="0" err="1"/>
              <a:t>Teori</a:t>
            </a:r>
            <a:r>
              <a:rPr lang="en-US" sz="3600" dirty="0"/>
              <a:t> Certainty factors (CF) </a:t>
            </a:r>
            <a:r>
              <a:rPr lang="en-US" sz="3600" dirty="0" err="1"/>
              <a:t>merupakan</a:t>
            </a:r>
            <a:r>
              <a:rPr lang="en-US" sz="3600" dirty="0"/>
              <a:t> </a:t>
            </a:r>
            <a:r>
              <a:rPr lang="en-US" sz="3600" dirty="0" err="1"/>
              <a:t>alternatif</a:t>
            </a:r>
            <a:r>
              <a:rPr lang="en-US" sz="3600" dirty="0"/>
              <a:t> </a:t>
            </a:r>
            <a:r>
              <a:rPr lang="en-US" sz="3600" dirty="0" err="1"/>
              <a:t>bagi</a:t>
            </a:r>
            <a:r>
              <a:rPr lang="en-US" sz="3600" dirty="0"/>
              <a:t> </a:t>
            </a:r>
            <a:r>
              <a:rPr lang="en-US" sz="3600" dirty="0" err="1"/>
              <a:t>penalaran</a:t>
            </a:r>
            <a:r>
              <a:rPr lang="en-US" sz="3600" dirty="0"/>
              <a:t> Bayes.</a:t>
            </a:r>
          </a:p>
          <a:p>
            <a:r>
              <a:rPr lang="en-US" sz="3600" dirty="0" err="1"/>
              <a:t>Menggunakan</a:t>
            </a:r>
            <a:r>
              <a:rPr lang="en-US" sz="3600" dirty="0"/>
              <a:t> </a:t>
            </a:r>
            <a:r>
              <a:rPr lang="en-US" sz="3600" dirty="0" err="1"/>
              <a:t>pendekatan</a:t>
            </a:r>
            <a:r>
              <a:rPr lang="en-US" sz="3600" dirty="0"/>
              <a:t> </a:t>
            </a:r>
            <a:r>
              <a:rPr lang="en-US" sz="3600" dirty="0" err="1"/>
              <a:t>heuristik</a:t>
            </a:r>
            <a:r>
              <a:rPr lang="en-US" sz="3600" dirty="0"/>
              <a:t> </a:t>
            </a:r>
            <a:r>
              <a:rPr lang="en-US" sz="3600" dirty="0" err="1"/>
              <a:t>dalam</a:t>
            </a:r>
            <a:r>
              <a:rPr lang="en-US" sz="3600" dirty="0"/>
              <a:t> </a:t>
            </a:r>
            <a:r>
              <a:rPr lang="en-US" sz="3600" dirty="0" err="1"/>
              <a:t>penalaran</a:t>
            </a:r>
            <a:r>
              <a:rPr lang="en-US" sz="3600" dirty="0"/>
              <a:t> </a:t>
            </a:r>
            <a:r>
              <a:rPr lang="en-US" sz="3600" dirty="0" err="1"/>
              <a:t>dengan</a:t>
            </a:r>
            <a:r>
              <a:rPr lang="en-US" sz="3600" dirty="0"/>
              <a:t> </a:t>
            </a:r>
            <a:r>
              <a:rPr lang="en-US" sz="3600" dirty="0" err="1"/>
              <a:t>ketidakpastian</a:t>
            </a:r>
            <a:r>
              <a:rPr lang="en-US" sz="3600" dirty="0"/>
              <a:t>.</a:t>
            </a:r>
          </a:p>
          <a:p>
            <a:r>
              <a:rPr lang="en-US" sz="3600" dirty="0" err="1"/>
              <a:t>Pakar</a:t>
            </a:r>
            <a:r>
              <a:rPr lang="en-US" sz="3600" dirty="0"/>
              <a:t> </a:t>
            </a:r>
            <a:r>
              <a:rPr lang="en-US" sz="3600" dirty="0" err="1"/>
              <a:t>membobot</a:t>
            </a:r>
            <a:r>
              <a:rPr lang="en-US" sz="3600" dirty="0"/>
              <a:t> </a:t>
            </a:r>
            <a:r>
              <a:rPr lang="en-US" sz="3600" dirty="0" err="1"/>
              <a:t>keyakinan</a:t>
            </a:r>
            <a:r>
              <a:rPr lang="en-US" sz="3600" dirty="0"/>
              <a:t> </a:t>
            </a:r>
            <a:r>
              <a:rPr lang="en-US" sz="3600" dirty="0" err="1"/>
              <a:t>dari</a:t>
            </a:r>
            <a:r>
              <a:rPr lang="en-US" sz="3600" dirty="0"/>
              <a:t> </a:t>
            </a:r>
            <a:r>
              <a:rPr lang="en-US" sz="3600" dirty="0" err="1"/>
              <a:t>kesimpulannya</a:t>
            </a:r>
            <a:r>
              <a:rPr lang="en-US" sz="3600" dirty="0"/>
              <a:t> dan </a:t>
            </a:r>
            <a:r>
              <a:rPr lang="en-US" sz="3600" dirty="0" err="1"/>
              <a:t>langkah-langkah</a:t>
            </a:r>
            <a:r>
              <a:rPr lang="en-US" sz="3600" dirty="0"/>
              <a:t> </a:t>
            </a:r>
            <a:r>
              <a:rPr lang="en-US" sz="3600" dirty="0" err="1"/>
              <a:t>penalarannya</a:t>
            </a:r>
            <a:r>
              <a:rPr lang="en-US" sz="3600" dirty="0"/>
              <a:t> </a:t>
            </a:r>
            <a:r>
              <a:rPr lang="en-US" sz="3600" dirty="0" err="1"/>
              <a:t>dengan</a:t>
            </a:r>
            <a:r>
              <a:rPr lang="en-US" sz="3600" dirty="0"/>
              <a:t> </a:t>
            </a:r>
            <a:r>
              <a:rPr lang="en-US" sz="3600" dirty="0" err="1"/>
              <a:t>istilah</a:t>
            </a:r>
            <a:r>
              <a:rPr lang="en-US" sz="3600" dirty="0"/>
              <a:t> “</a:t>
            </a:r>
            <a:r>
              <a:rPr lang="en-US" sz="3600" dirty="0" err="1"/>
              <a:t>tidak</a:t>
            </a:r>
            <a:r>
              <a:rPr lang="en-US" sz="3600" dirty="0"/>
              <a:t> </a:t>
            </a:r>
            <a:r>
              <a:rPr lang="en-US" sz="3600" dirty="0" err="1"/>
              <a:t>Mungkin</a:t>
            </a:r>
            <a:r>
              <a:rPr lang="en-US" sz="3600" dirty="0"/>
              <a:t>”, “</a:t>
            </a:r>
            <a:r>
              <a:rPr lang="en-US" sz="3600" dirty="0" err="1"/>
              <a:t>hampir</a:t>
            </a:r>
            <a:r>
              <a:rPr lang="en-US" sz="3600" dirty="0"/>
              <a:t> </a:t>
            </a:r>
            <a:r>
              <a:rPr lang="en-US" sz="3600" dirty="0" err="1"/>
              <a:t>pasti</a:t>
            </a:r>
            <a:r>
              <a:rPr lang="en-US" sz="3600" dirty="0"/>
              <a:t>”, “</a:t>
            </a:r>
            <a:r>
              <a:rPr lang="en-US" sz="3600" dirty="0" err="1"/>
              <a:t>sangat</a:t>
            </a:r>
            <a:r>
              <a:rPr lang="en-US" sz="3600" dirty="0"/>
              <a:t> </a:t>
            </a:r>
            <a:r>
              <a:rPr lang="en-US" sz="3600" dirty="0" err="1"/>
              <a:t>mungkin</a:t>
            </a:r>
            <a:r>
              <a:rPr lang="en-US" sz="3600" dirty="0"/>
              <a:t>”,”</a:t>
            </a:r>
            <a:r>
              <a:rPr lang="en-US" sz="3600" dirty="0" err="1"/>
              <a:t>mungkin</a:t>
            </a:r>
            <a:r>
              <a:rPr lang="en-US" sz="3600" dirty="0"/>
              <a:t>”.</a:t>
            </a:r>
          </a:p>
        </p:txBody>
      </p:sp>
    </p:spTree>
    <p:extLst>
      <p:ext uri="{BB962C8B-B14F-4D97-AF65-F5344CB8AC3E}">
        <p14:creationId xmlns:p14="http://schemas.microsoft.com/office/powerpoint/2010/main" val="1043832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err="1"/>
              <a:t>Faktor</a:t>
            </a:r>
            <a:r>
              <a:rPr lang="en-US" dirty="0"/>
              <a:t> </a:t>
            </a:r>
            <a:r>
              <a:rPr lang="en-US" dirty="0" err="1"/>
              <a:t>kepastian</a:t>
            </a:r>
            <a:r>
              <a:rPr lang="en-US" dirty="0"/>
              <a:t> (Certainty Factor)</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p:txBody>
          <a:bodyPr>
            <a:normAutofit lnSpcReduction="10000"/>
          </a:bodyPr>
          <a:lstStyle/>
          <a:p>
            <a:r>
              <a:rPr lang="en-US" sz="3600" dirty="0" err="1"/>
              <a:t>Bukan</a:t>
            </a:r>
            <a:r>
              <a:rPr lang="en-US" sz="3600" dirty="0"/>
              <a:t> </a:t>
            </a:r>
            <a:r>
              <a:rPr lang="en-US" sz="3600" dirty="0" err="1"/>
              <a:t>peluang</a:t>
            </a:r>
            <a:r>
              <a:rPr lang="en-US" sz="3600" dirty="0"/>
              <a:t> </a:t>
            </a:r>
            <a:r>
              <a:rPr lang="en-US" sz="3600" dirty="0" err="1"/>
              <a:t>tetapi</a:t>
            </a:r>
            <a:r>
              <a:rPr lang="en-US" sz="3600" dirty="0"/>
              <a:t> </a:t>
            </a:r>
            <a:r>
              <a:rPr lang="en-US" sz="3600" dirty="0" err="1"/>
              <a:t>heuristik</a:t>
            </a:r>
            <a:r>
              <a:rPr lang="en-US" sz="3600" dirty="0"/>
              <a:t> yang </a:t>
            </a:r>
            <a:r>
              <a:rPr lang="en-US" sz="3600" dirty="0" err="1"/>
              <a:t>diturunkan</a:t>
            </a:r>
            <a:r>
              <a:rPr lang="en-US" sz="3600" dirty="0"/>
              <a:t> </a:t>
            </a:r>
            <a:r>
              <a:rPr lang="en-US" sz="3600" dirty="0" err="1"/>
              <a:t>dari</a:t>
            </a:r>
            <a:r>
              <a:rPr lang="en-US" sz="3600" dirty="0"/>
              <a:t> </a:t>
            </a:r>
            <a:r>
              <a:rPr lang="en-US" sz="3600" dirty="0" err="1"/>
              <a:t>pengalaman</a:t>
            </a:r>
            <a:r>
              <a:rPr lang="en-US" sz="3600" dirty="0"/>
              <a:t> dan juga </a:t>
            </a:r>
            <a:r>
              <a:rPr lang="en-US" sz="3600" dirty="0" err="1"/>
              <a:t>bukan</a:t>
            </a:r>
            <a:r>
              <a:rPr lang="en-US" sz="3600" dirty="0"/>
              <a:t> </a:t>
            </a:r>
            <a:r>
              <a:rPr lang="en-US" sz="3600" dirty="0" err="1"/>
              <a:t>nilai</a:t>
            </a:r>
            <a:r>
              <a:rPr lang="en-US" sz="3600" dirty="0"/>
              <a:t> </a:t>
            </a:r>
            <a:r>
              <a:rPr lang="en-US" sz="3600" dirty="0" err="1"/>
              <a:t>kebenaran</a:t>
            </a:r>
            <a:r>
              <a:rPr lang="en-US" sz="3600" dirty="0"/>
              <a:t>.</a:t>
            </a:r>
          </a:p>
          <a:p>
            <a:r>
              <a:rPr lang="en-US" sz="3600" dirty="0"/>
              <a:t>CF </a:t>
            </a:r>
            <a:r>
              <a:rPr lang="en-US" sz="3600" dirty="0" err="1"/>
              <a:t>digunakan</a:t>
            </a:r>
            <a:r>
              <a:rPr lang="en-US" sz="3600" dirty="0"/>
              <a:t> </a:t>
            </a:r>
            <a:r>
              <a:rPr lang="en-US" sz="3600" dirty="0" err="1"/>
              <a:t>untuk</a:t>
            </a:r>
            <a:r>
              <a:rPr lang="en-US" sz="3600" dirty="0"/>
              <a:t> </a:t>
            </a:r>
            <a:r>
              <a:rPr lang="en-US" sz="3600" dirty="0" err="1"/>
              <a:t>mengekspresikan</a:t>
            </a:r>
            <a:r>
              <a:rPr lang="en-US" sz="3600" dirty="0"/>
              <a:t> </a:t>
            </a:r>
            <a:r>
              <a:rPr lang="en-US" sz="3600" dirty="0" err="1"/>
              <a:t>berapa</a:t>
            </a:r>
            <a:r>
              <a:rPr lang="en-US" sz="3600" dirty="0"/>
              <a:t> </a:t>
            </a:r>
            <a:r>
              <a:rPr lang="en-US" sz="3600" dirty="0" err="1"/>
              <a:t>akurat</a:t>
            </a:r>
            <a:r>
              <a:rPr lang="en-US" sz="3600" dirty="0"/>
              <a:t>, </a:t>
            </a:r>
            <a:r>
              <a:rPr lang="en-US" sz="3600" dirty="0" err="1"/>
              <a:t>sungguh</a:t>
            </a:r>
            <a:r>
              <a:rPr lang="en-US" sz="3600" dirty="0"/>
              <a:t> dan </a:t>
            </a:r>
            <a:r>
              <a:rPr lang="en-US" sz="3600" dirty="0" err="1"/>
              <a:t>handal</a:t>
            </a:r>
            <a:r>
              <a:rPr lang="en-US" sz="3600" dirty="0"/>
              <a:t> </a:t>
            </a:r>
            <a:r>
              <a:rPr lang="en-US" sz="3600" dirty="0" err="1"/>
              <a:t>suatu</a:t>
            </a:r>
            <a:r>
              <a:rPr lang="en-US" sz="3600" dirty="0"/>
              <a:t> </a:t>
            </a:r>
            <a:r>
              <a:rPr lang="en-US" sz="3600" dirty="0" err="1"/>
              <a:t>dugaan</a:t>
            </a:r>
            <a:r>
              <a:rPr lang="en-US" sz="3600" dirty="0"/>
              <a:t>.</a:t>
            </a:r>
          </a:p>
          <a:p>
            <a:r>
              <a:rPr lang="en-US" sz="3600" dirty="0"/>
              <a:t>CF </a:t>
            </a:r>
            <a:r>
              <a:rPr lang="en-US" sz="3600" dirty="0" err="1"/>
              <a:t>merupakan</a:t>
            </a:r>
            <a:r>
              <a:rPr lang="en-US" sz="3600" dirty="0"/>
              <a:t> </a:t>
            </a:r>
            <a:r>
              <a:rPr lang="en-US" sz="3600" dirty="0" err="1"/>
              <a:t>tingkat</a:t>
            </a:r>
            <a:r>
              <a:rPr lang="en-US" sz="3600" dirty="0"/>
              <a:t> </a:t>
            </a:r>
            <a:r>
              <a:rPr lang="en-US" sz="3600" dirty="0" err="1"/>
              <a:t>keyakinan</a:t>
            </a:r>
            <a:r>
              <a:rPr lang="en-US" sz="3600" dirty="0"/>
              <a:t> </a:t>
            </a:r>
            <a:r>
              <a:rPr lang="en-US" sz="3600" dirty="0" err="1"/>
              <a:t>terhadap</a:t>
            </a:r>
            <a:r>
              <a:rPr lang="en-US" sz="3600" dirty="0"/>
              <a:t> </a:t>
            </a:r>
            <a:r>
              <a:rPr lang="en-US" sz="3600" dirty="0" err="1"/>
              <a:t>hasi</a:t>
            </a:r>
            <a:r>
              <a:rPr lang="en-US" sz="3600" dirty="0"/>
              <a:t> diagnose </a:t>
            </a:r>
            <a:r>
              <a:rPr lang="en-US" sz="3600" dirty="0" err="1"/>
              <a:t>suatu</a:t>
            </a:r>
            <a:r>
              <a:rPr lang="en-US" sz="3600" dirty="0"/>
              <a:t> </a:t>
            </a:r>
            <a:r>
              <a:rPr lang="en-US" sz="3600" dirty="0" err="1"/>
              <a:t>objek</a:t>
            </a:r>
            <a:endParaRPr lang="en-US" sz="3600" dirty="0"/>
          </a:p>
        </p:txBody>
      </p:sp>
    </p:spTree>
    <p:extLst>
      <p:ext uri="{BB962C8B-B14F-4D97-AF65-F5344CB8AC3E}">
        <p14:creationId xmlns:p14="http://schemas.microsoft.com/office/powerpoint/2010/main" val="789254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err="1"/>
              <a:t>Faktor</a:t>
            </a:r>
            <a:r>
              <a:rPr lang="en-US" dirty="0"/>
              <a:t> </a:t>
            </a:r>
            <a:r>
              <a:rPr lang="en-US" dirty="0" err="1"/>
              <a:t>kepastian</a:t>
            </a:r>
            <a:r>
              <a:rPr lang="en-US" dirty="0"/>
              <a:t> (Certainty Factor)</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p:txBody>
          <a:bodyPr>
            <a:normAutofit/>
          </a:bodyPr>
          <a:lstStyle/>
          <a:p>
            <a:pPr>
              <a:buFont typeface="Wingdings" panose="05000000000000000000" pitchFamily="2" charset="2"/>
              <a:buChar char="q"/>
              <a:defRPr/>
            </a:pPr>
            <a:r>
              <a:rPr lang="en-US" sz="2800" dirty="0"/>
              <a:t>CF </a:t>
            </a:r>
            <a:r>
              <a:rPr lang="en-US" sz="2800" dirty="0" err="1"/>
              <a:t>dapat</a:t>
            </a:r>
            <a:r>
              <a:rPr lang="en-US" sz="2800" dirty="0"/>
              <a:t> </a:t>
            </a:r>
            <a:r>
              <a:rPr lang="en-US" sz="2800" dirty="0" err="1"/>
              <a:t>diterapkan</a:t>
            </a:r>
            <a:r>
              <a:rPr lang="en-US" sz="2800" dirty="0"/>
              <a:t> </a:t>
            </a:r>
            <a:r>
              <a:rPr lang="en-US" sz="2800" dirty="0" err="1"/>
              <a:t>terhadap</a:t>
            </a:r>
            <a:r>
              <a:rPr lang="en-US" sz="2800" dirty="0"/>
              <a:t>:</a:t>
            </a:r>
          </a:p>
          <a:p>
            <a:pPr marL="640080" lvl="1" indent="-274320">
              <a:buFont typeface="Wingdings 2"/>
              <a:buChar char=""/>
              <a:defRPr/>
            </a:pPr>
            <a:r>
              <a:rPr lang="en-US" sz="2800" dirty="0" err="1"/>
              <a:t>Fakta</a:t>
            </a:r>
            <a:r>
              <a:rPr lang="en-US" sz="2800" dirty="0"/>
              <a:t>/</a:t>
            </a:r>
            <a:r>
              <a:rPr lang="en-US" sz="2800" dirty="0" err="1"/>
              <a:t>premis</a:t>
            </a:r>
            <a:r>
              <a:rPr lang="en-US" sz="2800" dirty="0"/>
              <a:t>;</a:t>
            </a:r>
          </a:p>
          <a:p>
            <a:pPr marL="640080" lvl="1" indent="-274320">
              <a:buFont typeface="Wingdings 2"/>
              <a:buChar char=""/>
              <a:defRPr/>
            </a:pPr>
            <a:r>
              <a:rPr lang="en-US" sz="2800" dirty="0"/>
              <a:t>Rules (</a:t>
            </a:r>
            <a:r>
              <a:rPr lang="en-US" sz="2800" dirty="0" err="1"/>
              <a:t>aturan</a:t>
            </a:r>
            <a:r>
              <a:rPr lang="en-US" sz="2800" dirty="0"/>
              <a:t>, </a:t>
            </a:r>
            <a:r>
              <a:rPr lang="en-US" sz="2800" dirty="0" err="1"/>
              <a:t>kesimpulan</a:t>
            </a:r>
            <a:r>
              <a:rPr lang="en-US" sz="2800" dirty="0"/>
              <a:t> </a:t>
            </a:r>
            <a:r>
              <a:rPr lang="en-US" sz="2800" dirty="0" err="1"/>
              <a:t>dari</a:t>
            </a:r>
            <a:r>
              <a:rPr lang="en-US" sz="2800" dirty="0"/>
              <a:t> rule);</a:t>
            </a:r>
          </a:p>
          <a:p>
            <a:pPr marL="640080" lvl="1" indent="-274320">
              <a:buFont typeface="Wingdings 2"/>
              <a:buChar char=""/>
              <a:defRPr/>
            </a:pPr>
            <a:r>
              <a:rPr lang="en-US" sz="2800" dirty="0" err="1"/>
              <a:t>Fakta</a:t>
            </a:r>
            <a:r>
              <a:rPr lang="en-US" sz="2800" dirty="0"/>
              <a:t> dan rules.</a:t>
            </a:r>
          </a:p>
          <a:p>
            <a:pPr marL="327510" indent="-285750">
              <a:buFont typeface="Wingdings" panose="05000000000000000000" pitchFamily="2" charset="2"/>
              <a:buChar char="q"/>
              <a:defRPr/>
            </a:pPr>
            <a:r>
              <a:rPr lang="en-US" sz="2800" dirty="0" err="1"/>
              <a:t>Saat</a:t>
            </a:r>
            <a:r>
              <a:rPr lang="en-US" sz="2800" dirty="0"/>
              <a:t> </a:t>
            </a:r>
            <a:r>
              <a:rPr lang="en-US" sz="2800" dirty="0" err="1"/>
              <a:t>diterapkan</a:t>
            </a:r>
            <a:r>
              <a:rPr lang="en-US" sz="2800" dirty="0"/>
              <a:t> </a:t>
            </a:r>
            <a:r>
              <a:rPr lang="en-US" sz="2800" dirty="0" err="1"/>
              <a:t>terhadap</a:t>
            </a:r>
            <a:r>
              <a:rPr lang="en-US" sz="2800" dirty="0"/>
              <a:t> </a:t>
            </a:r>
            <a:r>
              <a:rPr lang="en-US" sz="2800" dirty="0" err="1"/>
              <a:t>fakta</a:t>
            </a:r>
            <a:r>
              <a:rPr lang="en-US" sz="2800" dirty="0"/>
              <a:t> (evidence, </a:t>
            </a:r>
            <a:r>
              <a:rPr lang="en-US" sz="2800" dirty="0" err="1"/>
              <a:t>premis</a:t>
            </a:r>
            <a:r>
              <a:rPr lang="en-US" sz="2800" dirty="0"/>
              <a:t>) : </a:t>
            </a:r>
            <a:r>
              <a:rPr lang="en-US" sz="2800" dirty="0" err="1"/>
              <a:t>mewakili</a:t>
            </a:r>
            <a:r>
              <a:rPr lang="en-US" sz="2800" dirty="0"/>
              <a:t> </a:t>
            </a:r>
            <a:r>
              <a:rPr lang="en-US" sz="2800" dirty="0" err="1"/>
              <a:t>derajat</a:t>
            </a:r>
            <a:r>
              <a:rPr lang="en-US" sz="2800" dirty="0"/>
              <a:t> </a:t>
            </a:r>
            <a:r>
              <a:rPr lang="en-US" sz="2800" dirty="0" err="1"/>
              <a:t>kepercayaan</a:t>
            </a:r>
            <a:r>
              <a:rPr lang="en-US" sz="2800" dirty="0"/>
              <a:t> (</a:t>
            </a:r>
            <a:r>
              <a:rPr lang="en-US" sz="2800" dirty="0" err="1"/>
              <a:t>ketidakpercayaan</a:t>
            </a:r>
            <a:r>
              <a:rPr lang="en-US" sz="2800" dirty="0"/>
              <a:t>) </a:t>
            </a:r>
            <a:r>
              <a:rPr lang="en-US" sz="2800" dirty="0" err="1"/>
              <a:t>dari</a:t>
            </a:r>
            <a:r>
              <a:rPr lang="en-US" sz="2800" dirty="0"/>
              <a:t> </a:t>
            </a:r>
            <a:r>
              <a:rPr lang="en-US" sz="2800" dirty="0" err="1"/>
              <a:t>fakta</a:t>
            </a:r>
            <a:r>
              <a:rPr lang="en-US" sz="2800" dirty="0"/>
              <a:t>.</a:t>
            </a:r>
          </a:p>
        </p:txBody>
      </p:sp>
    </p:spTree>
    <p:extLst>
      <p:ext uri="{BB962C8B-B14F-4D97-AF65-F5344CB8AC3E}">
        <p14:creationId xmlns:p14="http://schemas.microsoft.com/office/powerpoint/2010/main" val="264533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err="1"/>
              <a:t>Faktor</a:t>
            </a:r>
            <a:r>
              <a:rPr lang="en-US" dirty="0"/>
              <a:t> </a:t>
            </a:r>
            <a:r>
              <a:rPr lang="en-US" dirty="0" err="1"/>
              <a:t>kepastian</a:t>
            </a:r>
            <a:r>
              <a:rPr lang="en-US" dirty="0"/>
              <a:t> (Certainty Factor)</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p:txBody>
          <a:bodyPr>
            <a:normAutofit/>
          </a:bodyPr>
          <a:lstStyle/>
          <a:p>
            <a:pPr>
              <a:buFont typeface="Wingdings" panose="05000000000000000000" pitchFamily="2" charset="2"/>
              <a:buChar char="q"/>
              <a:defRPr/>
            </a:pPr>
            <a:r>
              <a:rPr lang="en-US" sz="2800" dirty="0" err="1"/>
              <a:t>Saat</a:t>
            </a:r>
            <a:r>
              <a:rPr lang="en-US" sz="2800" dirty="0"/>
              <a:t> </a:t>
            </a:r>
            <a:r>
              <a:rPr lang="en-US" sz="2800" dirty="0" err="1"/>
              <a:t>diberlakukan</a:t>
            </a:r>
            <a:r>
              <a:rPr lang="en-US" sz="2800" dirty="0"/>
              <a:t> </a:t>
            </a:r>
            <a:r>
              <a:rPr lang="en-US" sz="2800" dirty="0" err="1"/>
              <a:t>terhadap</a:t>
            </a:r>
            <a:r>
              <a:rPr lang="en-US" sz="2800" dirty="0"/>
              <a:t> rules: </a:t>
            </a:r>
            <a:r>
              <a:rPr lang="en-US" sz="2800" dirty="0" err="1"/>
              <a:t>mewakili</a:t>
            </a:r>
            <a:r>
              <a:rPr lang="en-US" sz="2800" dirty="0"/>
              <a:t> </a:t>
            </a:r>
            <a:r>
              <a:rPr lang="en-US" sz="2800" dirty="0" err="1"/>
              <a:t>derajat</a:t>
            </a:r>
            <a:r>
              <a:rPr lang="en-US" sz="2800" dirty="0"/>
              <a:t> </a:t>
            </a:r>
            <a:r>
              <a:rPr lang="en-US" sz="2800" dirty="0" err="1"/>
              <a:t>konfirmasi</a:t>
            </a:r>
            <a:r>
              <a:rPr lang="en-US" sz="2800" dirty="0"/>
              <a:t>(</a:t>
            </a:r>
            <a:r>
              <a:rPr lang="en-US" sz="2800" dirty="0" err="1"/>
              <a:t>diskonfirmasi</a:t>
            </a:r>
            <a:r>
              <a:rPr lang="en-US" sz="2800" dirty="0"/>
              <a:t>) </a:t>
            </a:r>
            <a:r>
              <a:rPr lang="en-US" sz="2800" dirty="0" err="1"/>
              <a:t>suatu</a:t>
            </a:r>
            <a:r>
              <a:rPr lang="en-US" sz="2800" dirty="0"/>
              <a:t> </a:t>
            </a:r>
            <a:r>
              <a:rPr lang="en-US" sz="2800" dirty="0" err="1"/>
              <a:t>hipotesis</a:t>
            </a:r>
            <a:r>
              <a:rPr lang="en-US" sz="2800" dirty="0"/>
              <a:t>.</a:t>
            </a:r>
          </a:p>
          <a:p>
            <a:pPr>
              <a:buFont typeface="Wingdings" panose="05000000000000000000" pitchFamily="2" charset="2"/>
              <a:buChar char="q"/>
              <a:defRPr/>
            </a:pPr>
            <a:r>
              <a:rPr lang="en-US" sz="2800" dirty="0"/>
              <a:t>Arti CF </a:t>
            </a:r>
            <a:r>
              <a:rPr lang="en-US" sz="2800" dirty="0" err="1"/>
              <a:t>bernilai</a:t>
            </a:r>
            <a:r>
              <a:rPr lang="en-US" sz="2800" dirty="0"/>
              <a:t> -1 dan 1:</a:t>
            </a:r>
          </a:p>
          <a:p>
            <a:pPr marL="640080" lvl="1" indent="-274320">
              <a:buFont typeface="Wingdings 2"/>
              <a:buChar char=""/>
              <a:defRPr/>
            </a:pPr>
            <a:r>
              <a:rPr lang="en-US" sz="2800" dirty="0"/>
              <a:t> CF </a:t>
            </a:r>
            <a:r>
              <a:rPr lang="en-US" sz="2800" dirty="0" err="1"/>
              <a:t>mendekati</a:t>
            </a:r>
            <a:r>
              <a:rPr lang="en-US" sz="2800" dirty="0"/>
              <a:t> 1, </a:t>
            </a:r>
            <a:r>
              <a:rPr lang="en-US" sz="2800" dirty="0" err="1"/>
              <a:t>fakta</a:t>
            </a:r>
            <a:r>
              <a:rPr lang="en-US" sz="2800" dirty="0"/>
              <a:t> </a:t>
            </a:r>
            <a:r>
              <a:rPr lang="en-US" sz="2800" dirty="0" err="1"/>
              <a:t>semakin</a:t>
            </a:r>
            <a:r>
              <a:rPr lang="en-US" sz="2800" dirty="0"/>
              <a:t> </a:t>
            </a:r>
            <a:r>
              <a:rPr lang="en-US" sz="2800" dirty="0" err="1"/>
              <a:t>kuat</a:t>
            </a:r>
            <a:r>
              <a:rPr lang="en-US" sz="2800" dirty="0"/>
              <a:t> </a:t>
            </a:r>
            <a:r>
              <a:rPr lang="en-US" sz="2800" dirty="0" err="1"/>
              <a:t>bagi</a:t>
            </a:r>
            <a:r>
              <a:rPr lang="en-US" sz="2800" dirty="0"/>
              <a:t> </a:t>
            </a:r>
            <a:r>
              <a:rPr lang="en-US" sz="2800" dirty="0" err="1"/>
              <a:t>suatu</a:t>
            </a:r>
            <a:r>
              <a:rPr lang="en-US" sz="2800" dirty="0"/>
              <a:t> </a:t>
            </a:r>
            <a:r>
              <a:rPr lang="en-US" sz="2800" dirty="0" err="1"/>
              <a:t>hipotesis</a:t>
            </a:r>
            <a:endParaRPr lang="en-US" sz="2800" dirty="0"/>
          </a:p>
          <a:p>
            <a:pPr marL="640080" lvl="1" indent="-274320">
              <a:buFont typeface="Wingdings 2"/>
              <a:buChar char=""/>
              <a:defRPr/>
            </a:pPr>
            <a:r>
              <a:rPr lang="en-US" sz="2800" dirty="0" err="1"/>
              <a:t>Cf</a:t>
            </a:r>
            <a:r>
              <a:rPr lang="en-US" sz="2800" dirty="0"/>
              <a:t> </a:t>
            </a:r>
            <a:r>
              <a:rPr lang="en-US" sz="2800" dirty="0" err="1"/>
              <a:t>mendekati</a:t>
            </a:r>
            <a:r>
              <a:rPr lang="en-US" sz="2800" dirty="0"/>
              <a:t> -1, </a:t>
            </a:r>
            <a:r>
              <a:rPr lang="en-US" sz="2800" dirty="0" err="1"/>
              <a:t>kepercayaan</a:t>
            </a:r>
            <a:r>
              <a:rPr lang="en-US" sz="2800" dirty="0"/>
              <a:t> </a:t>
            </a:r>
            <a:r>
              <a:rPr lang="en-US" sz="2800" dirty="0" err="1"/>
              <a:t>berlawanan</a:t>
            </a:r>
            <a:r>
              <a:rPr lang="en-US" sz="2800" dirty="0"/>
              <a:t> </a:t>
            </a:r>
            <a:r>
              <a:rPr lang="en-US" sz="2800" dirty="0" err="1"/>
              <a:t>hipotesis</a:t>
            </a:r>
            <a:r>
              <a:rPr lang="en-US" sz="2800" dirty="0"/>
              <a:t> </a:t>
            </a:r>
            <a:r>
              <a:rPr lang="en-US" sz="2800" dirty="0" err="1"/>
              <a:t>semakin</a:t>
            </a:r>
            <a:r>
              <a:rPr lang="en-US" sz="2800" dirty="0"/>
              <a:t> </a:t>
            </a:r>
            <a:r>
              <a:rPr lang="en-US" sz="2800" dirty="0" err="1"/>
              <a:t>kuat</a:t>
            </a:r>
            <a:r>
              <a:rPr lang="en-US" sz="2800" dirty="0"/>
              <a:t>.</a:t>
            </a:r>
          </a:p>
          <a:p>
            <a:pPr marL="640080" lvl="1" indent="-274320">
              <a:buFont typeface="Wingdings 2"/>
              <a:buChar char=""/>
              <a:defRPr/>
            </a:pPr>
            <a:r>
              <a:rPr lang="en-US" sz="2800" dirty="0"/>
              <a:t>CF </a:t>
            </a:r>
            <a:r>
              <a:rPr lang="en-US" sz="2800" dirty="0" err="1"/>
              <a:t>sekitar</a:t>
            </a:r>
            <a:r>
              <a:rPr lang="en-US" sz="2800" dirty="0"/>
              <a:t> 0, </a:t>
            </a:r>
            <a:r>
              <a:rPr lang="en-US" sz="2800" dirty="0" err="1"/>
              <a:t>ada</a:t>
            </a:r>
            <a:r>
              <a:rPr lang="en-US" sz="2800" dirty="0"/>
              <a:t> </a:t>
            </a:r>
            <a:r>
              <a:rPr lang="en-US" sz="2800" dirty="0" err="1"/>
              <a:t>fakta</a:t>
            </a:r>
            <a:r>
              <a:rPr lang="en-US" sz="2800" dirty="0"/>
              <a:t> yang </a:t>
            </a:r>
            <a:r>
              <a:rPr lang="en-US" sz="2800" dirty="0" err="1"/>
              <a:t>mendukung</a:t>
            </a:r>
            <a:r>
              <a:rPr lang="en-US" sz="2800" dirty="0"/>
              <a:t> dan juga </a:t>
            </a:r>
            <a:r>
              <a:rPr lang="en-US" sz="2800" dirty="0" err="1"/>
              <a:t>melawan</a:t>
            </a:r>
            <a:r>
              <a:rPr lang="en-US" sz="2800" dirty="0"/>
              <a:t> </a:t>
            </a:r>
            <a:r>
              <a:rPr lang="en-US" sz="2800" dirty="0" err="1"/>
              <a:t>hipotesis</a:t>
            </a:r>
            <a:r>
              <a:rPr lang="en-US" sz="2800" dirty="0"/>
              <a:t>.</a:t>
            </a:r>
          </a:p>
        </p:txBody>
      </p:sp>
    </p:spTree>
    <p:extLst>
      <p:ext uri="{BB962C8B-B14F-4D97-AF65-F5344CB8AC3E}">
        <p14:creationId xmlns:p14="http://schemas.microsoft.com/office/powerpoint/2010/main" val="399973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t>Tingkat </a:t>
            </a:r>
            <a:r>
              <a:rPr lang="en-US" dirty="0" err="1"/>
              <a:t>kepercayaan</a:t>
            </a:r>
            <a:r>
              <a:rPr lang="en-US" dirty="0"/>
              <a:t> pada CF</a:t>
            </a:r>
            <a:endParaRPr lang="en-US" dirty="0">
              <a:solidFill>
                <a:srgbClr val="FFFEFF"/>
              </a:solidFill>
            </a:endParaRPr>
          </a:p>
        </p:txBody>
      </p:sp>
      <p:pic>
        <p:nvPicPr>
          <p:cNvPr id="6" name="Picture 2">
            <a:extLst>
              <a:ext uri="{FF2B5EF4-FFF2-40B4-BE49-F238E27FC236}">
                <a16:creationId xmlns:a16="http://schemas.microsoft.com/office/drawing/2014/main" id="{D7185733-C662-49B0-BFF3-1D93812498FA}"/>
              </a:ext>
            </a:extLst>
          </p:cNvPr>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692727" y="2036618"/>
            <a:ext cx="10474036" cy="4488872"/>
          </a:xfrm>
        </p:spPr>
      </p:pic>
    </p:spTree>
    <p:extLst>
      <p:ext uri="{BB962C8B-B14F-4D97-AF65-F5344CB8AC3E}">
        <p14:creationId xmlns:p14="http://schemas.microsoft.com/office/powerpoint/2010/main" val="3152892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err="1"/>
              <a:t>Menghitung</a:t>
            </a:r>
            <a:r>
              <a:rPr lang="en-US" dirty="0"/>
              <a:t> Certainty Factor (CF)</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a:xfrm>
            <a:off x="581192" y="2180496"/>
            <a:ext cx="11029615" cy="4206449"/>
          </a:xfrm>
        </p:spPr>
        <p:txBody>
          <a:bodyPr>
            <a:normAutofit fontScale="85000" lnSpcReduction="20000"/>
          </a:bodyPr>
          <a:lstStyle/>
          <a:p>
            <a:pPr>
              <a:buFont typeface="Wingdings" panose="05000000000000000000" pitchFamily="2" charset="2"/>
              <a:buChar char="q"/>
              <a:defRPr/>
            </a:pPr>
            <a:r>
              <a:rPr lang="en-US" sz="2400" dirty="0" err="1"/>
              <a:t>Untuk</a:t>
            </a:r>
            <a:r>
              <a:rPr lang="en-US" sz="2400" dirty="0"/>
              <a:t> </a:t>
            </a:r>
            <a:r>
              <a:rPr lang="en-US" sz="2400" dirty="0" err="1"/>
              <a:t>suatu</a:t>
            </a:r>
            <a:r>
              <a:rPr lang="en-US" sz="2400" dirty="0"/>
              <a:t> </a:t>
            </a:r>
            <a:r>
              <a:rPr lang="en-US" sz="2400" dirty="0" err="1"/>
              <a:t>hipotesis</a:t>
            </a:r>
            <a:r>
              <a:rPr lang="en-US" sz="2400" dirty="0"/>
              <a:t> H dan </a:t>
            </a:r>
            <a:r>
              <a:rPr lang="en-US" sz="2400" dirty="0" err="1"/>
              <a:t>fakta</a:t>
            </a:r>
            <a:r>
              <a:rPr lang="en-US" sz="2400" dirty="0"/>
              <a:t>/evidence E, </a:t>
            </a:r>
            <a:r>
              <a:rPr lang="en-US" sz="2400" dirty="0" err="1"/>
              <a:t>ukuran</a:t>
            </a:r>
            <a:br>
              <a:rPr lang="en-US" sz="2400" dirty="0"/>
            </a:br>
            <a:r>
              <a:rPr lang="en-US" sz="2400" dirty="0" err="1"/>
              <a:t>kepercayaan</a:t>
            </a:r>
            <a:r>
              <a:rPr lang="en-US" sz="2400" dirty="0"/>
              <a:t> MB(H,E) dan </a:t>
            </a:r>
            <a:r>
              <a:rPr lang="en-US" sz="2400" dirty="0" err="1"/>
              <a:t>ketidakpercayaan</a:t>
            </a:r>
            <a:r>
              <a:rPr lang="en-US" sz="2400" dirty="0"/>
              <a:t> MD(H,E) </a:t>
            </a:r>
            <a:r>
              <a:rPr lang="en-US" sz="2400" dirty="0" err="1"/>
              <a:t>adalah</a:t>
            </a:r>
            <a:endParaRPr lang="en-US" sz="2400" dirty="0"/>
          </a:p>
          <a:p>
            <a:pPr>
              <a:buFont typeface="Wingdings" panose="05000000000000000000" pitchFamily="2" charset="2"/>
              <a:buChar char="q"/>
              <a:defRPr/>
            </a:pPr>
            <a:endParaRPr lang="en-US" sz="2400" dirty="0"/>
          </a:p>
          <a:p>
            <a:pPr>
              <a:buFont typeface="Wingdings" panose="05000000000000000000" pitchFamily="2" charset="2"/>
              <a:buChar char="q"/>
              <a:defRPr/>
            </a:pPr>
            <a:endParaRPr lang="en-US" sz="2400" dirty="0"/>
          </a:p>
          <a:p>
            <a:pPr>
              <a:buFont typeface="Wingdings" panose="05000000000000000000" pitchFamily="2" charset="2"/>
              <a:buChar char="q"/>
              <a:defRPr/>
            </a:pPr>
            <a:endParaRPr lang="en-US" sz="2400" dirty="0"/>
          </a:p>
          <a:p>
            <a:pPr>
              <a:buFont typeface="Wingdings" panose="05000000000000000000" pitchFamily="2" charset="2"/>
              <a:buChar char="q"/>
              <a:defRPr/>
            </a:pPr>
            <a:endParaRPr lang="en-US" sz="2400" dirty="0"/>
          </a:p>
          <a:p>
            <a:pPr>
              <a:buFont typeface="Wingdings" panose="05000000000000000000" pitchFamily="2" charset="2"/>
              <a:buChar char="q"/>
              <a:defRPr/>
            </a:pPr>
            <a:endParaRPr lang="en-US" sz="2400" dirty="0"/>
          </a:p>
          <a:p>
            <a:r>
              <a:rPr lang="en-US" sz="2400" dirty="0" err="1"/>
              <a:t>Dimana</a:t>
            </a:r>
            <a:r>
              <a:rPr lang="en-US" sz="2400" dirty="0"/>
              <a:t>:</a:t>
            </a:r>
          </a:p>
          <a:p>
            <a:r>
              <a:rPr lang="en-US" sz="2400" dirty="0"/>
              <a:t>– P(H) </a:t>
            </a:r>
            <a:r>
              <a:rPr lang="en-US" sz="2400" dirty="0" err="1"/>
              <a:t>peluang</a:t>
            </a:r>
            <a:r>
              <a:rPr lang="en-US" sz="2400" dirty="0"/>
              <a:t> (</a:t>
            </a:r>
            <a:r>
              <a:rPr lang="en-US" sz="2400" dirty="0" err="1"/>
              <a:t>sebelumnya</a:t>
            </a:r>
            <a:r>
              <a:rPr lang="en-US" sz="2400" dirty="0"/>
              <a:t>) </a:t>
            </a:r>
            <a:r>
              <a:rPr lang="en-US" sz="2400" dirty="0" err="1"/>
              <a:t>hipotesis</a:t>
            </a:r>
            <a:r>
              <a:rPr lang="en-US" sz="2400" dirty="0"/>
              <a:t> H </a:t>
            </a:r>
            <a:r>
              <a:rPr lang="en-US" sz="2400" dirty="0" err="1"/>
              <a:t>bernilai</a:t>
            </a:r>
            <a:r>
              <a:rPr lang="en-US" sz="2400" dirty="0"/>
              <a:t> True; </a:t>
            </a:r>
          </a:p>
          <a:p>
            <a:r>
              <a:rPr lang="en-US" sz="2400" dirty="0"/>
              <a:t>– P(H|E) </a:t>
            </a:r>
            <a:r>
              <a:rPr lang="en-US" sz="2400" dirty="0" err="1"/>
              <a:t>peluang</a:t>
            </a:r>
            <a:r>
              <a:rPr lang="en-US" sz="2400" dirty="0"/>
              <a:t> </a:t>
            </a:r>
            <a:r>
              <a:rPr lang="en-US" sz="2400" dirty="0" err="1"/>
              <a:t>hipotesis</a:t>
            </a:r>
            <a:r>
              <a:rPr lang="en-US" sz="2400" dirty="0"/>
              <a:t> H </a:t>
            </a:r>
            <a:r>
              <a:rPr lang="en-US" sz="2400" dirty="0" err="1"/>
              <a:t>bernilai</a:t>
            </a:r>
            <a:r>
              <a:rPr lang="en-US" sz="2400" dirty="0"/>
              <a:t> True </a:t>
            </a:r>
            <a:r>
              <a:rPr lang="en-US" sz="2400" dirty="0" err="1"/>
              <a:t>jika</a:t>
            </a:r>
            <a:r>
              <a:rPr lang="en-US" sz="2400" dirty="0"/>
              <a:t> </a:t>
            </a:r>
            <a:r>
              <a:rPr lang="en-US" sz="2400" dirty="0" err="1"/>
              <a:t>terdapat</a:t>
            </a:r>
            <a:endParaRPr lang="en-US" sz="2400" dirty="0"/>
          </a:p>
          <a:p>
            <a:r>
              <a:rPr lang="en-US" sz="2400" dirty="0"/>
              <a:t>evidence E</a:t>
            </a:r>
          </a:p>
        </p:txBody>
      </p:sp>
      <p:pic>
        <p:nvPicPr>
          <p:cNvPr id="4" name="Picture 3">
            <a:extLst>
              <a:ext uri="{FF2B5EF4-FFF2-40B4-BE49-F238E27FC236}">
                <a16:creationId xmlns:a16="http://schemas.microsoft.com/office/drawing/2014/main" id="{D8A032F7-05C9-4B48-BC3A-7478219B4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34291" y="2930239"/>
            <a:ext cx="7204075" cy="1783774"/>
          </a:xfrm>
          <a:prstGeom prst="rect">
            <a:avLst/>
          </a:prstGeom>
        </p:spPr>
      </p:pic>
    </p:spTree>
    <p:extLst>
      <p:ext uri="{BB962C8B-B14F-4D97-AF65-F5344CB8AC3E}">
        <p14:creationId xmlns:p14="http://schemas.microsoft.com/office/powerpoint/2010/main" val="1201026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err="1"/>
              <a:t>kelebihan</a:t>
            </a:r>
            <a:r>
              <a:rPr lang="en-US" dirty="0"/>
              <a:t> Certainty Factor (CF)</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a:xfrm>
            <a:off x="581192" y="2180496"/>
            <a:ext cx="11029615" cy="4206449"/>
          </a:xfrm>
        </p:spPr>
        <p:txBody>
          <a:bodyPr>
            <a:normAutofit/>
          </a:bodyPr>
          <a:lstStyle/>
          <a:p>
            <a:r>
              <a:rPr lang="id-ID" sz="3200" dirty="0"/>
              <a:t>Metode ini cocok dipakai dalam sistem pakar untuk mengukur sesuatu apakah pasti atau tidak  pasti dalam mendiagnosis penyakit sebagai salah satu contohnya.</a:t>
            </a:r>
          </a:p>
          <a:p>
            <a:r>
              <a:rPr lang="id-ID" sz="3200" dirty="0"/>
              <a:t>Perhitungan dengan menggunakan metode ini dalam sekali hitung bisa hanya mengolah dua datasaja sehingga keakuratan data dapat terjaga.</a:t>
            </a:r>
          </a:p>
          <a:p>
            <a:r>
              <a:rPr lang="id-ID" sz="3200" dirty="0"/>
              <a:t>Implementasi yang sederhana</a:t>
            </a:r>
          </a:p>
        </p:txBody>
      </p:sp>
    </p:spTree>
    <p:extLst>
      <p:ext uri="{BB962C8B-B14F-4D97-AF65-F5344CB8AC3E}">
        <p14:creationId xmlns:p14="http://schemas.microsoft.com/office/powerpoint/2010/main" val="14179820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err="1"/>
              <a:t>kelemahan</a:t>
            </a:r>
            <a:r>
              <a:rPr lang="en-US" dirty="0"/>
              <a:t> Certainty Factor (CF)</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a:xfrm>
            <a:off x="581192" y="2180496"/>
            <a:ext cx="11029615" cy="4206449"/>
          </a:xfrm>
        </p:spPr>
        <p:txBody>
          <a:bodyPr>
            <a:normAutofit fontScale="92500"/>
          </a:bodyPr>
          <a:lstStyle/>
          <a:p>
            <a:r>
              <a:rPr lang="id-ID" sz="3200" dirty="0"/>
              <a:t> Ide umum dari pemodelan ketidakpastian manusia dengan menggunakan numerik metodecertainty factors biasanya diperdebatkan.</a:t>
            </a:r>
          </a:p>
          <a:p>
            <a:r>
              <a:rPr lang="id-ID" sz="3200" dirty="0"/>
              <a:t>Sebagian orang akan membantah pendapat bahwaformula untuk metode certainty factors diatas memiliki sedikit kebenaran.Metode ini hanya dapat mengolah ketidakpastian/kepastian hanya 2 data saja.</a:t>
            </a:r>
          </a:p>
          <a:p>
            <a:r>
              <a:rPr lang="id-ID" sz="3200" dirty="0"/>
              <a:t>Perlu dilakukan beberapa kali pengolahan data untuk data yang lebih dari 2 buah.</a:t>
            </a:r>
          </a:p>
        </p:txBody>
      </p:sp>
    </p:spTree>
    <p:extLst>
      <p:ext uri="{BB962C8B-B14F-4D97-AF65-F5344CB8AC3E}">
        <p14:creationId xmlns:p14="http://schemas.microsoft.com/office/powerpoint/2010/main" val="3797933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t>CONTOH KASUS</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a:xfrm>
            <a:off x="581192" y="2180496"/>
            <a:ext cx="11029615" cy="4206449"/>
          </a:xfrm>
        </p:spPr>
        <p:txBody>
          <a:bodyPr>
            <a:normAutofit/>
          </a:bodyPr>
          <a:lstStyle/>
          <a:p>
            <a:pPr marL="0" indent="0" algn="ctr">
              <a:buNone/>
            </a:pPr>
            <a:r>
              <a:rPr lang="id-ID" sz="3600" dirty="0"/>
              <a:t>Seseorang berkonsultasi pada sistem pakar untuk mengetahui apakah terkena penyakit jantung koroner atau tidak. Sistem pakar mempunyai basis pengetahuan sebagai berikut :</a:t>
            </a:r>
          </a:p>
        </p:txBody>
      </p:sp>
    </p:spTree>
    <p:extLst>
      <p:ext uri="{BB962C8B-B14F-4D97-AF65-F5344CB8AC3E}">
        <p14:creationId xmlns:p14="http://schemas.microsoft.com/office/powerpoint/2010/main" val="3875250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t>CONTOH KASUS – rules base</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a:xfrm>
            <a:off x="581192" y="2180496"/>
            <a:ext cx="11029615" cy="4206449"/>
          </a:xfrm>
        </p:spPr>
        <p:txBody>
          <a:bodyPr>
            <a:normAutofit fontScale="92500" lnSpcReduction="10000"/>
          </a:bodyPr>
          <a:lstStyle/>
          <a:p>
            <a:r>
              <a:rPr lang="id-ID" sz="2800" dirty="0"/>
              <a:t>IF Sesak nafas</a:t>
            </a:r>
          </a:p>
          <a:p>
            <a:r>
              <a:rPr lang="id-ID" sz="2800" dirty="0"/>
              <a:t>AND Nyeri dada</a:t>
            </a:r>
          </a:p>
          <a:p>
            <a:r>
              <a:rPr lang="id-ID" sz="2800" dirty="0"/>
              <a:t>AND Denyut jantung cepat</a:t>
            </a:r>
          </a:p>
          <a:p>
            <a:r>
              <a:rPr lang="id-ID" sz="2800" dirty="0"/>
              <a:t>AND Keringat berlebihan</a:t>
            </a:r>
          </a:p>
          <a:p>
            <a:r>
              <a:rPr lang="id-ID" sz="2800" dirty="0"/>
              <a:t>AND Kelelahan</a:t>
            </a:r>
          </a:p>
          <a:p>
            <a:r>
              <a:rPr lang="id-ID" sz="2800" dirty="0"/>
              <a:t>AND Mual</a:t>
            </a:r>
          </a:p>
          <a:p>
            <a:r>
              <a:rPr lang="id-ID" sz="2800" dirty="0"/>
              <a:t>AND Pusing</a:t>
            </a:r>
          </a:p>
          <a:p>
            <a:r>
              <a:rPr lang="id-ID" sz="2800" dirty="0"/>
              <a:t>THEN Jantung Koroner</a:t>
            </a:r>
          </a:p>
        </p:txBody>
      </p:sp>
    </p:spTree>
    <p:extLst>
      <p:ext uri="{BB962C8B-B14F-4D97-AF65-F5344CB8AC3E}">
        <p14:creationId xmlns:p14="http://schemas.microsoft.com/office/powerpoint/2010/main" val="21723471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t>CONTOH KASUS – PROSES PENALARAN</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a:xfrm>
            <a:off x="581192" y="2180496"/>
            <a:ext cx="11029615" cy="4206449"/>
          </a:xfrm>
        </p:spPr>
        <p:txBody>
          <a:bodyPr>
            <a:normAutofit fontScale="92500" lnSpcReduction="20000"/>
          </a:bodyPr>
          <a:lstStyle/>
          <a:p>
            <a:r>
              <a:rPr lang="id-ID" sz="2800" dirty="0"/>
              <a:t>Pengguna konsultasi diberi pilihan jawaban yang masing-masing bobotnya sebagai berikut :</a:t>
            </a:r>
          </a:p>
          <a:p>
            <a:r>
              <a:rPr lang="id-ID" sz="2800" dirty="0"/>
              <a:t>No Keterangan Nilai User</a:t>
            </a:r>
          </a:p>
          <a:p>
            <a:pPr marL="0" indent="0">
              <a:buNone/>
            </a:pPr>
            <a:r>
              <a:rPr lang="id-ID" sz="2800" dirty="0"/>
              <a:t>1 Tidak 0</a:t>
            </a:r>
          </a:p>
          <a:p>
            <a:pPr marL="0" indent="0">
              <a:buNone/>
            </a:pPr>
            <a:r>
              <a:rPr lang="id-ID" sz="2800" dirty="0"/>
              <a:t>2 Tidak tahu 0,2</a:t>
            </a:r>
          </a:p>
          <a:p>
            <a:pPr marL="0" indent="0">
              <a:buNone/>
            </a:pPr>
            <a:r>
              <a:rPr lang="id-ID" sz="2800" dirty="0"/>
              <a:t>3 Sedikit yakin 0,4</a:t>
            </a:r>
          </a:p>
          <a:p>
            <a:pPr marL="0" indent="0">
              <a:buNone/>
            </a:pPr>
            <a:r>
              <a:rPr lang="id-ID" sz="2800" dirty="0"/>
              <a:t>4 Cukup yakin 0,6</a:t>
            </a:r>
          </a:p>
          <a:p>
            <a:pPr marL="0" indent="0">
              <a:buNone/>
            </a:pPr>
            <a:r>
              <a:rPr lang="id-ID" sz="2800" dirty="0"/>
              <a:t>5 Yakin 0,8</a:t>
            </a:r>
          </a:p>
          <a:p>
            <a:pPr marL="0" indent="0">
              <a:buNone/>
            </a:pPr>
            <a:r>
              <a:rPr lang="id-ID" sz="2800" dirty="0"/>
              <a:t>6 Sangat yakin 1</a:t>
            </a:r>
          </a:p>
        </p:txBody>
      </p:sp>
    </p:spTree>
    <p:extLst>
      <p:ext uri="{BB962C8B-B14F-4D97-AF65-F5344CB8AC3E}">
        <p14:creationId xmlns:p14="http://schemas.microsoft.com/office/powerpoint/2010/main" val="2453896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t>CONTOH KASUS – PROSES PENALARAN</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a:xfrm>
            <a:off x="581192" y="2180496"/>
            <a:ext cx="11029615" cy="4206449"/>
          </a:xfrm>
        </p:spPr>
        <p:txBody>
          <a:bodyPr>
            <a:normAutofit fontScale="92500" lnSpcReduction="20000"/>
          </a:bodyPr>
          <a:lstStyle/>
          <a:p>
            <a:pPr marL="0" indent="0">
              <a:buNone/>
            </a:pPr>
            <a:r>
              <a:rPr lang="id-ID" sz="2800" dirty="0"/>
              <a:t>Pakar menentukan nilai CF (Certainty Factor) untuk masing-masing gejala sebagai berikut :</a:t>
            </a:r>
          </a:p>
          <a:p>
            <a:pPr marL="0" indent="0">
              <a:buNone/>
            </a:pPr>
            <a:r>
              <a:rPr lang="id-ID" sz="2800" dirty="0"/>
              <a:t>CFpakar (Sesak nafas) = 1,0</a:t>
            </a:r>
          </a:p>
          <a:p>
            <a:pPr marL="0" indent="0">
              <a:buNone/>
            </a:pPr>
            <a:r>
              <a:rPr lang="id-ID" sz="2800" dirty="0"/>
              <a:t>CFpakar (Nyeri dada) = 1,0</a:t>
            </a:r>
          </a:p>
          <a:p>
            <a:pPr marL="0" indent="0">
              <a:buNone/>
            </a:pPr>
            <a:r>
              <a:rPr lang="id-ID" sz="2800" dirty="0"/>
              <a:t>CFpakar (Denyut jantung cepat) = 1,0</a:t>
            </a:r>
          </a:p>
          <a:p>
            <a:pPr marL="0" indent="0">
              <a:buNone/>
            </a:pPr>
            <a:r>
              <a:rPr lang="id-ID" sz="2800" dirty="0"/>
              <a:t>CFpakar (Keringat berlebih) = 0,8</a:t>
            </a:r>
          </a:p>
          <a:p>
            <a:pPr marL="0" indent="0">
              <a:buNone/>
            </a:pPr>
            <a:r>
              <a:rPr lang="id-ID" sz="2800" dirty="0"/>
              <a:t>CFpakar (Kelelahan) = 0,6</a:t>
            </a:r>
          </a:p>
          <a:p>
            <a:pPr marL="0" indent="0">
              <a:buNone/>
            </a:pPr>
            <a:r>
              <a:rPr lang="id-ID" sz="2800" dirty="0"/>
              <a:t>CFpakar (Mual) = 0,4</a:t>
            </a:r>
          </a:p>
          <a:p>
            <a:pPr marL="0" indent="0">
              <a:buNone/>
            </a:pPr>
            <a:r>
              <a:rPr lang="id-ID" sz="2800" dirty="0"/>
              <a:t>CFpakar (Pusing) = -0,4</a:t>
            </a:r>
          </a:p>
        </p:txBody>
      </p:sp>
    </p:spTree>
    <p:extLst>
      <p:ext uri="{BB962C8B-B14F-4D97-AF65-F5344CB8AC3E}">
        <p14:creationId xmlns:p14="http://schemas.microsoft.com/office/powerpoint/2010/main" val="1808476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t>CONTOH KASUS – PROSES PENALARAN</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a:xfrm>
            <a:off x="581192" y="2180496"/>
            <a:ext cx="11029615" cy="4206449"/>
          </a:xfrm>
        </p:spPr>
        <p:txBody>
          <a:bodyPr>
            <a:normAutofit lnSpcReduction="10000"/>
          </a:bodyPr>
          <a:lstStyle/>
          <a:p>
            <a:pPr marL="0" indent="0">
              <a:buNone/>
            </a:pPr>
            <a:r>
              <a:rPr lang="id-ID" sz="2800" dirty="0"/>
              <a:t>Kemudian dilanjutkan dengan penentuan nilai bobot user, setelah dilakukan dialog antar sistem pakar dan user memilih jawabannya :</a:t>
            </a:r>
          </a:p>
          <a:p>
            <a:pPr marL="0" indent="0">
              <a:buNone/>
            </a:pPr>
            <a:r>
              <a:rPr lang="id-ID" sz="2800" dirty="0"/>
              <a:t>1. Sistem pakar : Apakah Anda mengalami Sesak nafas ?</a:t>
            </a:r>
          </a:p>
          <a:p>
            <a:pPr marL="0" indent="0">
              <a:buNone/>
            </a:pPr>
            <a:r>
              <a:rPr lang="id-ID" sz="2800" dirty="0"/>
              <a:t>	User : Cukup yakin (CFuser = 0,6)</a:t>
            </a:r>
          </a:p>
          <a:p>
            <a:pPr marL="0" indent="0">
              <a:buNone/>
            </a:pPr>
            <a:r>
              <a:rPr lang="id-ID" sz="2800" dirty="0"/>
              <a:t>2. Sistem pakar : Apakah Anda mengalami nyeri dada ?</a:t>
            </a:r>
          </a:p>
          <a:p>
            <a:pPr marL="0" indent="0">
              <a:buNone/>
            </a:pPr>
            <a:r>
              <a:rPr lang="id-ID" sz="2800" dirty="0"/>
              <a:t>	User : Cukup yakin (CFuser = 0,6)</a:t>
            </a:r>
          </a:p>
          <a:p>
            <a:pPr marL="0" indent="0">
              <a:buNone/>
            </a:pPr>
            <a:r>
              <a:rPr lang="id-ID" sz="2800" dirty="0"/>
              <a:t>3. Sistem pakar : Apakah Anda mengalami denyut jantung yang cepat ?</a:t>
            </a:r>
          </a:p>
          <a:p>
            <a:pPr marL="0" indent="0">
              <a:buNone/>
            </a:pPr>
            <a:r>
              <a:rPr lang="id-ID" sz="2800" dirty="0"/>
              <a:t>	User : Yakin (CFuser = 0,8)</a:t>
            </a:r>
          </a:p>
        </p:txBody>
      </p:sp>
    </p:spTree>
    <p:extLst>
      <p:ext uri="{BB962C8B-B14F-4D97-AF65-F5344CB8AC3E}">
        <p14:creationId xmlns:p14="http://schemas.microsoft.com/office/powerpoint/2010/main" val="2575258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t>CONTOH KASUS – PROSES PENALARAN</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a:xfrm>
            <a:off x="581192" y="2180496"/>
            <a:ext cx="11029615" cy="4206449"/>
          </a:xfrm>
        </p:spPr>
        <p:txBody>
          <a:bodyPr>
            <a:normAutofit fontScale="92500" lnSpcReduction="10000"/>
          </a:bodyPr>
          <a:lstStyle/>
          <a:p>
            <a:pPr marL="0" indent="0">
              <a:buNone/>
            </a:pPr>
            <a:r>
              <a:rPr lang="id-ID" sz="2800" dirty="0"/>
              <a:t>4. Sistem pakar : Apakah Anda mengalami kringat berlebih ?</a:t>
            </a:r>
          </a:p>
          <a:p>
            <a:pPr marL="0" indent="0">
              <a:buNone/>
            </a:pPr>
            <a:r>
              <a:rPr lang="id-ID" sz="2800" dirty="0"/>
              <a:t>	User : Sedikit yakin (CFuser = 0,4)</a:t>
            </a:r>
          </a:p>
          <a:p>
            <a:pPr marL="0" indent="0">
              <a:buNone/>
            </a:pPr>
            <a:r>
              <a:rPr lang="id-ID" sz="2800" dirty="0"/>
              <a:t>5. Sistem pakar : Apakah Anda mengalami kelelahan ?</a:t>
            </a:r>
          </a:p>
          <a:p>
            <a:pPr marL="0" indent="0">
              <a:buNone/>
            </a:pPr>
            <a:r>
              <a:rPr lang="id-ID" sz="2800" dirty="0"/>
              <a:t>	User : Tidak tahu (CFuser = 0,2)</a:t>
            </a:r>
          </a:p>
          <a:p>
            <a:pPr marL="0" indent="0">
              <a:buNone/>
            </a:pPr>
            <a:r>
              <a:rPr lang="id-ID" sz="2800" dirty="0"/>
              <a:t>6. Sistem pakar : Apakah Anda mengalami mual ?</a:t>
            </a:r>
          </a:p>
          <a:p>
            <a:pPr marL="0" indent="0">
              <a:buNone/>
            </a:pPr>
            <a:r>
              <a:rPr lang="id-ID" sz="2800" dirty="0"/>
              <a:t>	User : Tidak (CFuser = 0)</a:t>
            </a:r>
          </a:p>
          <a:p>
            <a:pPr marL="0" indent="0">
              <a:buNone/>
            </a:pPr>
            <a:r>
              <a:rPr lang="id-ID" sz="2800" dirty="0"/>
              <a:t>7. Sistem pakar : Apakah Anda mengalami pusing ?</a:t>
            </a:r>
          </a:p>
          <a:p>
            <a:pPr marL="0" indent="0">
              <a:buNone/>
            </a:pPr>
            <a:r>
              <a:rPr lang="id-ID" sz="2800" dirty="0"/>
              <a:t>	User : Cukup yakin (CFuser = 0,6)</a:t>
            </a:r>
          </a:p>
        </p:txBody>
      </p:sp>
    </p:spTree>
    <p:extLst>
      <p:ext uri="{BB962C8B-B14F-4D97-AF65-F5344CB8AC3E}">
        <p14:creationId xmlns:p14="http://schemas.microsoft.com/office/powerpoint/2010/main" val="2057586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t>CONTOH KASUS – PROSES PENALARAN</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a:xfrm>
            <a:off x="581192" y="2180496"/>
            <a:ext cx="11029615" cy="4206449"/>
          </a:xfrm>
        </p:spPr>
        <p:txBody>
          <a:bodyPr>
            <a:normAutofit fontScale="77500" lnSpcReduction="20000"/>
          </a:bodyPr>
          <a:lstStyle/>
          <a:p>
            <a:pPr marL="0" indent="0">
              <a:lnSpc>
                <a:spcPct val="120000"/>
              </a:lnSpc>
              <a:buNone/>
            </a:pPr>
            <a:r>
              <a:rPr lang="id-ID" sz="2800" dirty="0"/>
              <a:t>Kaidah-kaidah atau rule tersebut kemudian dihitung nilai CF-nya dengan mengalikan Cfpakar dengan Cfuser menjadi :</a:t>
            </a:r>
          </a:p>
          <a:p>
            <a:pPr marL="0" indent="0">
              <a:lnSpc>
                <a:spcPct val="120000"/>
              </a:lnSpc>
              <a:buNone/>
            </a:pPr>
            <a:r>
              <a:rPr lang="id-ID" sz="2800" dirty="0"/>
              <a:t>CF[H,E]1 = CF[H]1 * CF[E]1</a:t>
            </a:r>
          </a:p>
          <a:p>
            <a:pPr marL="0" indent="0">
              <a:lnSpc>
                <a:spcPct val="120000"/>
              </a:lnSpc>
              <a:buNone/>
            </a:pPr>
            <a:r>
              <a:rPr lang="id-ID" sz="2800" dirty="0"/>
              <a:t>= 1,0 * 0,6</a:t>
            </a:r>
          </a:p>
          <a:p>
            <a:pPr marL="0" indent="0">
              <a:lnSpc>
                <a:spcPct val="120000"/>
              </a:lnSpc>
              <a:buNone/>
            </a:pPr>
            <a:r>
              <a:rPr lang="id-ID" sz="2800" dirty="0"/>
              <a:t>= 0,6</a:t>
            </a:r>
          </a:p>
          <a:p>
            <a:pPr marL="0" indent="0">
              <a:lnSpc>
                <a:spcPct val="120000"/>
              </a:lnSpc>
              <a:buNone/>
            </a:pPr>
            <a:endParaRPr lang="id-ID" sz="2800" dirty="0"/>
          </a:p>
          <a:p>
            <a:pPr marL="0" indent="0">
              <a:lnSpc>
                <a:spcPct val="120000"/>
              </a:lnSpc>
              <a:buNone/>
            </a:pPr>
            <a:r>
              <a:rPr lang="id-ID" sz="2800" dirty="0"/>
              <a:t>CF[H,E]2 = CF[H]2 * CF[E]2</a:t>
            </a:r>
          </a:p>
          <a:p>
            <a:pPr marL="0" indent="0">
              <a:lnSpc>
                <a:spcPct val="120000"/>
              </a:lnSpc>
              <a:buNone/>
            </a:pPr>
            <a:r>
              <a:rPr lang="id-ID" sz="2800" dirty="0"/>
              <a:t>= 1,0 * 0,6</a:t>
            </a:r>
          </a:p>
          <a:p>
            <a:pPr marL="0" indent="0">
              <a:lnSpc>
                <a:spcPct val="120000"/>
              </a:lnSpc>
              <a:buNone/>
            </a:pPr>
            <a:r>
              <a:rPr lang="id-ID" sz="2800" dirty="0"/>
              <a:t>= 0,6</a:t>
            </a:r>
          </a:p>
        </p:txBody>
      </p:sp>
    </p:spTree>
    <p:extLst>
      <p:ext uri="{BB962C8B-B14F-4D97-AF65-F5344CB8AC3E}">
        <p14:creationId xmlns:p14="http://schemas.microsoft.com/office/powerpoint/2010/main" val="138596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t>CONTOH KASUS – PROSES PENALARAN</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a:xfrm>
            <a:off x="581192" y="2180496"/>
            <a:ext cx="11029615" cy="4206449"/>
          </a:xfrm>
        </p:spPr>
        <p:txBody>
          <a:bodyPr>
            <a:normAutofit fontScale="70000" lnSpcReduction="20000"/>
          </a:bodyPr>
          <a:lstStyle/>
          <a:p>
            <a:pPr marL="0" indent="0">
              <a:buNone/>
            </a:pPr>
            <a:r>
              <a:rPr lang="id-ID" sz="2800" dirty="0"/>
              <a:t>CF[H,E]3 = CF[H]3 * CF[E]3</a:t>
            </a:r>
          </a:p>
          <a:p>
            <a:pPr marL="0" indent="0">
              <a:buNone/>
            </a:pPr>
            <a:r>
              <a:rPr lang="id-ID" sz="2800" dirty="0"/>
              <a:t>= 1,0 * 0,8</a:t>
            </a:r>
          </a:p>
          <a:p>
            <a:pPr marL="0" indent="0">
              <a:buNone/>
            </a:pPr>
            <a:r>
              <a:rPr lang="id-ID" sz="2800" dirty="0"/>
              <a:t>= 0,8</a:t>
            </a:r>
          </a:p>
          <a:p>
            <a:pPr marL="0" indent="0">
              <a:buNone/>
            </a:pPr>
            <a:endParaRPr lang="id-ID" sz="2800" dirty="0"/>
          </a:p>
          <a:p>
            <a:pPr marL="0" indent="0">
              <a:buNone/>
            </a:pPr>
            <a:r>
              <a:rPr lang="id-ID" sz="2800" dirty="0"/>
              <a:t>CF[H,E]4 = CF[H]4 * CF[E]4</a:t>
            </a:r>
          </a:p>
          <a:p>
            <a:pPr marL="0" indent="0">
              <a:buNone/>
            </a:pPr>
            <a:r>
              <a:rPr lang="id-ID" sz="2800" dirty="0"/>
              <a:t>= 0,8 * 0,4</a:t>
            </a:r>
          </a:p>
          <a:p>
            <a:pPr marL="0" indent="0">
              <a:buNone/>
            </a:pPr>
            <a:r>
              <a:rPr lang="id-ID" sz="2800" dirty="0"/>
              <a:t>= 0,32</a:t>
            </a:r>
          </a:p>
          <a:p>
            <a:pPr marL="0" indent="0">
              <a:buNone/>
            </a:pPr>
            <a:endParaRPr lang="id-ID" sz="2800" dirty="0"/>
          </a:p>
          <a:p>
            <a:pPr marL="0" indent="0">
              <a:buNone/>
            </a:pPr>
            <a:r>
              <a:rPr lang="id-ID" sz="2800" dirty="0"/>
              <a:t>CF[H,E]5 = CF[H]5 * CF[E]5</a:t>
            </a:r>
          </a:p>
          <a:p>
            <a:pPr marL="0" indent="0">
              <a:buNone/>
            </a:pPr>
            <a:r>
              <a:rPr lang="id-ID" sz="2800" dirty="0"/>
              <a:t>= 0,6 * 0,2</a:t>
            </a:r>
          </a:p>
          <a:p>
            <a:pPr marL="0" indent="0">
              <a:buNone/>
            </a:pPr>
            <a:r>
              <a:rPr lang="id-ID" sz="2800" dirty="0"/>
              <a:t>= 0,12</a:t>
            </a:r>
          </a:p>
        </p:txBody>
      </p:sp>
    </p:spTree>
    <p:extLst>
      <p:ext uri="{BB962C8B-B14F-4D97-AF65-F5344CB8AC3E}">
        <p14:creationId xmlns:p14="http://schemas.microsoft.com/office/powerpoint/2010/main" val="385626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t>CONTOH KASUS – PROSES PENALARAN</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a:xfrm>
            <a:off x="581192" y="2180496"/>
            <a:ext cx="11029615" cy="4206449"/>
          </a:xfrm>
        </p:spPr>
        <p:txBody>
          <a:bodyPr>
            <a:normAutofit/>
          </a:bodyPr>
          <a:lstStyle/>
          <a:p>
            <a:pPr marL="0" indent="0">
              <a:buNone/>
            </a:pPr>
            <a:r>
              <a:rPr lang="id-ID" sz="2800" dirty="0"/>
              <a:t>CF[H,E]6 = CF[H]6 * CF[E]6</a:t>
            </a:r>
          </a:p>
          <a:p>
            <a:pPr marL="0" indent="0">
              <a:buNone/>
            </a:pPr>
            <a:r>
              <a:rPr lang="id-ID" sz="2800" dirty="0"/>
              <a:t>= 0,4 * 0</a:t>
            </a:r>
          </a:p>
          <a:p>
            <a:pPr marL="0" indent="0">
              <a:buNone/>
            </a:pPr>
            <a:r>
              <a:rPr lang="id-ID" sz="2800" dirty="0"/>
              <a:t>= 0</a:t>
            </a:r>
          </a:p>
          <a:p>
            <a:pPr marL="0" indent="0">
              <a:buNone/>
            </a:pPr>
            <a:endParaRPr lang="id-ID" sz="2800" dirty="0"/>
          </a:p>
          <a:p>
            <a:pPr marL="0" indent="0">
              <a:buNone/>
            </a:pPr>
            <a:r>
              <a:rPr lang="id-ID" sz="2800" dirty="0"/>
              <a:t>CF[H,E]7 = CF[H]7 * CF[E]7</a:t>
            </a:r>
          </a:p>
          <a:p>
            <a:pPr marL="0" indent="0">
              <a:buNone/>
            </a:pPr>
            <a:r>
              <a:rPr lang="id-ID" sz="2800" dirty="0"/>
              <a:t>= (-0,4) * 0,6</a:t>
            </a:r>
          </a:p>
          <a:p>
            <a:pPr marL="0" indent="0">
              <a:buNone/>
            </a:pPr>
            <a:r>
              <a:rPr lang="id-ID" sz="2800" dirty="0"/>
              <a:t>= -0,24</a:t>
            </a:r>
          </a:p>
        </p:txBody>
      </p:sp>
    </p:spTree>
    <p:extLst>
      <p:ext uri="{BB962C8B-B14F-4D97-AF65-F5344CB8AC3E}">
        <p14:creationId xmlns:p14="http://schemas.microsoft.com/office/powerpoint/2010/main" val="2052673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t>CONTOH KASUS – PROSES PENALARAN</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a:xfrm>
            <a:off x="581192" y="2180496"/>
            <a:ext cx="11029615" cy="4206449"/>
          </a:xfrm>
        </p:spPr>
        <p:txBody>
          <a:bodyPr>
            <a:normAutofit fontScale="92500" lnSpcReduction="10000"/>
          </a:bodyPr>
          <a:lstStyle/>
          <a:p>
            <a:pPr marL="0" indent="0">
              <a:buNone/>
            </a:pPr>
            <a:r>
              <a:rPr lang="id-ID" sz="2800" dirty="0"/>
              <a:t>Mengkombinasikan nilai CF dari masing-masing kaidah (rule)</a:t>
            </a:r>
          </a:p>
          <a:p>
            <a:pPr marL="0" indent="0">
              <a:buNone/>
            </a:pPr>
            <a:r>
              <a:rPr lang="id-ID" sz="2800" dirty="0"/>
              <a:t>CFcombine CF[H,E]1,2 = CF[H,E]1 + CF[H,E]2 * (1 – CF[H,E]1)</a:t>
            </a:r>
          </a:p>
          <a:p>
            <a:pPr marL="0" indent="0">
              <a:buNone/>
            </a:pPr>
            <a:r>
              <a:rPr lang="id-ID" sz="2800" dirty="0"/>
              <a:t>= 0,6 + </a:t>
            </a:r>
            <a:r>
              <a:rPr lang="en-US" sz="2800" dirty="0"/>
              <a:t>(</a:t>
            </a:r>
            <a:r>
              <a:rPr lang="id-ID" sz="2800" dirty="0"/>
              <a:t>0,6 * (1 – 0,6)</a:t>
            </a:r>
            <a:r>
              <a:rPr lang="en-US" sz="2800" dirty="0"/>
              <a:t>)</a:t>
            </a:r>
            <a:endParaRPr lang="id-ID" sz="2800" dirty="0"/>
          </a:p>
          <a:p>
            <a:pPr marL="0" indent="0">
              <a:buNone/>
            </a:pPr>
            <a:r>
              <a:rPr lang="id-ID" sz="2800" dirty="0"/>
              <a:t>= 0,84 </a:t>
            </a:r>
            <a:r>
              <a:rPr lang="id-ID" sz="2800" dirty="0">
                <a:sym typeface="Wingdings" panose="05000000000000000000" pitchFamily="2" charset="2"/>
              </a:rPr>
              <a:t> </a:t>
            </a:r>
            <a:r>
              <a:rPr lang="id-ID" sz="2800" dirty="0"/>
              <a:t>CF[H,E]old1</a:t>
            </a:r>
          </a:p>
          <a:p>
            <a:pPr marL="0" indent="0">
              <a:buNone/>
            </a:pPr>
            <a:endParaRPr lang="id-ID" sz="2800" dirty="0"/>
          </a:p>
          <a:p>
            <a:pPr marL="0" indent="0">
              <a:buNone/>
            </a:pPr>
            <a:r>
              <a:rPr lang="id-ID" sz="2800" dirty="0"/>
              <a:t>CFcombine CF[H,E]old1,3 = CF[H,E]old1 + CF[H,E]3 * (1 – CF[H,E]old1)</a:t>
            </a:r>
          </a:p>
          <a:p>
            <a:pPr marL="0" indent="0">
              <a:buNone/>
            </a:pPr>
            <a:r>
              <a:rPr lang="id-ID" sz="2800" dirty="0"/>
              <a:t>= 0,84 + </a:t>
            </a:r>
            <a:r>
              <a:rPr lang="en-US" sz="2800" dirty="0"/>
              <a:t>(</a:t>
            </a:r>
            <a:r>
              <a:rPr lang="id-ID" sz="2800" dirty="0"/>
              <a:t>0,8 * (1 – 0,84)</a:t>
            </a:r>
            <a:r>
              <a:rPr lang="en-US" sz="2800" dirty="0"/>
              <a:t>)</a:t>
            </a:r>
            <a:endParaRPr lang="id-ID" sz="2800" dirty="0"/>
          </a:p>
          <a:p>
            <a:pPr marL="0" indent="0">
              <a:buNone/>
            </a:pPr>
            <a:r>
              <a:rPr lang="id-ID" sz="2800" dirty="0"/>
              <a:t>= 0,968</a:t>
            </a:r>
            <a:r>
              <a:rPr lang="id-ID" sz="2800" dirty="0">
                <a:sym typeface="Wingdings" panose="05000000000000000000" pitchFamily="2" charset="2"/>
              </a:rPr>
              <a:t> </a:t>
            </a:r>
            <a:r>
              <a:rPr lang="id-ID" sz="2800" dirty="0"/>
              <a:t>CF[H,E]old2</a:t>
            </a:r>
          </a:p>
        </p:txBody>
      </p:sp>
    </p:spTree>
    <p:extLst>
      <p:ext uri="{BB962C8B-B14F-4D97-AF65-F5344CB8AC3E}">
        <p14:creationId xmlns:p14="http://schemas.microsoft.com/office/powerpoint/2010/main" val="2485975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t>CONTOH KASUS – PROSES PENALARAN</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a:xfrm>
            <a:off x="581192" y="2180496"/>
            <a:ext cx="11029615" cy="4206449"/>
          </a:xfrm>
        </p:spPr>
        <p:txBody>
          <a:bodyPr>
            <a:normAutofit fontScale="70000" lnSpcReduction="20000"/>
          </a:bodyPr>
          <a:lstStyle/>
          <a:p>
            <a:pPr marL="0" indent="0">
              <a:buNone/>
            </a:pPr>
            <a:r>
              <a:rPr lang="id-ID" sz="2800" dirty="0"/>
              <a:t>CFcombine CF[H,E]old2,4 = CF[H,E]ol2d + CF[H,E]4 * (1 – CF[H,E]old2)</a:t>
            </a:r>
          </a:p>
          <a:p>
            <a:pPr marL="0" indent="0">
              <a:buNone/>
            </a:pPr>
            <a:r>
              <a:rPr lang="id-ID" sz="2800" dirty="0"/>
              <a:t> 0,968 + </a:t>
            </a:r>
            <a:r>
              <a:rPr lang="en-US" sz="2800" dirty="0"/>
              <a:t>(</a:t>
            </a:r>
            <a:r>
              <a:rPr lang="id-ID" sz="2800" dirty="0"/>
              <a:t>0,32 * (1 – 0,968)</a:t>
            </a:r>
            <a:r>
              <a:rPr lang="en-US" sz="2800" dirty="0"/>
              <a:t>)</a:t>
            </a:r>
            <a:endParaRPr lang="id-ID" sz="2800" dirty="0"/>
          </a:p>
          <a:p>
            <a:pPr marL="0" indent="0">
              <a:buNone/>
            </a:pPr>
            <a:r>
              <a:rPr lang="id-ID" sz="2800" dirty="0"/>
              <a:t>= 0,978</a:t>
            </a:r>
            <a:r>
              <a:rPr lang="id-ID" sz="2800" dirty="0">
                <a:sym typeface="Wingdings" panose="05000000000000000000" pitchFamily="2" charset="2"/>
              </a:rPr>
              <a:t> </a:t>
            </a:r>
            <a:r>
              <a:rPr lang="id-ID" sz="2800" dirty="0"/>
              <a:t>CF[H,E]old3</a:t>
            </a:r>
          </a:p>
          <a:p>
            <a:pPr marL="0" indent="0">
              <a:buNone/>
            </a:pPr>
            <a:endParaRPr lang="id-ID" sz="2800" dirty="0"/>
          </a:p>
          <a:p>
            <a:pPr marL="0" indent="0">
              <a:buNone/>
            </a:pPr>
            <a:r>
              <a:rPr lang="id-ID" sz="2800" dirty="0"/>
              <a:t>CFcombine CF[H,E]old3,5 = CF[H,E]old3 + CF[H,E]5 * (1 – CF[H,E]old3)</a:t>
            </a:r>
          </a:p>
          <a:p>
            <a:pPr marL="0" indent="0">
              <a:buNone/>
            </a:pPr>
            <a:r>
              <a:rPr lang="id-ID" sz="2800" dirty="0"/>
              <a:t>= 0,978 + </a:t>
            </a:r>
            <a:r>
              <a:rPr lang="en-US" sz="2800" dirty="0"/>
              <a:t>(</a:t>
            </a:r>
            <a:r>
              <a:rPr lang="id-ID" sz="2800" dirty="0"/>
              <a:t>0,12 * (1 – 0,978)</a:t>
            </a:r>
            <a:r>
              <a:rPr lang="en-US" sz="2800" dirty="0"/>
              <a:t>)</a:t>
            </a:r>
            <a:endParaRPr lang="id-ID" sz="2800" dirty="0"/>
          </a:p>
          <a:p>
            <a:pPr marL="0" indent="0">
              <a:buNone/>
            </a:pPr>
            <a:r>
              <a:rPr lang="id-ID" sz="2800" dirty="0"/>
              <a:t>= 0,981</a:t>
            </a:r>
            <a:r>
              <a:rPr lang="id-ID" sz="2800" dirty="0">
                <a:sym typeface="Wingdings" panose="05000000000000000000" pitchFamily="2" charset="2"/>
              </a:rPr>
              <a:t> </a:t>
            </a:r>
            <a:r>
              <a:rPr lang="id-ID" sz="2800" dirty="0"/>
              <a:t>CF[H,E]old4</a:t>
            </a:r>
          </a:p>
          <a:p>
            <a:pPr marL="0" indent="0">
              <a:buNone/>
            </a:pPr>
            <a:endParaRPr lang="id-ID" sz="2800" dirty="0"/>
          </a:p>
          <a:p>
            <a:pPr marL="0" indent="0">
              <a:buNone/>
            </a:pPr>
            <a:r>
              <a:rPr lang="id-ID" sz="2800" dirty="0"/>
              <a:t>CFcombine CF[H,E]old4,6 = CF[H,E]old4 + CF[H,E]6 * (1 – CF[H,E]old4)</a:t>
            </a:r>
          </a:p>
          <a:p>
            <a:pPr marL="0" indent="0">
              <a:buNone/>
            </a:pPr>
            <a:r>
              <a:rPr lang="id-ID" sz="2800" dirty="0"/>
              <a:t>= 0,981 + </a:t>
            </a:r>
            <a:r>
              <a:rPr lang="en-US" sz="2800" dirty="0"/>
              <a:t>(</a:t>
            </a:r>
            <a:r>
              <a:rPr lang="id-ID" sz="2800" dirty="0"/>
              <a:t>0 * (1 – 0,981)</a:t>
            </a:r>
            <a:r>
              <a:rPr lang="en-US" sz="2800" dirty="0"/>
              <a:t>)</a:t>
            </a:r>
            <a:endParaRPr lang="id-ID" sz="2800" dirty="0"/>
          </a:p>
          <a:p>
            <a:pPr marL="0" indent="0">
              <a:buNone/>
            </a:pPr>
            <a:r>
              <a:rPr lang="id-ID" sz="2800" dirty="0"/>
              <a:t>= 0,981</a:t>
            </a:r>
            <a:r>
              <a:rPr lang="id-ID" sz="2800" dirty="0">
                <a:sym typeface="Wingdings" panose="05000000000000000000" pitchFamily="2" charset="2"/>
              </a:rPr>
              <a:t> </a:t>
            </a:r>
            <a:r>
              <a:rPr lang="id-ID" sz="2800" dirty="0"/>
              <a:t>CF[H,E]old5</a:t>
            </a:r>
          </a:p>
        </p:txBody>
      </p:sp>
    </p:spTree>
    <p:extLst>
      <p:ext uri="{BB962C8B-B14F-4D97-AF65-F5344CB8AC3E}">
        <p14:creationId xmlns:p14="http://schemas.microsoft.com/office/powerpoint/2010/main" val="3559865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t>CONTOH KASUS – PROSES PENALARAN</a:t>
            </a:r>
            <a:endParaRPr lang="en-US" dirty="0">
              <a:solidFill>
                <a:srgbClr val="FFFEFF"/>
              </a:solidFill>
            </a:endParaRPr>
          </a:p>
        </p:txBody>
      </p:sp>
      <p:sp>
        <p:nvSpPr>
          <p:cNvPr id="4" name="Content Placeholder 2">
            <a:extLst>
              <a:ext uri="{FF2B5EF4-FFF2-40B4-BE49-F238E27FC236}">
                <a16:creationId xmlns:a16="http://schemas.microsoft.com/office/drawing/2014/main" id="{402D5D6D-6C30-4338-9ED2-E80A53EC80F9}"/>
              </a:ext>
            </a:extLst>
          </p:cNvPr>
          <p:cNvSpPr txBox="1">
            <a:spLocks/>
          </p:cNvSpPr>
          <p:nvPr/>
        </p:nvSpPr>
        <p:spPr>
          <a:xfrm>
            <a:off x="561102" y="2102725"/>
            <a:ext cx="10515600" cy="4351338"/>
          </a:xfrm>
          <a:prstGeom prst="rect">
            <a:avLst/>
          </a:prstGeom>
        </p:spPr>
        <p:txBody>
          <a:bodyPr vert="horz" lIns="91440" tIns="45720" rIns="91440" bIns="45720" rtlCol="0" anchor="ctr">
            <a:normAutofit fontScale="85000"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nSpc>
                <a:spcPct val="170000"/>
              </a:lnSpc>
              <a:buFont typeface="Wingdings 2" panose="05020102010507070707" pitchFamily="18" charset="2"/>
              <a:buNone/>
            </a:pPr>
            <a:r>
              <a:rPr lang="id-ID" sz="2400" dirty="0"/>
              <a:t>CFcombine CF[H,E]old5,7 = CF[H,E]old5 + CF[H,E]7</a:t>
            </a:r>
          </a:p>
          <a:p>
            <a:pPr marL="0" indent="0">
              <a:lnSpc>
                <a:spcPct val="170000"/>
              </a:lnSpc>
              <a:buFont typeface="Wingdings 2" panose="05020102010507070707" pitchFamily="18" charset="2"/>
              <a:buNone/>
            </a:pPr>
            <a:r>
              <a:rPr lang="id-ID" sz="2400" dirty="0"/>
              <a:t> 1 – min [ | CF[H,E]old5 |, | CF[H,E]7| ]</a:t>
            </a:r>
          </a:p>
          <a:p>
            <a:pPr marL="0" indent="0">
              <a:lnSpc>
                <a:spcPct val="170000"/>
              </a:lnSpc>
              <a:buFont typeface="Wingdings 2" panose="05020102010507070707" pitchFamily="18" charset="2"/>
              <a:buNone/>
            </a:pPr>
            <a:r>
              <a:rPr lang="id-ID" sz="2400" dirty="0"/>
              <a:t>= 0,981 + (-0,24)</a:t>
            </a:r>
          </a:p>
          <a:p>
            <a:pPr marL="0" indent="0">
              <a:lnSpc>
                <a:spcPct val="170000"/>
              </a:lnSpc>
              <a:buFont typeface="Wingdings 2" panose="05020102010507070707" pitchFamily="18" charset="2"/>
              <a:buNone/>
            </a:pPr>
            <a:r>
              <a:rPr lang="id-ID" sz="2400" dirty="0"/>
              <a:t> 1 – min[ |0,9</a:t>
            </a:r>
            <a:r>
              <a:rPr lang="en-US" sz="2400" dirty="0"/>
              <a:t>8</a:t>
            </a:r>
            <a:r>
              <a:rPr lang="id-ID" sz="2400" dirty="0"/>
              <a:t>1|, |-0,24| ]</a:t>
            </a:r>
          </a:p>
          <a:p>
            <a:pPr marL="0" indent="0">
              <a:lnSpc>
                <a:spcPct val="170000"/>
              </a:lnSpc>
              <a:buFont typeface="Wingdings 2" panose="05020102010507070707" pitchFamily="18" charset="2"/>
              <a:buNone/>
            </a:pPr>
            <a:r>
              <a:rPr lang="id-ID" sz="2400" dirty="0"/>
              <a:t>= 0,981 + (-0,24)</a:t>
            </a:r>
          </a:p>
          <a:p>
            <a:pPr marL="0" indent="0">
              <a:lnSpc>
                <a:spcPct val="170000"/>
              </a:lnSpc>
              <a:buFont typeface="Wingdings 2" panose="05020102010507070707" pitchFamily="18" charset="2"/>
              <a:buNone/>
            </a:pPr>
            <a:r>
              <a:rPr lang="id-ID" sz="2400" dirty="0"/>
              <a:t> 1 – (0,24)</a:t>
            </a:r>
          </a:p>
          <a:p>
            <a:pPr marL="0" indent="0">
              <a:lnSpc>
                <a:spcPct val="170000"/>
              </a:lnSpc>
              <a:buFont typeface="Wingdings 2" panose="05020102010507070707" pitchFamily="18" charset="2"/>
              <a:buNone/>
            </a:pPr>
            <a:r>
              <a:rPr lang="id-ID" sz="2400" dirty="0"/>
              <a:t>= 0,</a:t>
            </a:r>
            <a:r>
              <a:rPr lang="en-US" sz="2400" dirty="0"/>
              <a:t>7592</a:t>
            </a:r>
            <a:r>
              <a:rPr lang="id-ID" sz="2400" dirty="0">
                <a:sym typeface="Wingdings" panose="05000000000000000000" pitchFamily="2" charset="2"/>
              </a:rPr>
              <a:t> </a:t>
            </a:r>
            <a:r>
              <a:rPr lang="id-ID" sz="2400" dirty="0"/>
              <a:t>CF[H,E]old6</a:t>
            </a:r>
          </a:p>
        </p:txBody>
      </p:sp>
      <p:cxnSp>
        <p:nvCxnSpPr>
          <p:cNvPr id="6" name="Straight Connector 5">
            <a:extLst>
              <a:ext uri="{FF2B5EF4-FFF2-40B4-BE49-F238E27FC236}">
                <a16:creationId xmlns:a16="http://schemas.microsoft.com/office/drawing/2014/main" id="{117C17E4-FA3C-4813-92F9-42952ADD53D5}"/>
              </a:ext>
            </a:extLst>
          </p:cNvPr>
          <p:cNvCxnSpPr/>
          <p:nvPr/>
        </p:nvCxnSpPr>
        <p:spPr>
          <a:xfrm>
            <a:off x="691090" y="2849568"/>
            <a:ext cx="5284694" cy="0"/>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F66DE2A-5023-448D-9CE4-18BEBC7D7619}"/>
              </a:ext>
            </a:extLst>
          </p:cNvPr>
          <p:cNvCxnSpPr/>
          <p:nvPr/>
        </p:nvCxnSpPr>
        <p:spPr>
          <a:xfrm>
            <a:off x="691090" y="4079365"/>
            <a:ext cx="2891118" cy="0"/>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1669BAA-566A-49B6-8876-CD45B86A276D}"/>
              </a:ext>
            </a:extLst>
          </p:cNvPr>
          <p:cNvCxnSpPr/>
          <p:nvPr/>
        </p:nvCxnSpPr>
        <p:spPr>
          <a:xfrm>
            <a:off x="691090" y="5267596"/>
            <a:ext cx="1707777" cy="0"/>
          </a:xfrm>
          <a:prstGeom prst="line">
            <a:avLst/>
          </a:prstGeom>
          <a:ln w="508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6581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a:t>CONTOH KASUS – PROSES PENALARAN</a:t>
            </a:r>
            <a:endParaRPr lang="en-US" dirty="0">
              <a:solidFill>
                <a:srgbClr val="FFFEFF"/>
              </a:solidFill>
            </a:endParaRPr>
          </a:p>
        </p:txBody>
      </p:sp>
      <p:sp>
        <p:nvSpPr>
          <p:cNvPr id="5" name="Content Placeholder 4">
            <a:extLst>
              <a:ext uri="{FF2B5EF4-FFF2-40B4-BE49-F238E27FC236}">
                <a16:creationId xmlns:a16="http://schemas.microsoft.com/office/drawing/2014/main" id="{B70B8E3A-59EF-492D-8656-E38ADE296F7A}"/>
              </a:ext>
            </a:extLst>
          </p:cNvPr>
          <p:cNvSpPr>
            <a:spLocks noGrp="1"/>
          </p:cNvSpPr>
          <p:nvPr>
            <p:ph idx="1"/>
          </p:nvPr>
        </p:nvSpPr>
        <p:spPr>
          <a:xfrm>
            <a:off x="581192" y="2180496"/>
            <a:ext cx="11029615" cy="4206449"/>
          </a:xfrm>
        </p:spPr>
        <p:txBody>
          <a:bodyPr>
            <a:normAutofit/>
          </a:bodyPr>
          <a:lstStyle/>
          <a:p>
            <a:pPr marL="0" indent="0">
              <a:buNone/>
            </a:pPr>
            <a:r>
              <a:rPr lang="id-ID" sz="2800" dirty="0"/>
              <a:t>CF[H,E]old6 * 100% = 0,</a:t>
            </a:r>
            <a:r>
              <a:rPr lang="en-US" sz="2800" dirty="0"/>
              <a:t>7592</a:t>
            </a:r>
            <a:r>
              <a:rPr lang="id-ID" sz="2800" dirty="0"/>
              <a:t> * 100%</a:t>
            </a:r>
          </a:p>
          <a:p>
            <a:pPr marL="0" indent="0">
              <a:buNone/>
            </a:pPr>
            <a:r>
              <a:rPr lang="id-ID" sz="2800" dirty="0"/>
              <a:t>= </a:t>
            </a:r>
            <a:r>
              <a:rPr lang="en-US" sz="2800" dirty="0"/>
              <a:t>75.92</a:t>
            </a:r>
            <a:r>
              <a:rPr lang="id-ID" sz="2800" dirty="0"/>
              <a:t> %</a:t>
            </a:r>
          </a:p>
          <a:p>
            <a:pPr marL="0" indent="0">
              <a:buNone/>
            </a:pPr>
            <a:endParaRPr lang="id-ID" sz="2800" dirty="0"/>
          </a:p>
          <a:p>
            <a:pPr marL="0" indent="0">
              <a:buNone/>
            </a:pPr>
            <a:r>
              <a:rPr lang="id-ID" sz="2800" dirty="0"/>
              <a:t>Dengan demikian dapat dikatakan bahwa perhitungan certainty factor pada penyakit jantung koroner memiliki persentase tingkat keyakinan </a:t>
            </a:r>
            <a:r>
              <a:rPr lang="en-US" sz="2800" dirty="0"/>
              <a:t>75.92 </a:t>
            </a:r>
            <a:r>
              <a:rPr lang="id-ID" sz="2800" dirty="0"/>
              <a:t>%</a:t>
            </a:r>
          </a:p>
        </p:txBody>
      </p:sp>
    </p:spTree>
    <p:extLst>
      <p:ext uri="{BB962C8B-B14F-4D97-AF65-F5344CB8AC3E}">
        <p14:creationId xmlns:p14="http://schemas.microsoft.com/office/powerpoint/2010/main" val="30134287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a:normAutofit/>
          </a:bodyPr>
          <a:lstStyle/>
          <a:p>
            <a:r>
              <a:rPr lang="en-US" dirty="0">
                <a:solidFill>
                  <a:schemeClr val="bg2"/>
                </a:solidFill>
              </a:rPr>
              <a:t>M. RAMADDAN JULIANTI</a:t>
            </a:r>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Status xmlns="71af3243-3dd4-4a8d-8c0d-dd76da1f02a5">Not started</Statu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b385d60f68dd989dca1fdc827799d85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911b479caf7b199da365455750e4572"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FC8A1C-A436-42C0-AC33-FAFFFAF219BC}">
  <ds:schemaRefs>
    <ds:schemaRef ds:uri="http://schemas.microsoft.com/sharepoint/v3/contenttype/forms"/>
  </ds:schemaRefs>
</ds:datastoreItem>
</file>

<file path=customXml/itemProps2.xml><?xml version="1.0" encoding="utf-8"?>
<ds:datastoreItem xmlns:ds="http://schemas.openxmlformats.org/officeDocument/2006/customXml" ds:itemID="{FF5C8BF1-B0E4-49A1-808F-40F2AD30E743}">
  <ds:schemaRefs>
    <ds:schemaRef ds:uri="http://schemas.microsoft.com/office/2006/documentManagement/types"/>
    <ds:schemaRef ds:uri="16c05727-aa75-4e4a-9b5f-8a80a1165891"/>
    <ds:schemaRef ds:uri="http://schemas.microsoft.com/office/infopath/2007/PartnerControls"/>
    <ds:schemaRef ds:uri="http://purl.org/dc/elements/1.1/"/>
    <ds:schemaRef ds:uri="http://schemas.microsoft.com/office/2006/metadata/properties"/>
    <ds:schemaRef ds:uri="71af3243-3dd4-4a8d-8c0d-dd76da1f02a5"/>
    <ds:schemaRef ds:uri="http://purl.org/dc/term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E3852F5D-AAE7-473B-9767-8875B60BC6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design</Template>
  <TotalTime>0</TotalTime>
  <Words>1821</Words>
  <Application>Microsoft Office PowerPoint</Application>
  <PresentationFormat>Widescreen</PresentationFormat>
  <Paragraphs>204</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Calibri</vt:lpstr>
      <vt:lpstr>Gill Sans MT</vt:lpstr>
      <vt:lpstr>Wingdings</vt:lpstr>
      <vt:lpstr>Wingdings 2</vt:lpstr>
      <vt:lpstr>Dividend</vt:lpstr>
      <vt:lpstr>METODE CERTANTY FACTOR</vt:lpstr>
      <vt:lpstr>KONSEP DASAR</vt:lpstr>
      <vt:lpstr>KONSEP DASAR</vt:lpstr>
      <vt:lpstr>KONSEP DASAR</vt:lpstr>
      <vt:lpstr>KONSEP DASAR</vt:lpstr>
      <vt:lpstr>KONSEP DASAR</vt:lpstr>
      <vt:lpstr>Faktor kepastian (Certainty Factor)</vt:lpstr>
      <vt:lpstr>Faktor kepastian (Certainty Factor)</vt:lpstr>
      <vt:lpstr>Faktor kepastian (Certainty Factor)</vt:lpstr>
      <vt:lpstr>Faktor kepastian (Certainty Factor)</vt:lpstr>
      <vt:lpstr>Tingkat kepercayaan pada CF</vt:lpstr>
      <vt:lpstr>Menghitung Certainty Factor (CF)</vt:lpstr>
      <vt:lpstr>kelebihan Certainty Factor (CF)</vt:lpstr>
      <vt:lpstr>kelemahan Certainty Factor (CF)</vt:lpstr>
      <vt:lpstr>CONTOH KASUS</vt:lpstr>
      <vt:lpstr>CONTOH KASUS – rules base</vt:lpstr>
      <vt:lpstr>CONTOH KASUS – PROSES PENALARAN</vt:lpstr>
      <vt:lpstr>CONTOH KASUS – PROSES PENALARAN</vt:lpstr>
      <vt:lpstr>CONTOH KASUS – PROSES PENALARAN</vt:lpstr>
      <vt:lpstr>CONTOH KASUS – PROSES PENALARAN</vt:lpstr>
      <vt:lpstr>CONTOH KASUS – PROSES PENALARAN</vt:lpstr>
      <vt:lpstr>CONTOH KASUS – PROSES PENALARAN</vt:lpstr>
      <vt:lpstr>CONTOH KASUS – PROSES PENALARAN</vt:lpstr>
      <vt:lpstr>CONTOH KASUS – PROSES PENALARAN</vt:lpstr>
      <vt:lpstr>CONTOH KASUS – PROSES PENALARAN</vt:lpstr>
      <vt:lpstr>CONTOH KASUS – PROSES PENALARAN</vt:lpstr>
      <vt:lpstr>CONTOH KASUS – PROSES PENALARAN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2019-11-28T09:52:32Z</dcterms:created>
  <dcterms:modified xsi:type="dcterms:W3CDTF">2026-10-08T04:31:03Z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