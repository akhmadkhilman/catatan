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ngantar" id="{786FB9E1-248F-131B-293C-0D92BD919F5E}">
          <p14:sldIdLst>
            <p14:sldId id="256"/>
          </p14:sldIdLst>
        </p14:section>
        <p14:section name="Materi" id="{C6D9E003-7DD4-CD1E-5E11-F1E478FD2C51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9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130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12801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Peluang Usaha dan Pengembangan Produk Baru</a:t>
            </a:r>
            <a:endParaRPr lang="en-US" sz="38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Materi Perkuliahan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Identifikasi Peluang Usaha Baru</a:t>
            </a:r>
            <a:endParaRPr lang="en-US" sz="2800" dirty="0"/>
          </a:p>
        </p:txBody>
      </p:sp>
      <p:sp>
        <p:nvSpPr>
          <p:cNvPr id="3" name="Sumber panel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umber accent"/>
          <p:cNvSpPr/>
          <p:nvPr/>
        </p:nvSpPr>
        <p:spPr>
          <a:xfrm>
            <a:off x="5486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umber heading"/>
          <p:cNvSpPr txBox="1"/>
          <p:nvPr/>
        </p:nvSpPr>
        <p:spPr>
          <a:xfrm>
            <a:off x="7772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Sumber Peluang</a:t>
            </a:r>
            <a:endParaRPr lang="en-US" sz="1700" dirty="0"/>
          </a:p>
        </p:txBody>
      </p:sp>
      <p:sp>
        <p:nvSpPr>
          <p:cNvPr id="6" name="Sumber items"/>
          <p:cNvSpPr txBox="1"/>
          <p:nvPr/>
        </p:nvSpPr>
        <p:spPr>
          <a:xfrm>
            <a:off x="7772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Masalah atau kebutuhan pelanggan yang belum terpenuhi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Perubahan tren, gaya hidup, dan teknologi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Perubahan regulasi dan demografi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Celah yang ditinggalkan pesaing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Keahlian dan minat pribadi</a:t>
            </a:r>
            <a:endParaRPr lang="en-US" sz="1500" dirty="0"/>
          </a:p>
        </p:txBody>
      </p:sp>
      <p:sp>
        <p:nvSpPr>
          <p:cNvPr id="7" name="Menilai panel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Menilai accent"/>
          <p:cNvSpPr/>
          <p:nvPr/>
        </p:nvSpPr>
        <p:spPr>
          <a:xfrm>
            <a:off x="46634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enilai heading"/>
          <p:cNvSpPr txBox="1"/>
          <p:nvPr/>
        </p:nvSpPr>
        <p:spPr>
          <a:xfrm>
            <a:off x="48920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 Menilai Peluang</a:t>
            </a:r>
            <a:endParaRPr lang="en-US" sz="1700" dirty="0"/>
          </a:p>
        </p:txBody>
      </p:sp>
      <p:sp>
        <p:nvSpPr>
          <p:cNvPr id="10" name="Menilai items"/>
          <p:cNvSpPr txBox="1"/>
          <p:nvPr/>
        </p:nvSpPr>
        <p:spPr>
          <a:xfrm>
            <a:off x="48920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Riset pasar: ukuran, pertumbuhan, segmen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Analisis SWOT dan analisis pesaing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Kelayakan pasar dan teknis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Kelayakan keuangan: modal, biaya, titik impas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Kesesuaian dengan sumber daya usaha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Ide dan Gagasan Produk serta Jasa Baru</a:t>
            </a:r>
            <a:endParaRPr lang="en-US" sz="2800" dirty="0"/>
          </a:p>
        </p:txBody>
      </p:sp>
      <p:sp>
        <p:nvSpPr>
          <p:cNvPr id="3" name="Ide panel"/>
          <p:cNvSpPr/>
          <p:nvPr/>
        </p:nvSpPr>
        <p:spPr>
          <a:xfrm>
            <a:off x="548640" y="1280160"/>
            <a:ext cx="25603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Ide accent"/>
          <p:cNvSpPr/>
          <p:nvPr/>
        </p:nvSpPr>
        <p:spPr>
          <a:xfrm>
            <a:off x="5486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Ide heading"/>
          <p:cNvSpPr txBox="1"/>
          <p:nvPr/>
        </p:nvSpPr>
        <p:spPr>
          <a:xfrm>
            <a:off x="777240" y="1389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Sumber Ide</a:t>
            </a:r>
            <a:endParaRPr lang="en-US" sz="1700" dirty="0"/>
          </a:p>
        </p:txBody>
      </p:sp>
      <p:sp>
        <p:nvSpPr>
          <p:cNvPr id="6" name="Ide items"/>
          <p:cNvSpPr txBox="1"/>
          <p:nvPr/>
        </p:nvSpPr>
        <p:spPr>
          <a:xfrm>
            <a:off x="777240" y="1874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Pelanggan dan keluhannya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Karyawan dan distributor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Pesaing (benchmarking)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Riset dan pengembangan</a:t>
            </a:r>
            <a:endParaRPr lang="en-US" sz="1400" dirty="0"/>
          </a:p>
        </p:txBody>
      </p:sp>
      <p:sp>
        <p:nvSpPr>
          <p:cNvPr id="7" name="Teknik panel"/>
          <p:cNvSpPr/>
          <p:nvPr/>
        </p:nvSpPr>
        <p:spPr>
          <a:xfrm>
            <a:off x="3291840" y="1280160"/>
            <a:ext cx="25603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knik accent"/>
          <p:cNvSpPr/>
          <p:nvPr/>
        </p:nvSpPr>
        <p:spPr>
          <a:xfrm>
            <a:off x="32918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knik heading"/>
          <p:cNvSpPr txBox="1"/>
          <p:nvPr/>
        </p:nvSpPr>
        <p:spPr>
          <a:xfrm>
            <a:off x="3520440" y="1389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Teknik Kreatif</a:t>
            </a:r>
            <a:endParaRPr lang="en-US" sz="1700" dirty="0"/>
          </a:p>
        </p:txBody>
      </p:sp>
      <p:sp>
        <p:nvSpPr>
          <p:cNvPr id="10" name="Teknik items"/>
          <p:cNvSpPr txBox="1"/>
          <p:nvPr/>
        </p:nvSpPr>
        <p:spPr>
          <a:xfrm>
            <a:off x="3520440" y="1874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Brainstorming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SCAMPER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Analisis kebutuhan dan masalah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Survei dan wawancara pelanggan</a:t>
            </a:r>
            <a:endParaRPr lang="en-US" sz="1400" dirty="0"/>
          </a:p>
        </p:txBody>
      </p:sp>
      <p:sp>
        <p:nvSpPr>
          <p:cNvPr id="11" name="Kebaruan panel"/>
          <p:cNvSpPr/>
          <p:nvPr/>
        </p:nvSpPr>
        <p:spPr>
          <a:xfrm>
            <a:off x="6035040" y="1280160"/>
            <a:ext cx="25603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Kebaruan accent"/>
          <p:cNvSpPr/>
          <p:nvPr/>
        </p:nvSpPr>
        <p:spPr>
          <a:xfrm>
            <a:off x="60350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Kebaruan heading"/>
          <p:cNvSpPr txBox="1"/>
          <p:nvPr/>
        </p:nvSpPr>
        <p:spPr>
          <a:xfrm>
            <a:off x="6263640" y="1389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Tingkat Kebaruan</a:t>
            </a:r>
            <a:endParaRPr lang="en-US" sz="1700" dirty="0"/>
          </a:p>
        </p:txBody>
      </p:sp>
      <p:sp>
        <p:nvSpPr>
          <p:cNvPr id="14" name="Kebaruan items"/>
          <p:cNvSpPr txBox="1"/>
          <p:nvPr/>
        </p:nvSpPr>
        <p:spPr>
          <a:xfrm>
            <a:off x="6263640" y="1874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Baru bagi dunia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Lini produk baru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Perbaikan atau modifikasi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Jasa baru: tidak berwujud, perlu pengalaman layanan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Proses Perencanaan dan Pengembangan Produk</a:t>
            </a:r>
            <a:endParaRPr lang="en-US" sz="2800" dirty="0"/>
          </a:p>
        </p:txBody>
      </p:sp>
      <p:sp>
        <p:nvSpPr>
          <p:cNvPr id="3" name="Step 1 card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Step 1 number"/>
          <p:cNvSpPr txBox="1"/>
          <p:nvPr/>
        </p:nvSpPr>
        <p:spPr>
          <a:xfrm>
            <a:off x="68580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tep 1 label"/>
          <p:cNvSpPr txBox="1"/>
          <p:nvPr/>
        </p:nvSpPr>
        <p:spPr>
          <a:xfrm>
            <a:off x="68580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Generasi dan penyaringan ide</a:t>
            </a:r>
            <a:endParaRPr lang="en-US" sz="1400" dirty="0"/>
          </a:p>
        </p:txBody>
      </p:sp>
      <p:sp>
        <p:nvSpPr>
          <p:cNvPr id="6" name="Step 2 card"/>
          <p:cNvSpPr/>
          <p:nvPr/>
        </p:nvSpPr>
        <p:spPr>
          <a:xfrm>
            <a:off x="2621585" y="1371600"/>
            <a:ext cx="182880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Step 2 number"/>
          <p:cNvSpPr txBox="1"/>
          <p:nvPr/>
        </p:nvSpPr>
        <p:spPr>
          <a:xfrm>
            <a:off x="2758745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Step 2 label"/>
          <p:cNvSpPr txBox="1"/>
          <p:nvPr/>
        </p:nvSpPr>
        <p:spPr>
          <a:xfrm>
            <a:off x="2758745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Pengembangan dan uji konsep</a:t>
            </a:r>
            <a:endParaRPr lang="en-US" sz="1400" dirty="0"/>
          </a:p>
        </p:txBody>
      </p:sp>
      <p:sp>
        <p:nvSpPr>
          <p:cNvPr id="9" name="Step 3 card"/>
          <p:cNvSpPr/>
          <p:nvPr/>
        </p:nvSpPr>
        <p:spPr>
          <a:xfrm>
            <a:off x="4694530" y="1371600"/>
            <a:ext cx="182880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Step 3 number"/>
          <p:cNvSpPr txBox="1"/>
          <p:nvPr/>
        </p:nvSpPr>
        <p:spPr>
          <a:xfrm>
            <a:off x="4831690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Step 3 label"/>
          <p:cNvSpPr txBox="1"/>
          <p:nvPr/>
        </p:nvSpPr>
        <p:spPr>
          <a:xfrm>
            <a:off x="4831690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Strategi pemasaran</a:t>
            </a:r>
            <a:endParaRPr lang="en-US" sz="1400" dirty="0"/>
          </a:p>
        </p:txBody>
      </p:sp>
      <p:sp>
        <p:nvSpPr>
          <p:cNvPr id="12" name="Step 4 card"/>
          <p:cNvSpPr/>
          <p:nvPr/>
        </p:nvSpPr>
        <p:spPr>
          <a:xfrm>
            <a:off x="6767474" y="1371600"/>
            <a:ext cx="182880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Step 4 number"/>
          <p:cNvSpPr txBox="1"/>
          <p:nvPr/>
        </p:nvSpPr>
        <p:spPr>
          <a:xfrm>
            <a:off x="6904634" y="1463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Step 4 label"/>
          <p:cNvSpPr txBox="1"/>
          <p:nvPr/>
        </p:nvSpPr>
        <p:spPr>
          <a:xfrm>
            <a:off x="6904634" y="196596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Analisis bisnis</a:t>
            </a:r>
            <a:endParaRPr lang="en-US" sz="1400" dirty="0"/>
          </a:p>
        </p:txBody>
      </p:sp>
      <p:sp>
        <p:nvSpPr>
          <p:cNvPr id="15" name="Step 5 card"/>
          <p:cNvSpPr/>
          <p:nvPr/>
        </p:nvSpPr>
        <p:spPr>
          <a:xfrm>
            <a:off x="548640" y="3017520"/>
            <a:ext cx="182880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6" name="Step 5 number"/>
          <p:cNvSpPr txBox="1"/>
          <p:nvPr/>
        </p:nvSpPr>
        <p:spPr>
          <a:xfrm>
            <a:off x="68580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Step 5 label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Pengembangan produk (prototipe)</a:t>
            </a:r>
            <a:endParaRPr lang="en-US" sz="1400" dirty="0"/>
          </a:p>
        </p:txBody>
      </p:sp>
      <p:sp>
        <p:nvSpPr>
          <p:cNvPr id="18" name="Step 6 card"/>
          <p:cNvSpPr/>
          <p:nvPr/>
        </p:nvSpPr>
        <p:spPr>
          <a:xfrm>
            <a:off x="2621585" y="3017520"/>
            <a:ext cx="182880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Step 6 number"/>
          <p:cNvSpPr txBox="1"/>
          <p:nvPr/>
        </p:nvSpPr>
        <p:spPr>
          <a:xfrm>
            <a:off x="2758745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Step 6 label"/>
          <p:cNvSpPr txBox="1"/>
          <p:nvPr/>
        </p:nvSpPr>
        <p:spPr>
          <a:xfrm>
            <a:off x="2758745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Uji pasar</a:t>
            </a:r>
            <a:endParaRPr lang="en-US" sz="1400" dirty="0"/>
          </a:p>
        </p:txBody>
      </p:sp>
      <p:sp>
        <p:nvSpPr>
          <p:cNvPr id="21" name="Step 7 card"/>
          <p:cNvSpPr/>
          <p:nvPr/>
        </p:nvSpPr>
        <p:spPr>
          <a:xfrm>
            <a:off x="4694530" y="3017520"/>
            <a:ext cx="1828800" cy="1371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Step 7 number"/>
          <p:cNvSpPr txBox="1"/>
          <p:nvPr/>
        </p:nvSpPr>
        <p:spPr>
          <a:xfrm>
            <a:off x="483169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Step 7 label"/>
          <p:cNvSpPr txBox="1"/>
          <p:nvPr/>
        </p:nvSpPr>
        <p:spPr>
          <a:xfrm>
            <a:off x="483169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Komersialisasi</a:t>
            </a:r>
            <a:endParaRPr lang="en-US" sz="1400" dirty="0"/>
          </a:p>
        </p:txBody>
      </p:sp>
      <p:sp>
        <p:nvSpPr>
          <p:cNvPr id="24" name="Process note"/>
          <p:cNvSpPr txBox="1"/>
          <p:nvPr/>
        </p:nvSpPr>
        <p:spPr>
          <a:xfrm>
            <a:off x="4824374" y="397764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Setiap tahap bisa menghentikan ide yang tidak layak sebelum biaya besar keluar.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Produk yang Sesuai untuk Perusahaan Kecil</a:t>
            </a:r>
            <a:endParaRPr lang="en-US" sz="2800" dirty="0"/>
          </a:p>
        </p:txBody>
      </p:sp>
      <p:sp>
        <p:nvSpPr>
          <p:cNvPr id="3" name="Kriteria panel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Kriteria accent"/>
          <p:cNvSpPr/>
          <p:nvPr/>
        </p:nvSpPr>
        <p:spPr>
          <a:xfrm>
            <a:off x="5486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Kriteria heading"/>
          <p:cNvSpPr txBox="1"/>
          <p:nvPr/>
        </p:nvSpPr>
        <p:spPr>
          <a:xfrm>
            <a:off x="7772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Kriteria Produk</a:t>
            </a:r>
            <a:endParaRPr lang="en-US" sz="1700" dirty="0"/>
          </a:p>
        </p:txBody>
      </p:sp>
      <p:sp>
        <p:nvSpPr>
          <p:cNvPr id="6" name="Kriteria items"/>
          <p:cNvSpPr txBox="1"/>
          <p:nvPr/>
        </p:nvSpPr>
        <p:spPr>
          <a:xfrm>
            <a:off x="7772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Modal awal dan risiko relatif rendah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Melayani ceruk pasar (niche) tertentu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Bisa dikustomisasi sesuai pelanggan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Mengandalkan keunggulan lokal dan kedekatan pelanggan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Mudah diproduksi dalam skala kecil</a:t>
            </a:r>
            <a:endParaRPr lang="en-US" sz="1500" dirty="0"/>
          </a:p>
        </p:txBody>
      </p:sp>
      <p:sp>
        <p:nvSpPr>
          <p:cNvPr id="7" name="Contoh panel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Contoh accent"/>
          <p:cNvSpPr/>
          <p:nvPr/>
        </p:nvSpPr>
        <p:spPr>
          <a:xfrm>
            <a:off x="46634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Contoh heading"/>
          <p:cNvSpPr txBox="1"/>
          <p:nvPr/>
        </p:nvSpPr>
        <p:spPr>
          <a:xfrm>
            <a:off x="48920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Contoh Produk dan Jasa</a:t>
            </a:r>
            <a:endParaRPr lang="en-US" sz="1700" dirty="0"/>
          </a:p>
        </p:txBody>
      </p:sp>
      <p:sp>
        <p:nvSpPr>
          <p:cNvPr id="10" name="Contoh items"/>
          <p:cNvSpPr txBox="1"/>
          <p:nvPr/>
        </p:nvSpPr>
        <p:spPr>
          <a:xfrm>
            <a:off x="48920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Makanan dan minuman olahan lokal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Kerajinan, fesyen, dan produk pesanan khusus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Jasa: laundry, kursus, perbaikan, konsultasi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Produk digital dan penjualan daring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Kemasan atau varian baru dari produk yang sudah ada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Arti Penting Orientasi Pemasaran</a:t>
            </a:r>
            <a:endParaRPr lang="en-US" sz="2800" dirty="0"/>
          </a:p>
        </p:txBody>
      </p:sp>
      <p:sp>
        <p:nvSpPr>
          <p:cNvPr id="3" name="Orientasi panel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Orientasi accent"/>
          <p:cNvSpPr/>
          <p:nvPr/>
        </p:nvSpPr>
        <p:spPr>
          <a:xfrm>
            <a:off x="5486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Orientasi heading"/>
          <p:cNvSpPr txBox="1"/>
          <p:nvPr/>
        </p:nvSpPr>
        <p:spPr>
          <a:xfrm>
            <a:off x="7772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Dari Produksi ke Pemasaran</a:t>
            </a:r>
            <a:endParaRPr lang="en-US" sz="1700" dirty="0"/>
          </a:p>
        </p:txBody>
      </p:sp>
      <p:sp>
        <p:nvSpPr>
          <p:cNvPr id="6" name="Orientasi items"/>
          <p:cNvSpPr txBox="1"/>
          <p:nvPr/>
        </p:nvSpPr>
        <p:spPr>
          <a:xfrm>
            <a:off x="7772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Orientasi produksi: fokus efisiensi dan volume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Orientasi produk: fokus kualitas dan fitur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Orientasi penjualan: fokus mendorong penjualan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Orientasi pemasaran: fokus kebutuhan pelanggan sebagai titik awal</a:t>
            </a:r>
            <a:endParaRPr lang="en-US" sz="1500" dirty="0"/>
          </a:p>
        </p:txBody>
      </p:sp>
      <p:sp>
        <p:nvSpPr>
          <p:cNvPr id="7" name="Manfaat panel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Manfaat accent"/>
          <p:cNvSpPr/>
          <p:nvPr/>
        </p:nvSpPr>
        <p:spPr>
          <a:xfrm>
            <a:off x="4663440" y="1280160"/>
            <a:ext cx="73152" cy="3383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Manfaat heading"/>
          <p:cNvSpPr txBox="1"/>
          <p:nvPr/>
        </p:nvSpPr>
        <p:spPr>
          <a:xfrm>
            <a:off x="4892040" y="138988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Manfaat bagi Usaha</a:t>
            </a:r>
            <a:endParaRPr lang="en-US" sz="1700" dirty="0"/>
          </a:p>
        </p:txBody>
      </p:sp>
      <p:sp>
        <p:nvSpPr>
          <p:cNvPr id="10" name="Manfaat items"/>
          <p:cNvSpPr txBox="1"/>
          <p:nvPr/>
        </p:nvSpPr>
        <p:spPr>
          <a:xfrm>
            <a:off x="4892040" y="187452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Produk sesuai kebutuhan pasar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Kepuasan dan loyalitas pelanggan meningkat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Risiko produk gagal berkurang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Keunggulan bersaing lebih kuat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Laba jangka panjang lebih terjaga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uliahProduk">
  <a:themeElements>
    <a:clrScheme name="KuliahProduk">
      <a:dk1>
        <a:srgbClr val="1F2A33"/>
      </a:dk1>
      <a:lt1>
        <a:srgbClr val="FFFFFF"/>
      </a:lt1>
      <a:dk2>
        <a:srgbClr val="12304A"/>
      </a:dk2>
      <a:lt2>
        <a:srgbClr val="F5F1EA"/>
      </a:lt2>
      <a:accent1>
        <a:srgbClr val="D2691E"/>
      </a:accent1>
      <a:accent2>
        <a:srgbClr val="1F6F8B"/>
      </a:accent2>
      <a:accent3>
        <a:srgbClr val="7FA7B5"/>
      </a:accent3>
      <a:accent4>
        <a:srgbClr val="E8A33D"/>
      </a:accent4>
      <a:accent5>
        <a:srgbClr val="5B6B76"/>
      </a:accent5>
      <a:accent6>
        <a:srgbClr val="B9D0D8"/>
      </a:accent6>
      <a:hlink>
        <a:srgbClr val="1F6F8B"/>
      </a:hlink>
      <a:folHlink>
        <a:srgbClr val="5B6B76"/>
      </a:folHlink>
    </a:clrScheme>
    <a:fontScheme name="KuliahProduk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318</Words>
  <Application>Microsoft Office PowerPoint</Application>
  <PresentationFormat>On-screen Show (16:9)</PresentationFormat>
  <Paragraphs>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KuliahProduk</vt:lpstr>
      <vt:lpstr>Peluang Usaha dan Pengembangan Produk Baru</vt:lpstr>
      <vt:lpstr>Identifikasi Peluang Usaha Baru</vt:lpstr>
      <vt:lpstr>Ide dan Gagasan Produk serta Jasa Baru</vt:lpstr>
      <vt:lpstr>Proses Perencanaan dan Pengembangan Produk</vt:lpstr>
      <vt:lpstr>Produk yang Sesuai untuk Perusahaan Kecil</vt:lpstr>
      <vt:lpstr>Arti Penting Orientasi Pemasaran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2</cp:revision>
  <dcterms:created xsi:type="dcterms:W3CDTF">2026-10-05T12:43:06Z</dcterms:created>
  <dcterms:modified xsi:type="dcterms:W3CDTF">2026-10-05T22:27:08Z</dcterms:modified>
</cp:coreProperties>
</file>