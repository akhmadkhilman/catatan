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658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1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11D3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926080" cy="2926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1400930" y="586596"/>
            <a:ext cx="8229600" cy="4209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</a:t>
            </a: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 : </a:t>
            </a: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Naim</a:t>
            </a: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SEI, MM</a:t>
            </a:r>
          </a:p>
          <a:p>
            <a:pPr marL="0" indent="0">
              <a:buNone/>
            </a:pP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</a:t>
            </a: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 : </a:t>
            </a: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</a:t>
            </a: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</a:t>
            </a: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raya</a:t>
            </a: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		 : </a:t>
            </a: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Menikah</a:t>
            </a:r>
            <a:endParaRPr lang="en-US" sz="2400" b="1" kern="0" spc="300" dirty="0" smtClean="0">
              <a:solidFill>
                <a:srgbClr val="E8A3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	 : S2 MM</a:t>
            </a:r>
          </a:p>
          <a:p>
            <a:pPr marL="0" indent="0">
              <a:buNone/>
            </a:pP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Pekerjaan</a:t>
            </a: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 : 1. TA DPR </a:t>
            </a:r>
          </a:p>
          <a:p>
            <a:pPr marL="0" indent="0">
              <a:buNone/>
            </a:pP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2. </a:t>
            </a: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</a:t>
            </a:r>
            <a:endParaRPr lang="en-US" sz="2400" b="1" kern="0" spc="300" dirty="0" smtClean="0">
              <a:solidFill>
                <a:srgbClr val="E8A3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3. </a:t>
            </a: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Pedagang</a:t>
            </a: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online</a:t>
            </a:r>
          </a:p>
          <a:p>
            <a:pPr marL="0" indent="0">
              <a:buNone/>
            </a:pP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Organisasi</a:t>
            </a: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		 : </a:t>
            </a: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</a:t>
            </a: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Koperasi</a:t>
            </a:r>
            <a:r>
              <a:rPr lang="en-US" sz="2400" b="1" kern="0" spc="300" dirty="0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11D3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926080" cy="2926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</a:t>
            </a:r>
            <a:r>
              <a:rPr lang="en-US" sz="1400" b="1" kern="0" spc="300" dirty="0" err="1" smtClean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Technopreneur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Karakteristik Wiraswasta,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Jiwa Wirausaha &amp; Biografi Tokoh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12801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Kuliah  •  Semester </a:t>
            </a:r>
            <a:r>
              <a:rPr lang="en-US" sz="1500" dirty="0" smtClean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5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Mata Kuliah Kewirausahaan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129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Pembelajaran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pokok bahasan pertemuan hari ini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74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A4A6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Pengertian Wiraswasta / Wirausaha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7355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Makna istilah dan filosofi dasar berwirausaha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074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A4A6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9659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46520" y="27889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 Wiraswasta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327355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dan sikap mental yang membentuk seorang wirausahawan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5074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A4A6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4805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4400" y="53035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Jiwa &amp; Individu Wirausaha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78815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saja yang dapat mengembangkan jiwa kewirausahaan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4251960"/>
            <a:ext cx="5074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A4A6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44805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446520" y="53035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Biografi Tokoh Inspiratif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578815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dari perjalanan wirausahawan sukses Indonesia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Karakteristik Wiraswasta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dari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3624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Percaya Diri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760720" y="1362456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 pada kemampuan sendiri, optimis, dan tidak mudah bergantung pada orang lain dalam mengambil keputusan.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10835640" cy="0"/>
          </a:xfrm>
          <a:prstGeom prst="line">
            <a:avLst/>
          </a:prstGeom>
          <a:noFill/>
          <a:ln w="12700">
            <a:solidFill>
              <a:srgbClr val="D8D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587752"/>
            <a:ext cx="658368" cy="658368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877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5328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Berorientasi Tugas &amp; Hasil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760720" y="2532888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Mengutamakan prestasi, tekun bekerja keras, memiliki dorongan kuat untuk mencapai target.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246120"/>
            <a:ext cx="10835640" cy="0"/>
          </a:xfrm>
          <a:prstGeom prst="line">
            <a:avLst/>
          </a:prstGeom>
          <a:noFill/>
          <a:ln w="12700">
            <a:solidFill>
              <a:srgbClr val="D8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758184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581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703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Pengambil Risiko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760720" y="370332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Berani mengambil risiko yang telah diperhitungkan, bukan sekadar nekat, demi meraih peluang.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416552"/>
            <a:ext cx="10835640" cy="0"/>
          </a:xfrm>
          <a:prstGeom prst="line">
            <a:avLst/>
          </a:prstGeom>
          <a:noFill/>
          <a:ln w="12700">
            <a:solidFill>
              <a:srgbClr val="D8DC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928616"/>
            <a:ext cx="658368" cy="658368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286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48737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Kepemimpinan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760720" y="4873752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Mampu memimpin diri sendiri dan orang lain, terbuka terhadap saran serta kritik membangun.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Wiraswasta?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Wiraswasta </a:t>
            </a: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 orang yang memiliki keberanian, kemandirian, dan kemampuan untuk menciptakan usaha sendiri dengan mengelola sumber daya, mengambil risiko, dan menangkap peluang guna menghasilkan nilai tambah.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5760720" cy="1965960"/>
          </a:xfrm>
          <a:prstGeom prst="roundRect">
            <a:avLst>
              <a:gd name="adj" fmla="val 372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9184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“Wirausaha bukan sekadar berdagang, melainkan sikap mental untuk berdiri di atas kemampuan dan keputusan sendiri.”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949440" y="1371600"/>
            <a:ext cx="4572000" cy="3657600"/>
          </a:xfrm>
          <a:prstGeom prst="roundRect">
            <a:avLst>
              <a:gd name="adj" fmla="val 2000"/>
            </a:avLst>
          </a:prstGeom>
          <a:solidFill>
            <a:srgbClr val="EBEDF2"/>
          </a:solidFill>
          <a:ln/>
        </p:spPr>
      </p:sp>
      <p:sp>
        <p:nvSpPr>
          <p:cNvPr id="7" name="Text 5"/>
          <p:cNvSpPr/>
          <p:nvPr/>
        </p:nvSpPr>
        <p:spPr>
          <a:xfrm>
            <a:off x="7269480" y="16276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ASAL KATA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69480" y="21488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55280" y="209397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0" y="24414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berani, utama, pahlawan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69480" y="30632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955280" y="300837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0" y="3355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sendiri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9480" y="39776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55280" y="392277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0" y="42702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berdiri, berdaya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Karakteristik Wiraswasta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dari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658368" cy="658368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3624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Keorisinalan (Kreatif &amp; Inovatif)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760720" y="1362456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Mampu memunculkan ide baru, gagasan orisinal, dan cara berbeda dalam menyelesaikan masalah.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10835640" cy="0"/>
          </a:xfrm>
          <a:prstGeom prst="line">
            <a:avLst/>
          </a:prstGeom>
          <a:noFill/>
          <a:ln w="12700">
            <a:solidFill>
              <a:srgbClr val="D8D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587752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8775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5328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Berorientasi Masa Depan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760720" y="2532888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 visi dan perspektif jangka panjang terhadap perkembangan usahanya.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246120"/>
            <a:ext cx="10835640" cy="0"/>
          </a:xfrm>
          <a:prstGeom prst="line">
            <a:avLst/>
          </a:prstGeom>
          <a:noFill/>
          <a:ln w="12700">
            <a:solidFill>
              <a:srgbClr val="D8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758184"/>
            <a:ext cx="658368" cy="658368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581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703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Kejujuran &amp; Ketekunan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760720" y="370332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Menjunjung integritas dalam berusaha serta konsisten meski menghadapi tantangan.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416552"/>
            <a:ext cx="10835640" cy="0"/>
          </a:xfrm>
          <a:prstGeom prst="line">
            <a:avLst/>
          </a:prstGeom>
          <a:noFill/>
          <a:ln w="12700">
            <a:solidFill>
              <a:srgbClr val="D8DC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928616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286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48737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Manajerial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760720" y="4873752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Mampu merencanakan, mengorganisasi, dan mengevaluasi jalannya usaha secara efektif.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Ciri Jiwa Wirausaha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unsur psikologis pembentuk mental wirausaha (menurut teori motivasi berprestasi)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11D3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Berprestasi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Dorongan kuat untuk mencapai hasil terbaik (need for achievement).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11D33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8562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Kendali Internal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51460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Meyakini keberhasilan ditentukan oleh usaha sendiri, bukan nasib semata.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11D33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976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2793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Toleransi Terhadap Ketidakpastian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tenang dan adaptif menghadapi situasi yang belum pasti.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11D3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2976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42793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Pengambilan Risiko Moderat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93776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risiko yang terukur — tidak terlalu aman, tidak pula sembrono.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Siapa Bisa Berjiwa Wirausaha?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Jiwa kewirausahaan bukan monopoli pebisnis besar — dapat tumbuh pada siapa saja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4A6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10512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810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46888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2852928"/>
            <a:ext cx="2916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Merintis usaha rintisan (startup) atau bisnis sampingan sejak di bangku kuliah.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4A63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10512"/>
            <a:ext cx="566928" cy="566928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810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246888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 (Intrapreneur)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99432" y="2852928"/>
            <a:ext cx="2916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Berinovasi dan berinisiatif menciptakan nilai baru di dalam perusahaan tempatnya bekerja.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4A63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810512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810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02752" y="246888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Ibu Rumah Tangga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02752" y="2852928"/>
            <a:ext cx="2916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usaha rumahan, kuliner, atau kerajinan sebagai sumber penghasilan keluarga.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4A63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050792"/>
            <a:ext cx="566928" cy="566928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050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470916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Petani &amp; Pengrajin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" y="5093208"/>
            <a:ext cx="2916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Mengolah hasil bumi atau keterampilan tangan menjadi produk bernilai jual tinggi.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4A63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050792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050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99432" y="470916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Pensiunan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99432" y="5093208"/>
            <a:ext cx="2916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Memanfaatkan pengalaman dan modal untuk membuka usaha baru di masa purnabakti.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4A63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4050792"/>
            <a:ext cx="566928" cy="566928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4050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02752" y="470916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Pemuda &amp; Komunitas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02752" y="5093208"/>
            <a:ext cx="2916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Menggerakkan usaha sosial atau bisnis kolektif berbasis komunitas lokal.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111D3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III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Biografi Tokoh Wirausaha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dari perjalanan nyata para wirausahawan Indonesia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383280" cy="5760720"/>
          </a:xfrm>
          <a:prstGeom prst="roundRect">
            <a:avLst>
              <a:gd name="adj" fmla="val 2162"/>
            </a:avLst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005840"/>
            <a:ext cx="1737360" cy="17373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058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Chairul Tanjung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Lahir 1962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3886200"/>
            <a:ext cx="1920240" cy="0"/>
          </a:xfrm>
          <a:prstGeom prst="line">
            <a:avLst/>
          </a:prstGeom>
          <a:noFill/>
          <a:ln w="19050">
            <a:solidFill>
              <a:srgbClr val="3A4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27432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D8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“Tidak ada yang tidak mungkin bagi orang yang mau bekerja keras dan pantang menyerah.”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Chairul Tanjung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51960" y="9875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mahasiswa kedokteran gigi menjadi konglomerat CT Corp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365760" cy="36576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5270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527048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Membiayai kuliah dengan berjualan buku kuliah dan membuka usaha fotokopi di kampus.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1965960"/>
            <a:ext cx="0" cy="502920"/>
          </a:xfrm>
          <a:prstGeom prst="line">
            <a:avLst/>
          </a:prstGeom>
          <a:noFill/>
          <a:ln w="15875">
            <a:solidFill>
              <a:srgbClr val="D8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468880"/>
            <a:ext cx="365760" cy="36576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395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Rintisan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2395728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Beralih usaha di berbagai bidang sebelum akhirnya fokus membangun kelompok bisnis sendiri.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2834640"/>
            <a:ext cx="0" cy="502920"/>
          </a:xfrm>
          <a:prstGeom prst="line">
            <a:avLst/>
          </a:prstGeom>
          <a:noFill/>
          <a:ln w="15875">
            <a:solidFill>
              <a:srgbClr val="D8DC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3337560"/>
            <a:ext cx="365760" cy="36576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2644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3264408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Mendirikan CT Corp yang menaungi Trans Corp (Trans TV, Trans7), Bank Mega, dan Transmart.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34840" y="3703320"/>
            <a:ext cx="0" cy="502920"/>
          </a:xfrm>
          <a:prstGeom prst="line">
            <a:avLst/>
          </a:prstGeom>
          <a:noFill/>
          <a:ln w="15875">
            <a:solidFill>
              <a:srgbClr val="D8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4206240"/>
            <a:ext cx="365760" cy="36576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4133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Inspirasi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4133088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Menuliskan kisah hidupnya dalam buku “Si Anak Singkong” sebagai motivasi generasi muda.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383280" cy="5760720"/>
          </a:xfrm>
          <a:prstGeom prst="roundRect">
            <a:avLst>
              <a:gd name="adj" fmla="val 2162"/>
            </a:avLst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005840"/>
            <a:ext cx="1737360" cy="17373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058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Nadiem Makarim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Lahir 1984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3886200"/>
            <a:ext cx="1920240" cy="0"/>
          </a:xfrm>
          <a:prstGeom prst="line">
            <a:avLst/>
          </a:prstGeom>
          <a:noFill/>
          <a:ln w="19050">
            <a:solidFill>
              <a:srgbClr val="3A4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27432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D8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“Jangan takut memulai sesuatu yang kecil, karena hal besar selalu dimulai dari langkah kecil.”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Nadiem Makarim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51960" y="9875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Merintis solusi transportasi ojek menjadi ekosistem digital nasional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365760" cy="36576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5270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527048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Menempuh pendidikan manajemen bisnis dan bekerja di perusahaan konsultan sebelum berwirausaha.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1965960"/>
            <a:ext cx="0" cy="502920"/>
          </a:xfrm>
          <a:prstGeom prst="line">
            <a:avLst/>
          </a:prstGeom>
          <a:noFill/>
          <a:ln w="15875">
            <a:solidFill>
              <a:srgbClr val="D8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468880"/>
            <a:ext cx="365760" cy="36576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395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Rintisan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2395728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Mendirikan Gojek pada 2010, berawal dari layanan pemesanan ojek melalui panggilan telepon.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2834640"/>
            <a:ext cx="0" cy="502920"/>
          </a:xfrm>
          <a:prstGeom prst="line">
            <a:avLst/>
          </a:prstGeom>
          <a:noFill/>
          <a:ln w="15875">
            <a:solidFill>
              <a:srgbClr val="D8DC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3337560"/>
            <a:ext cx="365760" cy="36576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2644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3264408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Mengembangkan Gojek menjadi platform layanan digital terintegrasi (transportasi, pembayaran, kuliner).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34840" y="3703320"/>
            <a:ext cx="0" cy="502920"/>
          </a:xfrm>
          <a:prstGeom prst="line">
            <a:avLst/>
          </a:prstGeom>
          <a:noFill/>
          <a:ln w="15875">
            <a:solidFill>
              <a:srgbClr val="D8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4206240"/>
            <a:ext cx="365760" cy="36576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4133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4133088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Dipercaya menjadi Menteri Pendidikan dan Kebudayaan Republik Indonesia pada 2019.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383280" cy="5760720"/>
          </a:xfrm>
          <a:prstGeom prst="roundRect">
            <a:avLst>
              <a:gd name="adj" fmla="val 2162"/>
            </a:avLst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005840"/>
            <a:ext cx="1737360" cy="17373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058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Susi Pudjiastuti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Lahir 1965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3886200"/>
            <a:ext cx="1920240" cy="0"/>
          </a:xfrm>
          <a:prstGeom prst="line">
            <a:avLst/>
          </a:prstGeom>
          <a:noFill/>
          <a:ln w="19050">
            <a:solidFill>
              <a:srgbClr val="3A4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27432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D8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“Kegagalan hanyalah proses menuju keberhasilan yang tertunda.”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Susi Pudjiastuti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51960" y="9875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Membuktikan kegigihan tanpa gelar sarjana dapat membangun bisnis besar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365760" cy="36576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5270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527048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menyelesaikan pendidikan menengah atas, memulai usaha kecil pengepul ikan di Pangandaran.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1965960"/>
            <a:ext cx="0" cy="502920"/>
          </a:xfrm>
          <a:prstGeom prst="line">
            <a:avLst/>
          </a:prstGeom>
          <a:noFill/>
          <a:ln w="15875">
            <a:solidFill>
              <a:srgbClr val="D8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468880"/>
            <a:ext cx="365760" cy="36576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395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Rintisan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2395728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Mengembangkan bisnis perikanan hingga mendirikan maskapai penerbangan perintis, Susi Air.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2834640"/>
            <a:ext cx="0" cy="502920"/>
          </a:xfrm>
          <a:prstGeom prst="line">
            <a:avLst/>
          </a:prstGeom>
          <a:noFill/>
          <a:ln w="15875">
            <a:solidFill>
              <a:srgbClr val="D8DC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3337560"/>
            <a:ext cx="365760" cy="36576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2644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Ketekunan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3264408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Bertahan menghadapi berbagai tantangan usaha dengan keuletan dan keberanian mengambil risiko.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34840" y="3703320"/>
            <a:ext cx="0" cy="502920"/>
          </a:xfrm>
          <a:prstGeom prst="line">
            <a:avLst/>
          </a:prstGeom>
          <a:noFill/>
          <a:ln w="15875">
            <a:solidFill>
              <a:srgbClr val="D8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4206240"/>
            <a:ext cx="365760" cy="36576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4133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4133088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Menjabat Menteri Kelautan dan Perikanan Republik Indonesia periode 2014–2019.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Pelajaran yang Dapat Dipetik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Benang merah dari karakteristik wiraswasta dan kisah para tokoh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4A6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yang Kecil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 tokoh memulai usaha dari skala kecil dan sumber daya terbatas.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4A63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74520"/>
            <a:ext cx="548640" cy="54864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874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Berani Mengambil Risiko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46520" y="25603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besar diambil dengan perhitungan matang, bukan keraguan.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4A63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206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Tekun &amp; Pantang Menyerah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4400" y="4892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Kegagalan dijadikan pijakan, bukan alasan untuk berhenti berusaha.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4A63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06240"/>
            <a:ext cx="548640" cy="548640"/>
          </a:xfrm>
          <a:prstGeom prst="ellipse">
            <a:avLst/>
          </a:prstGeom>
          <a:solidFill>
            <a:srgbClr val="2E6F6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4206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Terus Berinovasi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46520" y="4892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Kejelian melihat peluang baru menjadi kunci pertumbuhan usaha.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754880"/>
            <a:ext cx="3657600" cy="3657600"/>
          </a:xfrm>
          <a:prstGeom prst="ellipse">
            <a:avLst/>
          </a:prstGeom>
          <a:solidFill>
            <a:srgbClr val="111D3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 &amp; Diskusi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 wiraswasta </a:t>
            </a:r>
            <a:r>
              <a:rPr lang="en-US" sz="14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percaya diri, berorientasi hasil, berani mengambil risiko, kreatif, dan berjiwa kepemimpinan — dapat dipelajari dan ditumbuhkan oleh siapa saja, sebagaimana ditunjukkan oleh para tokoh wirausaha Indonesia.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10058400" cy="2926080"/>
          </a:xfrm>
          <a:prstGeom prst="roundRect">
            <a:avLst>
              <a:gd name="adj" fmla="val 2500"/>
            </a:avLst>
          </a:prstGeom>
          <a:solidFill>
            <a:srgbClr val="111D33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DISKUSI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384048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372160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 wiraswasta mana yang paling menonjol pada diri Anda saat ini?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188720" y="4498848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498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4379976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Ceritakan satu individu di sekitar Anda yang menurut Anda memiliki jiwa wirausaha.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88720" y="5157216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51572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5038344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Pelajaran apa dari biografi tokoh tadi yang paling relevan untuk Anda terapkan?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Kewirausahaan  •  Semester </a:t>
            </a:r>
            <a:r>
              <a:rPr lang="en-US" sz="1000" dirty="0" smtClean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1013</Words>
  <Application>Microsoft Office PowerPoint</Application>
  <PresentationFormat>Widescreen</PresentationFormat>
  <Paragraphs>223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7</cp:revision>
  <dcterms:created xsi:type="dcterms:W3CDTF">2026-09-21T15:19:12Z</dcterms:created>
  <dcterms:modified xsi:type="dcterms:W3CDTF">2026-09-22T05:21:40Z</dcterms:modified>
</cp:coreProperties>
</file>