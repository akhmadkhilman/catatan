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Plus Jakarta Sans"/>
      <p:bold r:id="rId13"/>
      <p:italic r:id="rId14"/>
      <p:boldItalic r:id="rId15"/>
    </p:embeddedFont>
    <p:embeddedFont>
      <p:font typeface="Space Grotesk"/>
      <p:bold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5" d="100"/>
          <a:sy n="95" d="100"/>
        </p:scale>
        <p:origin x="72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810500" y="2184201"/>
            <a:ext cx="3619500" cy="2489596"/>
          </a:xfrm>
          <a:prstGeom prst="roundRect">
            <a:avLst>
              <a:gd name="adj" fmla="val 612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4108995"/>
            <a:ext cx="6591300" cy="8286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1920180"/>
            <a:ext cx="2162175" cy="285750"/>
          </a:xfrm>
          <a:prstGeom prst="roundRect">
            <a:avLst>
              <a:gd name="adj" fmla="val 13333"/>
            </a:avLst>
          </a:prstGeom>
          <a:solidFill>
            <a:srgbClr val="0F3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2000" y="4108995"/>
            <a:ext cx="65913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38500" y="4385220"/>
            <a:ext cx="2619375" cy="552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38500" y="4385220"/>
            <a:ext cx="9525" cy="5524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4825" y="2498526"/>
            <a:ext cx="342900" cy="342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2396430"/>
            <a:ext cx="8651081" cy="5695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FFFFF"/>
                </a:solidFill>
                <a:latin typeface="Space Grotesk"/>
              </a:rPr>
              <a:t>Sejarah &amp; Asal-Usul VAL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194595"/>
            <a:ext cx="66865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Plus Jakarta Sans"/>
              </a:rPr>
              <a:t>Lahir untuk menjawab pertanyaan mendasar direksi: </a:t>
            </a:r>
            <a:r>
              <a:rPr sz="1500" b="0" i="1" u="none">
                <a:solidFill>
                  <a:srgbClr val="2DD4BF"/>
                </a:solidFill>
                <a:latin typeface="Plus Jakarta Sans"/>
              </a:rPr>
              <a:t>“Apakah investasi teknologi ini benar-benar memberikan nilai bisnis nyata?”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4825" y="3031926"/>
            <a:ext cx="392549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Plus Jakarta Sans"/>
              </a:rPr>
              <a:t>Landasan Pengembangan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4825" y="3384351"/>
            <a:ext cx="3086100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Dikembangkan oleh ISACA dan ITGI untuk melengkapi COBIT dengan fokus khusus pada evaluasi finansial dan realisasi manfaat bisnis.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50" y="1977330"/>
            <a:ext cx="19907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DD4BF"/>
                </a:solidFill>
                <a:latin typeface="Plus Jakarta Sans"/>
              </a:rPr>
              <a:t>ISACA / ITGI FRAMEWORK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9425" y="1977330"/>
            <a:ext cx="172640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Plus Jakarta Sans"/>
              </a:rPr>
              <a:t>Tata Kelola Investasi 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385220"/>
            <a:ext cx="2809875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2DD4BF"/>
                </a:solidFill>
                <a:latin typeface="Plus Jakarta Sans"/>
              </a:rPr>
              <a:t>2004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4756695"/>
            <a:ext cx="28098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4A3B8"/>
                </a:solidFill>
                <a:latin typeface="Plus Jakarta Sans"/>
              </a:rPr>
              <a:t>Edisi Pertama Val IT 1.0 Launched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6625" y="4385220"/>
            <a:ext cx="2976562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38BDF8"/>
                </a:solidFill>
                <a:latin typeface="Plus Jakarta Sans"/>
              </a:rPr>
              <a:t>COBIT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6625" y="4756695"/>
            <a:ext cx="29765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4A3B8"/>
                </a:solidFill>
                <a:latin typeface="Plus Jakarta Sans"/>
              </a:rPr>
              <a:t>Kerangka Pelengkap Utama ISACA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38450"/>
            <a:ext cx="2600325" cy="22098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2838450"/>
            <a:ext cx="2600325" cy="22098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2838450"/>
            <a:ext cx="2600325" cy="22098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2838450"/>
            <a:ext cx="2600325" cy="22098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7725" y="3114675"/>
            <a:ext cx="695325" cy="333375"/>
          </a:xfrm>
          <a:prstGeom prst="roundRect">
            <a:avLst>
              <a:gd name="adj" fmla="val 17142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638550" y="3114675"/>
            <a:ext cx="1247775" cy="333375"/>
          </a:xfrm>
          <a:prstGeom prst="roundRect">
            <a:avLst>
              <a:gd name="adj" fmla="val 17142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29375" y="3114675"/>
            <a:ext cx="1143000" cy="333375"/>
          </a:xfrm>
          <a:prstGeom prst="roundRect">
            <a:avLst>
              <a:gd name="adj" fmla="val 17142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220200" y="3114675"/>
            <a:ext cx="847725" cy="333375"/>
          </a:xfrm>
          <a:prstGeom prst="roundRect">
            <a:avLst>
              <a:gd name="adj" fmla="val 1714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EVOLUSI KERANGKA KERJA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Perkembangan VAL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3171825"/>
            <a:ext cx="5619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D9488"/>
                </a:solidFill>
                <a:latin typeface="Plus Jakarta Sans"/>
              </a:rPr>
              <a:t>2004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600450"/>
            <a:ext cx="278784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Fase Awal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914775"/>
            <a:ext cx="221932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Peluncuran Val IT 1.0 dengan fokus pada pemilihan dan prioritas investasi TI organisasi.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2850" y="3171825"/>
            <a:ext cx="11144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Plus Jakarta Sans"/>
              </a:rPr>
              <a:t>2007–2009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8550" y="3600450"/>
            <a:ext cx="278784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Penyempurnaan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8550" y="3914775"/>
            <a:ext cx="221932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Versi 2.0 menambah pengukuran manfaat serta penyelarasan terstruktur dengan Risk IT dan COBIT 4.1.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3675" y="3171825"/>
            <a:ext cx="10096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2012–2019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9375" y="3600450"/>
            <a:ext cx="278784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Integrasi Penuh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9375" y="3914775"/>
            <a:ext cx="221932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Prinsip Val IT menyatu penuh ke dalam kerangka kerja COBIT 5 dan COBIT 2019.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4500" y="3171825"/>
            <a:ext cx="7143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Era Kini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20200" y="3600450"/>
            <a:ext cx="278784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Adopsi Standar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0200" y="3914775"/>
            <a:ext cx="221932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Menjadi acuan standar nilai investasi pada BUMN, perbankan, dan korporasi besar Indonesia.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581900" y="2248048"/>
            <a:ext cx="4000500" cy="3352502"/>
          </a:xfrm>
          <a:prstGeom prst="roundRect">
            <a:avLst>
              <a:gd name="adj" fmla="val 454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333625"/>
            <a:ext cx="6591300" cy="1019175"/>
          </a:xfrm>
          <a:prstGeom prst="roundRect">
            <a:avLst>
              <a:gd name="adj" fmla="val 934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505200"/>
            <a:ext cx="6591300" cy="838200"/>
          </a:xfrm>
          <a:prstGeom prst="roundRect">
            <a:avLst>
              <a:gd name="adj" fmla="val 113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495800"/>
            <a:ext cx="6591300" cy="1019175"/>
          </a:xfrm>
          <a:prstGeom prst="roundRect">
            <a:avLst>
              <a:gd name="adj" fmla="val 934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2333625"/>
            <a:ext cx="38100" cy="101917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3505200"/>
            <a:ext cx="38100" cy="838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4495800"/>
            <a:ext cx="38100" cy="101917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0" y="2590948"/>
            <a:ext cx="476250" cy="381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RELEVANSI STRATEGIS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Mengapa VAL IT Muncul?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4800" y="3162448"/>
            <a:ext cx="3580447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Plus Jakarta Sans"/>
              </a:rPr>
              <a:t>Saling Melengkapi dengan COBIT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4800" y="3848248"/>
            <a:ext cx="340995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COBIT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memastikan aktivitas TI dilakukan dengan benar (</a:t>
            </a:r>
            <a:r>
              <a:rPr sz="1200" b="0" i="1" u="none">
                <a:solidFill>
                  <a:srgbClr val="CBD5E1"/>
                </a:solidFill>
                <a:latin typeface="Plus Jakarta Sans"/>
              </a:rPr>
              <a:t>doing things right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4800" y="4526309"/>
            <a:ext cx="34099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2DD4BF"/>
                </a:solidFill>
                <a:latin typeface="Plus Jakarta Sans"/>
              </a:rPr>
              <a:t>VAL IT memastikan organisasi memilih investasi yang tepat untuk dibeli (</a:t>
            </a:r>
            <a:r>
              <a:rPr sz="1200" b="1" i="1" u="none">
                <a:solidFill>
                  <a:srgbClr val="2DD4BF"/>
                </a:solidFill>
                <a:latin typeface="Plus Jakarta Sans"/>
              </a:rPr>
              <a:t>doing the right things</a:t>
            </a:r>
            <a:r>
              <a:rPr sz="1200" b="1" i="0" u="none">
                <a:solidFill>
                  <a:srgbClr val="2DD4BF"/>
                </a:solidFill>
                <a:latin typeface="Plus Jakarta Sans"/>
              </a:rPr>
              <a:t>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524125"/>
            <a:ext cx="81010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Pengeluaran Tanpa Bukti Manfaat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2800350"/>
            <a:ext cx="62674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Anggaran TI membengkak hingga miliaran rupiah, tetapi nilai pengembalian bisnis sulit dibuktikan.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3695700"/>
            <a:ext cx="81010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Kesenjangan Bahasa Bisnis &amp; TI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3971925"/>
            <a:ext cx="77152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Tim bisnis fokus profitabilitas, sedangkan tim TI berfokus pada spesifikasi teknis dan fitur.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686300"/>
            <a:ext cx="81010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Risiko Proyek Terbuang Percuma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4962525"/>
            <a:ext cx="62674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Sistem TI berhasil dibangun secara teknis, namun tidak diadopsi atau tidak mendukung tujuan perusahaan.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71762"/>
            <a:ext cx="3505200" cy="2543175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671762"/>
            <a:ext cx="3505200" cy="2543175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671762"/>
            <a:ext cx="3505200" cy="2543175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986087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2986087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2986087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650" y="3109912"/>
            <a:ext cx="20955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3450" y="3109912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7250" y="3109912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FILOSOFI UTAMA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Konsep Dasar VAL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633787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TI Sebagai Investasi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3986212"/>
            <a:ext cx="3048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Teknologi informasi dikelola sebagai portofolio investasi pencipta nilai, bukan sekadar beban biaya operasional.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3633787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Realisasi Nilai Aktif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9625" y="3986212"/>
            <a:ext cx="3048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Nilai bisnis tidak muncul otomatis saat sistem berjalan. Nilai harus direncanakan, dikelola, dan dipantau secara berkala.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3633787"/>
            <a:ext cx="38385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Keseimbangan Triade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3986212"/>
            <a:ext cx="3048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Pengambilan keputusan harus menyeimbangkan tiga elemen vital: optimalisasi manfaat, efisiensi biaya, dan mitigasi risiko.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57462"/>
            <a:ext cx="5343525" cy="2733675"/>
          </a:xfrm>
          <a:prstGeom prst="roundRect">
            <a:avLst>
              <a:gd name="adj" fmla="val 41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57925" y="2843212"/>
            <a:ext cx="5324475" cy="2162175"/>
          </a:xfrm>
          <a:prstGeom prst="roundRect">
            <a:avLst>
              <a:gd name="adj" fmla="val 528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895600"/>
            <a:ext cx="190500" cy="19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3171825"/>
            <a:ext cx="142875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3338512"/>
            <a:ext cx="13335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3948112"/>
            <a:ext cx="1333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4557712"/>
            <a:ext cx="1333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2725" y="3605212"/>
            <a:ext cx="142875" cy="142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2725" y="3919537"/>
            <a:ext cx="142875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2725" y="4233862"/>
            <a:ext cx="142875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2725" y="4548187"/>
            <a:ext cx="142875" cy="1428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SIKLUS MANFAAT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Tujuan &amp; Manfaat Utama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9675" y="2871787"/>
            <a:ext cx="5888235" cy="2381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D9488"/>
                </a:solidFill>
                <a:latin typeface="Plus Jakarta Sans"/>
              </a:rPr>
              <a:t>Tujuan Strategis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00850" y="3148012"/>
            <a:ext cx="5391150" cy="2381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2DD4BF"/>
                </a:solidFill>
                <a:latin typeface="Plus Jakarta Sans"/>
              </a:rPr>
              <a:t>Manfaat Organisasi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525" y="3300412"/>
            <a:ext cx="45815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Seleksi Tepat: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Memilih investasi TI yang paling bernilai tinggi bagi bisnis.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525" y="3910012"/>
            <a:ext cx="45815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Realisasi Nyata: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Memastikan manfaat bisnis terwujud sesuai rencana awal.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525" y="4519612"/>
            <a:ext cx="45815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Akuntabilitas Pengukuran: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Mengukur dan melaporkan pengembalian investasi secara transparan.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00850" y="3576637"/>
            <a:ext cx="5391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E2E8F0"/>
                </a:solidFill>
                <a:latin typeface="Plus Jakarta Sans"/>
              </a:rPr>
              <a:t>Prioritas anggaran transparan &amp; akuntabel.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00850" y="3890962"/>
            <a:ext cx="5391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E2E8F0"/>
                </a:solidFill>
                <a:latin typeface="Plus Jakarta Sans"/>
              </a:rPr>
              <a:t>Mengurangi pengeluaran terbuang pada proyek tidak efektif.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00850" y="4205287"/>
            <a:ext cx="5391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E2E8F0"/>
                </a:solidFill>
                <a:latin typeface="Plus Jakarta Sans"/>
              </a:rPr>
              <a:t>Menjembatani komunikasi sinergis bisnis &amp; tim TI.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00850" y="4519612"/>
            <a:ext cx="5391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E2E8F0"/>
                </a:solidFill>
                <a:latin typeface="Plus Jakarta Sans"/>
              </a:rPr>
              <a:t>Meningkatkan kepercayaan bagi pemegang saham.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362325"/>
            <a:ext cx="10972800" cy="828675"/>
          </a:xfrm>
          <a:prstGeom prst="roundRect">
            <a:avLst>
              <a:gd name="adj" fmla="val 1379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400175"/>
            <a:ext cx="3530649" cy="1695450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30749" y="1400175"/>
            <a:ext cx="3530649" cy="1695450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51899" y="1400175"/>
            <a:ext cx="3530649" cy="1695450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7725" y="1676400"/>
            <a:ext cx="714375" cy="219075"/>
          </a:xfrm>
          <a:prstGeom prst="roundRect">
            <a:avLst>
              <a:gd name="adj" fmla="val 17391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3086100"/>
            <a:ext cx="35306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1400175"/>
            <a:ext cx="3530649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1400175"/>
            <a:ext cx="9525" cy="16954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30724" y="1400175"/>
            <a:ext cx="9525" cy="16954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68874" y="1676400"/>
            <a:ext cx="733425" cy="219075"/>
          </a:xfrm>
          <a:prstGeom prst="roundRect">
            <a:avLst>
              <a:gd name="adj" fmla="val 1739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30749" y="3086100"/>
            <a:ext cx="35306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30749" y="1400175"/>
            <a:ext cx="3530649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30749" y="1400175"/>
            <a:ext cx="9525" cy="16954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51874" y="1400175"/>
            <a:ext cx="9525" cy="16954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290024" y="1676400"/>
            <a:ext cx="733425" cy="219075"/>
          </a:xfrm>
          <a:prstGeom prst="roundRect">
            <a:avLst>
              <a:gd name="adj" fmla="val 17391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51899" y="3086100"/>
            <a:ext cx="35306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51899" y="1400175"/>
            <a:ext cx="3530649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51899" y="1400175"/>
            <a:ext cx="9525" cy="16954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573023" y="1400175"/>
            <a:ext cx="9525" cy="16954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537" y="3852862"/>
            <a:ext cx="76200" cy="1143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862" y="3852862"/>
            <a:ext cx="76200" cy="1143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8012" y="3852862"/>
            <a:ext cx="76200" cy="1143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9262" y="3852862"/>
            <a:ext cx="76200" cy="1143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09600" y="4953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STRUKTUR DOMAIN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723900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Arsitektur Tiga Domain VAL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6300" y="3552825"/>
            <a:ext cx="113157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DD4BF"/>
                </a:solidFill>
                <a:latin typeface="Plus Jakarta Sans"/>
              </a:rPr>
              <a:t>ALUR CARA KERJA SISTEMIS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925" y="1714500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D9488"/>
                </a:solidFill>
                <a:latin typeface="Plus Jakarta Sans"/>
              </a:rPr>
              <a:t>DOMAIN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725" y="1962150"/>
            <a:ext cx="40088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Value Governance (VG)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725" y="2257425"/>
            <a:ext cx="3149649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Tata Kelola Nilai: Menetapkan kebijakan, arah strategis, dan tanggung jawab dewan manajemen.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5074" y="1714500"/>
            <a:ext cx="6762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DOMAIN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68874" y="1962150"/>
            <a:ext cx="40088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Portfolio Management (PM)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68874" y="2257425"/>
            <a:ext cx="3149649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Manajemen Portofolio: Memilih, memprioritaskan, dan mengalokasikan sumber daya investasi TI.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224" y="1714500"/>
            <a:ext cx="6762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Plus Jakarta Sans"/>
              </a:rPr>
              <a:t>DOMAIN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90024" y="1962150"/>
            <a:ext cx="39019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Investment Realization (RV)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90024" y="2257425"/>
            <a:ext cx="31496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Realisasi Nilai: Merencanakan program, melacak eksekusi, hingga manfaat bisnis tercapai penuh.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3425" y="3819525"/>
            <a:ext cx="12858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FFFFFF"/>
                </a:solidFill>
                <a:latin typeface="Plus Jakarta Sans"/>
              </a:rPr>
              <a:t>1. Rencanakan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47975" y="3819525"/>
            <a:ext cx="13906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FFFFFF"/>
                </a:solidFill>
                <a:latin typeface="Plus Jakarta Sans"/>
              </a:rPr>
              <a:t>2. Pilih Investasi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56584" y="3819525"/>
            <a:ext cx="153590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FFFFFF"/>
                </a:solidFill>
                <a:latin typeface="Plus Jakarta Sans"/>
              </a:rPr>
              <a:t>3. Kelola Program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94971" y="3819525"/>
            <a:ext cx="158353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FFFFFF"/>
                </a:solidFill>
                <a:latin typeface="Plus Jakarta Sans"/>
              </a:rPr>
              <a:t>4. Pantau Manfaat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61934" y="3819525"/>
            <a:ext cx="172640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2DD4BF"/>
                </a:solidFill>
                <a:latin typeface="Plus Jakarta Sans"/>
              </a:rPr>
              <a:t>5. Pertahankan Nilai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33900" y="2181225"/>
            <a:ext cx="7048500" cy="1019175"/>
          </a:xfrm>
          <a:prstGeom prst="roundRect">
            <a:avLst>
              <a:gd name="adj" fmla="val 934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33900" y="3352800"/>
            <a:ext cx="7048500" cy="1019175"/>
          </a:xfrm>
          <a:prstGeom prst="roundRect">
            <a:avLst>
              <a:gd name="adj" fmla="val 934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33900" y="4524375"/>
            <a:ext cx="7048500" cy="1019175"/>
          </a:xfrm>
          <a:prstGeom prst="roundRect">
            <a:avLst>
              <a:gd name="adj" fmla="val 934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33900" y="2181225"/>
            <a:ext cx="38100" cy="10191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33900" y="3352800"/>
            <a:ext cx="38100" cy="10191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33900" y="4524375"/>
            <a:ext cx="38100" cy="101917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62137"/>
            <a:ext cx="3619500" cy="400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871662"/>
            <a:ext cx="3600450" cy="398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953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IMPLEMENTASI INDUSTRI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23900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Penerapan Nyata: Bank Mandiri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2500" y="2371725"/>
            <a:ext cx="7429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Tata Kelola Nilai (VG)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2500" y="2609850"/>
            <a:ext cx="67246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Direksi menetapkan syarat mutlak: seluruh proyek TI wajib mendukung sasaran strategis menjadi </a:t>
            </a:r>
            <a:r>
              <a:rPr sz="1125" b="0" i="1" u="none">
                <a:solidFill>
                  <a:srgbClr val="475569"/>
                </a:solidFill>
                <a:latin typeface="Plus Jakarta Sans"/>
              </a:rPr>
              <a:t>bank digital terdepan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2500" y="3543300"/>
            <a:ext cx="7429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Manajemen Portofolio (PM)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62500" y="3781425"/>
            <a:ext cx="67246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Memprioritaskan pengembangan aplikasi Livin' dan core banking berbasis kalkulasi dampak nilai bisnis konkret.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2500" y="4714875"/>
            <a:ext cx="7429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Realisasi Nilai (RV)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2500" y="4953000"/>
            <a:ext cx="67246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Memantau pertumbuhan transaksi digital, penurunan biaya operasional cabang, dan ekspansi pangsa pasar digital.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333625"/>
            <a:ext cx="5391150" cy="1495425"/>
          </a:xfrm>
          <a:prstGeom prst="roundRect">
            <a:avLst>
              <a:gd name="adj" fmla="val 76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191250" y="2333625"/>
            <a:ext cx="5391150" cy="1495425"/>
          </a:xfrm>
          <a:prstGeom prst="roundRect">
            <a:avLst>
              <a:gd name="adj" fmla="val 76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019550"/>
            <a:ext cx="5391150" cy="1495425"/>
          </a:xfrm>
          <a:prstGeom prst="roundRect">
            <a:avLst>
              <a:gd name="adj" fmla="val 76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4019550"/>
            <a:ext cx="5391150" cy="1495425"/>
          </a:xfrm>
          <a:prstGeom prst="roundRect">
            <a:avLst>
              <a:gd name="adj" fmla="val 76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571750"/>
            <a:ext cx="28575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75" y="2571750"/>
            <a:ext cx="257175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4257675"/>
            <a:ext cx="257175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75" y="4257675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KEUNGGULAN KERANGKA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Kelebihan Utama VAL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2914650"/>
            <a:ext cx="64508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Bahasa Bersama Bisnis &amp; 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190875"/>
            <a:ext cx="50101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Penyelarasan bahasa komunikasi antara eksekutif keuangan dan tim teknis.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9375" y="2914650"/>
            <a:ext cx="57626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Pencegahan Pemborosan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9375" y="3190875"/>
            <a:ext cx="50101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Penghentian dini bagi proyek yang tidak terbukti memberikan dampak ekonomi positif.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4600575"/>
            <a:ext cx="64508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Pengukuran Terstruktur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4876800"/>
            <a:ext cx="50101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Perencanaan dan pelaporan sistematis untuk manfaat finansial maupun non-finansial.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9375" y="4600575"/>
            <a:ext cx="57626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Integrasi Standar Global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9375" y="4876800"/>
            <a:ext cx="57626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Kompatibilitas tinggi dengan COBIT, Risk IT, dan ekosistem ITIL.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59893"/>
            <a:ext cx="3505200" cy="1928812"/>
          </a:xfrm>
          <a:prstGeom prst="roundRect">
            <a:avLst>
              <a:gd name="adj" fmla="val 5925"/>
            </a:avLst>
          </a:prstGeom>
          <a:solidFill>
            <a:srgbClr val="FFF5F5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959893"/>
            <a:ext cx="3505200" cy="1928812"/>
          </a:xfrm>
          <a:prstGeom prst="roundRect">
            <a:avLst>
              <a:gd name="adj" fmla="val 5925"/>
            </a:avLst>
          </a:prstGeom>
          <a:solidFill>
            <a:srgbClr val="FFF5F5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959893"/>
            <a:ext cx="3505200" cy="1928812"/>
          </a:xfrm>
          <a:prstGeom prst="roundRect">
            <a:avLst>
              <a:gd name="adj" fmla="val 5925"/>
            </a:avLst>
          </a:prstGeom>
          <a:solidFill>
            <a:srgbClr val="FFF5F5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236118"/>
            <a:ext cx="200025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3236118"/>
            <a:ext cx="20002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3236118"/>
            <a:ext cx="3048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F4444"/>
                </a:solidFill>
                <a:latin typeface="Plus Jakarta Sans"/>
              </a:rPr>
              <a:t>BATASAN KERANGKA KERJA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Kekurangan &amp; Keterbatasan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655218"/>
            <a:ext cx="397549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91B1B"/>
                </a:solidFill>
                <a:latin typeface="Plus Jakarta Sans"/>
              </a:rPr>
              <a:t>Manfaat Kualitatif Rumit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969543"/>
            <a:ext cx="31242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7F1D1D"/>
                </a:solidFill>
                <a:latin typeface="Plus Jakarta Sans"/>
              </a:rPr>
              <a:t>Sulit mengonversi nilai kepuasan pelanggan atau citra merek ke dalam finansial presisi.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525" y="3655218"/>
            <a:ext cx="397549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91B1B"/>
                </a:solidFill>
                <a:latin typeface="Plus Jakarta Sans"/>
              </a:rPr>
              <a:t>Minim Panduan Teknis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525" y="3969543"/>
            <a:ext cx="31242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7F1D1D"/>
                </a:solidFill>
                <a:latin typeface="Plus Jakarta Sans"/>
              </a:rPr>
              <a:t>Bersifat konseptual tingkat tinggi; memerlukan COBIT untuk rincian eksekusi operasional.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5325" y="3655218"/>
            <a:ext cx="38766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91B1B"/>
                </a:solidFill>
                <a:latin typeface="Plus Jakarta Sans"/>
              </a:rPr>
              <a:t>Syarat Kematangan Tinggi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5325" y="3969543"/>
            <a:ext cx="31242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7F1D1D"/>
                </a:solidFill>
                <a:latin typeface="Plus Jakarta Sans"/>
              </a:rPr>
              <a:t>Penerapan terhambat jika struktur pengambilan keputusan organisasi belum tertata rapi.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43175"/>
            <a:ext cx="1097280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514725"/>
            <a:ext cx="1097280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486275"/>
            <a:ext cx="1097280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97706"/>
                </a:solidFill>
                <a:latin typeface="Plus Jakarta Sans"/>
              </a:rPr>
              <a:t>MITIGASI EKSEKUSI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Tantangan Penerapan Utama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2833687"/>
            <a:ext cx="62865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D97706"/>
                </a:solidFill>
                <a:latin typeface="Plus Jakarta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805237"/>
            <a:ext cx="62865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D97706"/>
                </a:solidFill>
                <a:latin typeface="Plus Jakarta San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4776787"/>
            <a:ext cx="62865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D97706"/>
                </a:solidFill>
                <a:latin typeface="Plus Jakarta Sans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9225" y="2743200"/>
            <a:ext cx="697587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Transformasi Pola Pikir (Mindset Shift)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9225" y="2981325"/>
            <a:ext cx="664368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Mendorong divisi bisnis aktif bertanggung jawab atas hasil investasi teknologi.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9225" y="3714750"/>
            <a:ext cx="581322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Penetapan Indikator Kinerja Tepat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9225" y="3952875"/>
            <a:ext cx="553640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Menyusun matriks evaluasi kualitatif dan kuantitatif yang objektif.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9225" y="4686300"/>
            <a:ext cx="713839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Komitmen Berkelanjutan Eksekutif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9225" y="4924425"/>
            <a:ext cx="679846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Menjaga konsistensi pemantauan nilai dari awal proyek hingga fase operasional.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43487" y="1801266"/>
            <a:ext cx="2105025" cy="285750"/>
          </a:xfrm>
          <a:prstGeom prst="roundRect">
            <a:avLst>
              <a:gd name="adj" fmla="val 50000"/>
            </a:avLst>
          </a:prstGeom>
          <a:solidFill>
            <a:srgbClr val="14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809750" y="3732758"/>
            <a:ext cx="4171950" cy="1323975"/>
          </a:xfrm>
          <a:prstGeom prst="roundRect">
            <a:avLst>
              <a:gd name="adj" fmla="val 863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3732758"/>
            <a:ext cx="4171950" cy="1323975"/>
          </a:xfrm>
          <a:prstGeom prst="roundRect">
            <a:avLst>
              <a:gd name="adj" fmla="val 863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875" y="3970883"/>
            <a:ext cx="190500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3970883"/>
            <a:ext cx="190500" cy="190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932759" y="1858416"/>
            <a:ext cx="2326481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2DD4BF"/>
                </a:solidFill>
                <a:latin typeface="Plus Jakarta Sans"/>
              </a:rPr>
              <a:t>RANGKUMAN STRATEGIS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296" y="2315616"/>
            <a:ext cx="11251406" cy="959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sz="3150" b="1" i="0" u="none">
                <a:solidFill>
                  <a:srgbClr val="FFFFFF"/>
                </a:solidFill>
                <a:latin typeface="Space Grotesk"/>
              </a:rPr>
              <a:t>“TI bukan sekadar tujuan, melainkan sarana utama mencapai sasaran bisnis.”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47875" y="4256633"/>
            <a:ext cx="46196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E2E8F0"/>
                </a:solidFill>
                <a:latin typeface="Plus Jakarta Sans"/>
              </a:rPr>
              <a:t>Sinergi COBIT &amp; VAL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47875" y="4475708"/>
            <a:ext cx="37909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Plus Jakarta Sans"/>
              </a:rPr>
              <a:t>COBIT menjamin proses benar; VAL IT menjamin memilih hal yang bernilai.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8425" y="4256633"/>
            <a:ext cx="46196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E2E8F0"/>
                </a:solidFill>
                <a:latin typeface="Plus Jakarta Sans"/>
              </a:rPr>
              <a:t>Kunci Keberhasilan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8425" y="4475708"/>
            <a:ext cx="37909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Plus Jakarta Sans"/>
              </a:rPr>
              <a:t>Komitmen pimpinan, keselarasan bisnis–TI, serta pemantauan konsisten.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F0F0F0"/>
      </a:dk1>
      <a:lt1>
        <a:sysClr val="window" lastClr="00000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758</Words>
  <Application>Microsoft Office PowerPoint</Application>
  <PresentationFormat>Widescreen</PresentationFormat>
  <Paragraphs>114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Plus Jakarta Sans</vt:lpstr>
      <vt:lpstr>Arial</vt:lpstr>
      <vt:lpstr>Calibri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Akhmad Khilman</dc:creator>
  <cp:keywords/>
  <dc:description>generated using python-pptx</dc:description>
  <cp:lastModifiedBy>AKHMAD KHILMAN</cp:lastModifiedBy>
  <cp:revision>2</cp:revision>
  <dcterms:created xsi:type="dcterms:W3CDTF">2013-01-27T09:14:16Z</dcterms:created>
  <dcterms:modified xsi:type="dcterms:W3CDTF">2026-10-07T02:44:38Z</dcterms:modified>
  <cp:category/>
</cp:coreProperties>
</file>