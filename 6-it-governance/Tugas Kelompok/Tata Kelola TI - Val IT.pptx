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8017" y="3848490"/>
            <a:ext cx="9755813" cy="2057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9917" y="3848490"/>
            <a:ext cx="38100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1226" y="1067692"/>
            <a:ext cx="452939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KERANGKA KERJA TATA KELOLA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122" y="1553467"/>
            <a:ext cx="2171755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2513558"/>
            <a:ext cx="8334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Memastikan investasi teknologi menghasilkan nilai bisnis yang nyata &amp; terukur.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011" y="6353175"/>
            <a:ext cx="4305987" cy="1914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Institut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Teknologi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dan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Bisnis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Bina Sarana Global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 — 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Oktober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,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 2026</a:t>
            </a:r>
            <a:endParaRPr sz="1250" b="0" i="0" u="none" dirty="0">
              <a:solidFill>
                <a:srgbClr val="64748B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9031" y="4189958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MATA KULIAH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9031" y="4466183"/>
            <a:ext cx="1117357" cy="2329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FFFFF"/>
                </a:solidFill>
                <a:latin typeface="Times New Roman"/>
              </a:rPr>
              <a:t>IT Governanc</a:t>
            </a:r>
            <a:r>
              <a:rPr lang="en-US" sz="1350" b="1" i="0" u="none" dirty="0">
                <a:solidFill>
                  <a:srgbClr val="FFFFFF"/>
                </a:solidFill>
                <a:latin typeface="Times New Roman"/>
              </a:rPr>
              <a:t>e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9031" y="4944227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DOSEN PENGAMPU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9031" y="5231789"/>
            <a:ext cx="2913310" cy="23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Dr. Moh.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Ramaddan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Julianti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, M.T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1968" y="4170593"/>
            <a:ext cx="1049967" cy="1854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DISUSUN OLEH</a:t>
            </a:r>
            <a:r>
              <a:rPr lang="en-US" sz="1050" b="0" i="0" u="none" dirty="0">
                <a:solidFill>
                  <a:srgbClr val="94A3B8"/>
                </a:solidFill>
                <a:latin typeface="Times New Roman"/>
              </a:rPr>
              <a:t> </a:t>
            </a:r>
            <a:endParaRPr sz="1050" b="0" i="0" u="none" dirty="0">
              <a:solidFill>
                <a:srgbClr val="94A3B8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3411" y="4574467"/>
            <a:ext cx="2225674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1. </a:t>
            </a:r>
            <a:r>
              <a:rPr lang="en-ID" sz="1200" b="0" i="0" u="none" dirty="0" err="1">
                <a:solidFill>
                  <a:srgbClr val="E2E8F0"/>
                </a:solidFill>
                <a:latin typeface="Times New Roman"/>
              </a:rPr>
              <a:t>Safrizal</a:t>
            </a:r>
            <a:r>
              <a:rPr lang="en-ID" sz="1200" b="0" i="0" u="none" dirty="0">
                <a:solidFill>
                  <a:srgbClr val="E2E8F0"/>
                </a:solidFill>
                <a:latin typeface="Times New Roman"/>
              </a:rPr>
              <a:t> Ramadhan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3411" y="4872845"/>
            <a:ext cx="2639249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2.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⁠Muhamad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Miftahul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Ulum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1124160131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3411" y="5233291"/>
            <a:ext cx="2797048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3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. Akhmad Khilman Al Khafid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1124160075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3724" y="4580483"/>
            <a:ext cx="245971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4.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Rinda Danar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Madanti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1124160124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3724" y="4871441"/>
            <a:ext cx="341510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5.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Muhammad Satria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Nurulloh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Piasambe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1124160002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3724" y="5236138"/>
            <a:ext cx="2990306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6.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Muhammad Nathan </a:t>
            </a:r>
            <a:r>
              <a:rPr lang="en-US" sz="1200" dirty="0" err="1">
                <a:solidFill>
                  <a:srgbClr val="E2E8F0"/>
                </a:solidFill>
                <a:latin typeface="Times New Roman"/>
              </a:rPr>
              <a:t>Edyansyah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1124160098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94993" y="2286000"/>
            <a:ext cx="4201864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25457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94993" y="2286000"/>
            <a:ext cx="4201864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793" y="2638425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Sejarah Pembentukan Val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571625"/>
            <a:ext cx="9525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Times New Roman"/>
              </a:rPr>
              <a:t>Fokus pada bagaimana dan dari mana kerangka kerja tata kelola ini bermula.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Rilis Perdana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Diluncurkan secara resmi oleh ITGI (Information Technology Governance Institute) yang berafiliasi dengan ISACA.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9793" y="3133725"/>
            <a:ext cx="4714847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Akar &amp; Inspirasi Metodologi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0257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0257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Pembaruan Mayor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0257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Versi 2.0 mengunci keselarasan penuh dengan kerangka kerja eksekusi (COBIT 4.1) dan manajemen risiko (Risk IT).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3143" y="349939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293" y="3499395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Praktik ING Group: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Mengadaptasi cara institusi perbankan mengelola portofolio investasi TI layaknya investasi finansial.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3143" y="438522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293" y="4385220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Macroscope Fujitsu: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Metodologi manajemen nilai bisnis untuk menyelaraskan proyek TI dengan arsitektur bisnis.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057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375" y="25622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4375" y="373186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275" y="48634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Evolusi Kerangka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71625"/>
            <a:ext cx="10763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Perjalanan Val IT dari dokumen independen menjadi standar terintegrasi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52412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2006 - 2011: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Berdiri Sendiri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87461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Diposisikan sebagai "pendamping" wajib COBIT. Jika COBIT memastikan eksekusi proyek yang benar, Val IT memastikan perusahaan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benar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untuk didanai.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69376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2012 - Sekarang: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Integrasi Penuh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04425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Eksekusi dan nilai tidak bisa dipisahkan. ISACA secara resmi melebur seluruh domain, prinsip, dan praktik Val IT ke dalam ekosistem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COBIT 5 dan COBIT 2019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86340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Status Era Kini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521389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Konsep Val IT hidup di domain EDM (Evaluate, Direct, Monitor) dan APO (Align, Plan, Organise) pada COBIT. Diadopsi luas sebagai standar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Manajemen Portofolio Operasional TI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7252"/>
            <a:ext cx="42672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408807"/>
            <a:ext cx="84010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Latar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Belakang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Diciptakannya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320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Paradoks Produktivitas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88877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Perusahaan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menghabiskan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belanja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modal (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CapEx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miliaran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rupiah,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namun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tidak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mendapatkan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peningkatan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efisiensi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laba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yang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terukur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secara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finansial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8422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Fokus Kesuksesan Salah Arah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49898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Departemen TI menganggap proyek "sukses" jika tepat waktu &amp; anggaran. Val IT menolak metrik ini jika sistem akhirnya tidak digunakan atau tidak membawa manfaat bisnis.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45248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Kesenjangan Bahasa Bisnis &amp; 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10919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berbicara "Laba-Rugi &amp; Pangsa Pasar". Staf TI berbicara "Uptime Server &amp; Fitur". Val IT bertindak sebagai penerjemah penengah di antara keduanya.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466976"/>
            <a:ext cx="5219700" cy="168351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2466975"/>
            <a:ext cx="5219700" cy="168351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4858" y="4434257"/>
            <a:ext cx="5219700" cy="16862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56018" y="4455294"/>
            <a:ext cx="5219700" cy="166519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145898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1999" y="2466976"/>
            <a:ext cx="45719" cy="168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466975"/>
            <a:ext cx="45719" cy="168844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4145894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299" y="2466975"/>
            <a:ext cx="45719" cy="16884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20475" y="2466976"/>
            <a:ext cx="45719" cy="168351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049" y="4443783"/>
            <a:ext cx="81917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2654" y="4434258"/>
            <a:ext cx="45719" cy="169576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1146" y="4434258"/>
            <a:ext cx="70594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50846" y="4434257"/>
            <a:ext cx="45719" cy="169576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9431" y="885825"/>
            <a:ext cx="69731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Konsep Dasar: The Four "Ares"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1495425"/>
            <a:ext cx="9525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Mengubah TI dari sekadar "Pusat Biaya" menjadi pendorong keuntungan melalui </a:t>
            </a:r>
            <a:r>
              <a:rPr sz="1350" b="1" i="0" u="none">
                <a:solidFill>
                  <a:srgbClr val="94A3B8"/>
                </a:solidFill>
                <a:latin typeface="Times New Roman"/>
              </a:rPr>
              <a:t>Pendekatan Portofolio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 investasi.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2781300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1. Are we doing the right things?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TI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ini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sejalan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visi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strategis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prioritas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dan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perusahaan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2781300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2. Are we doing them the right way?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sistem ini dibangun sesuai standar arsitektur perusahaan agar tidak tumpang tindih?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" y="4748582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3. Are we getting them done well?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proyek dieksekusi secara efektif dan efisien? (Fokus eksekusi pada ranah COBIT).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0" y="4748582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4. Are we getting the benefits?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2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ROI dan manfaat finansial yang dijanjikan benar-benar terwujud setelah sistem digunakan?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2460" y="2970907"/>
            <a:ext cx="8067079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62460" y="3513832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62460" y="4327177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62460" y="5140523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2460" y="3275707"/>
            <a:ext cx="80670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62460" y="3513832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62460" y="4327177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62460" y="5140523"/>
            <a:ext cx="57150" cy="58474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285750" y="1408807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Tujuan Strategis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187" y="2018407"/>
            <a:ext cx="10715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475569"/>
                </a:solidFill>
                <a:latin typeface="Times New Roman"/>
              </a:rPr>
              <a:t>"Keseimbangan triade: Optimalisasi Manfaat, Efisiensi Biaya, dan Mitigasi Risiko."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60" y="2970907"/>
            <a:ext cx="101295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MANFAAT BAGI ORGANISASI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0110" y="3513832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Transparansi &amp; Akuntabilitas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0110" y="3841402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Prioritas anggaran menjadi objektif berdasarkan hitungan finansial, menghilangkan "proyek titipan" tanpa dasar.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0110" y="4327177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Pencegahan Pemborosan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0110" y="4654748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Menghentikan proyek TI di tengah jalan jika terbukti parameter bisnisnya berubah dan tidak lagi menguntungkan.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0110" y="5140523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Keterlibatan Pimpinan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0110" y="5468094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Memaksa pimpinan unit bisnis (non-TI) ikut bertanggung jawab atas kesuksesan implementasi aplikasi.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9415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263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800225"/>
            <a:ext cx="340355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1800225"/>
            <a:ext cx="340355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1800225"/>
            <a:ext cx="340355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Tiga Komponen Arsitektur Val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57425"/>
            <a:ext cx="3467034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791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Times New Roman"/>
              </a:rPr>
              <a:t>LEVEL EKSEKUTIF / DIREKSI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511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Bertugas membangun struktur tata kelola, menetapkan kebijakan dasar, arah strategis investasi, serta batas toleransi risiko yang dapat diterima perusahaan.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MANAJEMEN STRATEGIS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150" y="333940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Mengumpulkan usulan proyek, mengevaluasi dokumen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memprioritaskan dan mengalokasikan dana HANYA untuk proyek bernilai tertinggi.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OPERASIONAL PROYEK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300" y="3339405"/>
            <a:ext cx="2736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Memastikan proyek sesuai rencana keuangan, memantau sistem saat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go-live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dan memastikan target keuntungan berhasil dipanen.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4461569" cy="448627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80769" y="2637383"/>
            <a:ext cx="574923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6325" y="264795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6325" y="3914775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6325" y="518160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6325" y="2647950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6325" y="3914775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6325" y="5181600"/>
            <a:ext cx="38100" cy="790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3590925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4857750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Cara Kerja &amp; Prinsip Dasar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114550"/>
            <a:ext cx="50307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SIKLUS SISTEMIS VAL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0769" y="2286892"/>
            <a:ext cx="651123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Prinsip IT Governance dalam Val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280035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1. Kebijakan (VG)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305752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Direksi menetapkan aturan main investasi.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067175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2. Antrean (PM)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4324350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Usulan disaring dan diprioritaskan.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533400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3. Pemantauan (IM)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559117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Kelayakan ekonomi dipantau hingga aplikasi pensiun.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0769" y="28850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1. Investasi Holistik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0769" y="31898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 bukan sekadar instalasi software. Mencakup pelatihan karyawan, perubahan proses bisnis, dan restrukturisasi organisasi.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0769" y="393278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2. Realisasi Nilai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0769" y="423758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Nilai bisnis tidak muncul secara magis. Ia harus ditagih, dikelola, dan dipantau berkala via indikator kinerja (KPI).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0769" y="49805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3. Bukti Kasus Bisnis (Business Case)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0769" y="52853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Tidak ada proyek TI yang boleh berjalan tanpa dokumen perhitungan target ROI yang akurat dan jelas.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381000"/>
            <a:ext cx="3505200" cy="6096000"/>
          </a:xfrm>
          <a:prstGeom prst="rect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581025"/>
            <a:ext cx="381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0" y="27193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0" y="376713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0" y="48148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27193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376713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48148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500187"/>
            <a:ext cx="68208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Contoh: PT Bank Mandiri (Persero) Tbk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2681287"/>
            <a:ext cx="3881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66666"/>
                </a:solidFill>
                <a:latin typeface="Times New Roman"/>
              </a:rPr>
              <a:t>KARAKTERISTIK PENGGUNA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6005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Sektor Perbankan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0196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BUMN &amp; Multinasional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4387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Lembaga Pemerintah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58578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Telekomunikasi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850" y="27193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850" y="30241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menetapkan mandat: seluruh belanja modal TI harus mendukung visi strategis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"Menjadi bank digital terdepan"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850" y="376713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850" y="407193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Manajemen memprioritaskan pendanaan penuh untuk "Super App Livin'" &amp; pembaruan Core Banking, menolak proyek ber-ROI rendah.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850" y="48148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850" y="51196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Pasca-rilis, tim memantau metrik bisnis nyata: pertumbuhan transaksi digital dan efisiensi penghematan biaya kantor cabang fisik.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6025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285750" y="1105941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Keunggulan Kerangka Kerja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487066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Memperbaiki Komunikasi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Menyediakan bahasa yang sama antara divisi keuangan (CFO), eksekutif bisnis, dan teknis (CIO), menghilangkan miskomunikasi.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487066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Pergeseran Paradigma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Mendorong pemikiran bahwa pengeluaran TI bukanlah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Sunk Cost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(biaya hangus), melainkan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Strategic Investment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penarik laba.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4" y="4567099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Standarisasi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5105398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Kompatibilitas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integrasi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mulus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standar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internasional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COBIT (IT Gov), Risk IT, dan ITIL.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4" y="4567099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Fokus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Penghentian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Dini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5084289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Mekanisme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tegas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untuk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"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membunuh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"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jika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pasar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menurun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menyelamatkan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uang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dari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kerugian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282280"/>
            <a:ext cx="5086350" cy="174711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282279"/>
            <a:ext cx="5086350" cy="174711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372289"/>
            <a:ext cx="5086350" cy="161313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4368891"/>
            <a:ext cx="5086350" cy="161652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725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250" y="4372288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4368890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285750" y="1215479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Kekurangan &amp; Batasan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262517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Beban Birokrasi (Red Tape)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Membutuhkan matriks rumit,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tebal, dan tinjauan berlapis yang memakan banyak waktu.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625179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Berbenturan dengan Agile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Terasa kaku saat dihadapkan pada metode pengembangan software modern (Scrum) yang sangat dinamis.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71518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Syarat Kematangan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5080860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Mustahil berjalan di perusahaan menengah dengan manajemen reaktif dan budaya kerja terkotak-kotak (silo).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711791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Kurang Panduan Teknis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5077462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Bersifat konseptual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High-Level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 Mutlak membutuhkan COBIT untuk eksekusi teknis di lapangan.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Tantangan Implementasi &amp;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02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Resistensi Unit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241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Manipulasi Proyeksi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48025"/>
            <a:ext cx="2476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Manfaat Intangibel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29100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Disiplin Pasca-Proyek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18002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Pimpinan non-TI menolak janji KPI untuk menaikkan pendapatan divisi pasca sistem disetujui (budaya menghindar).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5241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Bahaya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1" u="none" dirty="0">
                <a:solidFill>
                  <a:srgbClr val="94A3B8"/>
                </a:solidFill>
                <a:latin typeface="Times New Roman"/>
              </a:rPr>
              <a:t>overpromising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angka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ROI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semu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di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kertas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agar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sekadar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lolos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seleksi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pendanaan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3248025"/>
            <a:ext cx="838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Sulit merumuskan rupiah (ROI) pasti dari investasi seperti keamanan siber/kepatuhan hukum (sifatnya pencegahan, bukan laba).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4229100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Kebiasaan membubarkan tim pengawas sesaat sesudah implementasi, gagal membuktikan manfaat di tahun berikutnya.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849885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849885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Framework 2.0 Untuk Menilai Investasi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40160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 Aplikasi SIA di Universitas Terbuka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97360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35485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Diovanny L. A., Dr. Sumiyana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Menilai investasi SIA agar TI berfungsi sebagai alat keputusan strategis, bukan sekadar alat operasional, guna menekan fenomena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burning money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4040385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322266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Kapabilitas operasional TI sangat mumpuni. Butuh paradigma baru agar pimpinan menggunakan data SIA untuk merumuskan arah kebijakan masa depan.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Kualitatif pengukuran Maturity Level. VG (Level 3), PM (Level 2), IM (Level 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6603950" cy="514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Prosedur tata kelola sudah dibakukan, namun implementasi belum konsisten karena kendala pemahaman SDM.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592710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592710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81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Untuk Perencanaan Investasi Teknologi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12516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Kasus: AMIK Panca Bhakti Pontianak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69716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07841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A. Shalludin, Kusrini, E. Taufiq L.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Kebutuhan perencanaan proyek lab komputer yang presisi untuk membandingkan janji manfaat operasional dengan besaran biaya modal (CapEx).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3783210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065091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Melalui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dan kalkulasi (NPV, IRR, Net B/C positif), manajemen mendapat bukti akurat bahwa proyek bernilai dan layak dieksekusi.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Kuesioner diterjemahkan ke prototyping software Sistem Pendukung Keputusan (SPK).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Investasi 100% selaras dengan Renstra (target akreditasi &amp; kualitas IPK lulusan).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055340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Kesimpulan 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6875" y="2122140"/>
            <a:ext cx="61570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2563EB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3529905"/>
            <a:ext cx="62626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2563EB"/>
                </a:solidFill>
                <a:latin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2069" y="4937670"/>
            <a:ext cx="1538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70C0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301" y="2122140"/>
            <a:ext cx="9823698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Kompas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Navigasi</a:t>
            </a: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Investasi</a:t>
            </a:r>
            <a:endParaRPr sz="1800" b="1" i="0" u="none" dirty="0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8301" y="2472630"/>
            <a:ext cx="810919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Aturan dasar yang mengawal korporat memastikan rupiah yang dikeluarkan untuk digitalisasi memberi timbal balik ekonomi setimpal.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8868" y="3529905"/>
            <a:ext cx="9813131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Sinergi Absolut (Val IT + COBIT)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8868" y="3880395"/>
            <a:ext cx="809863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Val 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sementara COBIT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membangunnya dengan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6876" y="4937670"/>
            <a:ext cx="9795123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Tiga Kunci Kesuksesan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6876" y="5288160"/>
            <a:ext cx="8080623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Sia-sia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tanpa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komitmen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Direksi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keselarasan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sinergis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-TI,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disiplin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pantau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indikator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pas</a:t>
            </a:r>
            <a:r>
              <a:rPr lang="en-US" sz="1350" b="0" i="0" u="none" dirty="0" err="1">
                <a:solidFill>
                  <a:srgbClr val="475569"/>
                </a:solidFill>
                <a:latin typeface="Times New Roman"/>
              </a:rPr>
              <a:t>c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aplikasi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471" y="2790825"/>
            <a:ext cx="3879056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0" y="3905250"/>
            <a:ext cx="7620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0685" y="1830734"/>
            <a:ext cx="6290629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TERIMA KASIH!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189" y="2905125"/>
            <a:ext cx="4391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SESI DISKUSI &amp; TANYA JAWAB (Q&amp;A)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295775"/>
            <a:ext cx="9525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"TI bukanlah sebuah tujuan akhir, melainkan sarana pendukung paling krusial untuk mencapai tujuan bisnis organisasi."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1498</Words>
  <Application>Microsoft Office PowerPoint</Application>
  <PresentationFormat>Widescreen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Akhmad Khilman</dc:creator>
  <cp:keywords/>
  <dc:description>generated using python-pptx</dc:description>
  <cp:lastModifiedBy>AKHMAD KHILMAN</cp:lastModifiedBy>
  <cp:revision>11</cp:revision>
  <dcterms:created xsi:type="dcterms:W3CDTF">2013-01-27T09:14:16Z</dcterms:created>
  <dcterms:modified xsi:type="dcterms:W3CDTF">2026-10-12T14:12:19Z</dcterms:modified>
  <cp:category/>
</cp:coreProperties>
</file>