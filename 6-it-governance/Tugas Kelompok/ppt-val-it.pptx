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73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18017" y="3848490"/>
            <a:ext cx="9755813" cy="20574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9917" y="3848490"/>
            <a:ext cx="38100" cy="2057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1226" y="1067692"/>
            <a:ext cx="452939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KERANGKA KERJA TATA KELOLA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122" y="1553467"/>
            <a:ext cx="2171755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Times New Roman"/>
              </a:rPr>
              <a:t>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2513558"/>
            <a:ext cx="8334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94A3B8"/>
                </a:solidFill>
                <a:latin typeface="Times New Roman"/>
              </a:rPr>
              <a:t>Memastikan investasi teknologi menghasilkan nilai bisnis yang nyata &amp; terukur.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011" y="6353175"/>
            <a:ext cx="4305987" cy="1914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Institut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Teknologi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dan </a:t>
            </a:r>
            <a:r>
              <a:rPr lang="en-US" sz="1250" dirty="0" err="1">
                <a:solidFill>
                  <a:srgbClr val="64748B"/>
                </a:solidFill>
                <a:latin typeface="Times New Roman"/>
              </a:rPr>
              <a:t>Bisnis</a:t>
            </a:r>
            <a:r>
              <a:rPr lang="en-US" sz="1250" dirty="0">
                <a:solidFill>
                  <a:srgbClr val="64748B"/>
                </a:solidFill>
                <a:latin typeface="Times New Roman"/>
              </a:rPr>
              <a:t> Bina Sarana Global</a:t>
            </a:r>
            <a:r>
              <a:rPr sz="1250" b="0" i="0" u="none" dirty="0">
                <a:solidFill>
                  <a:srgbClr val="64748B"/>
                </a:solidFill>
                <a:latin typeface="Times New Roman"/>
              </a:rPr>
              <a:t> — </a:t>
            </a:r>
            <a:r>
              <a:rPr lang="en-US" sz="1250" b="0" i="0" u="none" dirty="0">
                <a:solidFill>
                  <a:srgbClr val="64748B"/>
                </a:solidFill>
                <a:latin typeface="Times New Roman"/>
              </a:rPr>
              <a:t>Oktober</a:t>
            </a:r>
            <a:r>
              <a:rPr sz="1250" b="0" i="0" u="none" dirty="0">
                <a:solidFill>
                  <a:srgbClr val="64748B"/>
                </a:solidFill>
                <a:latin typeface="Times New Roman"/>
              </a:rPr>
              <a:t>,</a:t>
            </a:r>
            <a:r>
              <a:rPr lang="en-US" sz="1250" b="0" i="0" u="none" dirty="0">
                <a:solidFill>
                  <a:srgbClr val="64748B"/>
                </a:solidFill>
                <a:latin typeface="Times New Roman"/>
              </a:rPr>
              <a:t> 2026</a:t>
            </a:r>
            <a:endParaRPr sz="1250" b="0" i="0" u="none" dirty="0">
              <a:solidFill>
                <a:srgbClr val="64748B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9031" y="4189958"/>
            <a:ext cx="29133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MATA KULIAH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9031" y="4466183"/>
            <a:ext cx="1117357" cy="2329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FFFFFF"/>
                </a:solidFill>
                <a:latin typeface="Times New Roman"/>
              </a:rPr>
              <a:t>IT Governanc</a:t>
            </a:r>
            <a:r>
              <a:rPr lang="en-US" sz="1350" b="1" i="0" u="none" dirty="0">
                <a:solidFill>
                  <a:srgbClr val="FFFFFF"/>
                </a:solidFill>
                <a:latin typeface="Times New Roman"/>
              </a:rPr>
              <a:t>e</a:t>
            </a:r>
            <a:endParaRPr sz="1350" b="1" i="0" u="none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39031" y="4944227"/>
            <a:ext cx="291331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DOSEN PENGAMPU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9031" y="5231789"/>
            <a:ext cx="2913310" cy="232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Dr. Moh. </a:t>
            </a:r>
            <a:r>
              <a:rPr lang="en-ID" sz="1350" b="1" i="0" u="none" dirty="0" err="1">
                <a:solidFill>
                  <a:srgbClr val="FFFFFF"/>
                </a:solidFill>
                <a:latin typeface="Times New Roman"/>
              </a:rPr>
              <a:t>Ramaddan</a:t>
            </a: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lang="en-ID" sz="1350" b="1" i="0" u="none" dirty="0" err="1">
                <a:solidFill>
                  <a:srgbClr val="FFFFFF"/>
                </a:solidFill>
                <a:latin typeface="Times New Roman"/>
              </a:rPr>
              <a:t>Julianti</a:t>
            </a:r>
            <a:r>
              <a:rPr lang="en-ID" sz="1350" b="1" i="0" u="none" dirty="0">
                <a:solidFill>
                  <a:srgbClr val="FFFFFF"/>
                </a:solidFill>
                <a:latin typeface="Times New Roman"/>
              </a:rPr>
              <a:t>, M.T</a:t>
            </a:r>
            <a:endParaRPr sz="1350" b="1" i="0" u="none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1968" y="4170593"/>
            <a:ext cx="1049967" cy="1854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Times New Roman"/>
              </a:rPr>
              <a:t>DISUSUN OLEH</a:t>
            </a:r>
            <a:r>
              <a:rPr lang="en-US" sz="1050" b="0" i="0" u="none" dirty="0">
                <a:solidFill>
                  <a:srgbClr val="94A3B8"/>
                </a:solidFill>
                <a:latin typeface="Times New Roman"/>
              </a:rPr>
              <a:t> </a:t>
            </a:r>
            <a:endParaRPr sz="1050" b="0" i="0" u="none" dirty="0">
              <a:solidFill>
                <a:srgbClr val="94A3B8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43411" y="4574467"/>
            <a:ext cx="2225674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1. </a:t>
            </a:r>
            <a:r>
              <a:rPr lang="en-ID" sz="1200" b="0" i="0" u="none" dirty="0" err="1">
                <a:solidFill>
                  <a:srgbClr val="E2E8F0"/>
                </a:solidFill>
                <a:latin typeface="Times New Roman"/>
              </a:rPr>
              <a:t>Safrizal</a:t>
            </a:r>
            <a:r>
              <a:rPr lang="en-ID" sz="1200" b="0" i="0" u="none" dirty="0">
                <a:solidFill>
                  <a:srgbClr val="E2E8F0"/>
                </a:solidFill>
                <a:latin typeface="Times New Roman"/>
              </a:rPr>
              <a:t> Ramadhan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1124160005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43411" y="4872845"/>
            <a:ext cx="2639249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2.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⁠Muhamad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Miftahul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Ulum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1124160131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3411" y="5233291"/>
            <a:ext cx="2797048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3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. Akhmad Khilman Al Khafid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1124160075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53724" y="4580483"/>
            <a:ext cx="2459712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4.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Rinda Danar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Madanti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1124160124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3724" y="4871441"/>
            <a:ext cx="3415102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5. 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Muhammad Satria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Nurulloh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lang="en-ID" sz="1200" dirty="0" err="1">
                <a:solidFill>
                  <a:srgbClr val="E2E8F0"/>
                </a:solidFill>
                <a:latin typeface="Times New Roman"/>
              </a:rPr>
              <a:t>Piasambe</a:t>
            </a:r>
            <a:r>
              <a:rPr lang="en-ID" sz="1200" dirty="0">
                <a:solidFill>
                  <a:srgbClr val="E2E8F0"/>
                </a:solidFill>
                <a:latin typeface="Times New Roman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- </a:t>
            </a:r>
            <a:r>
              <a:rPr lang="en-US" sz="1200" b="0" i="0" u="none" dirty="0">
                <a:solidFill>
                  <a:srgbClr val="E2E8F0"/>
                </a:solidFill>
                <a:latin typeface="Times New Roman"/>
              </a:rPr>
              <a:t>1124160002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3724" y="5236138"/>
            <a:ext cx="2990306" cy="209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6.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Muhammad Nathan </a:t>
            </a:r>
            <a:r>
              <a:rPr lang="en-US" sz="1200" dirty="0" err="1">
                <a:solidFill>
                  <a:srgbClr val="E2E8F0"/>
                </a:solidFill>
                <a:latin typeface="Times New Roman"/>
              </a:rPr>
              <a:t>Edyansyah</a:t>
            </a:r>
            <a:r>
              <a:rPr sz="1200" b="0" i="0" u="none" dirty="0">
                <a:solidFill>
                  <a:srgbClr val="E2E8F0"/>
                </a:solidFill>
                <a:latin typeface="Times New Roman"/>
              </a:rPr>
              <a:t> - </a:t>
            </a:r>
            <a:r>
              <a:rPr lang="en-US" sz="1200" dirty="0">
                <a:solidFill>
                  <a:srgbClr val="E2E8F0"/>
                </a:solidFill>
                <a:latin typeface="Times New Roman"/>
              </a:rPr>
              <a:t>1124160098</a:t>
            </a:r>
            <a:endParaRPr sz="1200" b="0" i="0" u="none" dirty="0">
              <a:solidFill>
                <a:srgbClr val="E2E8F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286000"/>
            <a:ext cx="3004393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94993" y="2286000"/>
            <a:ext cx="4201864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25457" y="2286000"/>
            <a:ext cx="3004393" cy="3962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94993" y="2286000"/>
            <a:ext cx="4201864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793" y="2638425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Sejarah Pembentukan Val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571625"/>
            <a:ext cx="9525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Times New Roman"/>
              </a:rPr>
              <a:t>Fokus pada bagaimana dan dari mana kerangka kerja tata kelola ini bermula.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590800"/>
            <a:ext cx="299349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Times New Roman"/>
              </a:rPr>
              <a:t>2006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267075"/>
            <a:ext cx="3143166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Rilis Perdana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632745"/>
            <a:ext cx="24900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Diluncurkan secara resmi oleh ITGI (Information Technology Governance Institute) yang berafiliasi dengan ISACA.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9793" y="3133725"/>
            <a:ext cx="4714847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Akar &amp; Inspirasi Metodologi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0257" y="2590800"/>
            <a:ext cx="2993491" cy="523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Times New Roman"/>
              </a:rPr>
              <a:t>2008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0257" y="3267075"/>
            <a:ext cx="3143166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Pembaruan Mayor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0257" y="3632745"/>
            <a:ext cx="2490043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Versi 2.0 mengunci keselarasan penuh dengan kerangka kerja eksekusi (COBIT 4.1) dan manajemen risiko (Risk IT).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3143" y="349939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293" y="3499395"/>
            <a:ext cx="3497014" cy="7715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/>
              </a:rPr>
              <a:t>Praktik ING Group: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Mengadaptasi cara institusi perbankan mengelola portofolio investasi TI layaknya investasi finansial.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3143" y="438522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293" y="4385220"/>
            <a:ext cx="3497014" cy="77152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Times New Roman"/>
              </a:rPr>
              <a:t>Macroscope Fujitsu: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Metodologi manajemen nilai bisnis untuk menyelaraskan proyek TI dengan arsitektur bisnis.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05740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4375" y="25622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4375" y="373186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275" y="48634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Evolusi Kerangka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571625"/>
            <a:ext cx="10763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Perjalanan Val IT dari dokumen independen menjadi standar terintegrasi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252412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2563EB"/>
                </a:solidFill>
                <a:latin typeface="Times New Roman"/>
              </a:rPr>
              <a:t>2006 - 2011:</a:t>
            </a:r>
            <a:r>
              <a:rPr sz="1800" b="1" i="0" u="none">
                <a:solidFill>
                  <a:srgbClr val="050505"/>
                </a:solidFill>
                <a:latin typeface="Times New Roman"/>
              </a:rPr>
              <a:t> Fase Berdiri Sendiri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87461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Diposisikan sebagai "pendamping" wajib COBIT. Jika COBIT memastikan eksekusi proyek yang benar, Val IT memastikan perusahaan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memilih proyek yang benar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untuk didanai.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69376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2563EB"/>
                </a:solidFill>
                <a:latin typeface="Times New Roman"/>
              </a:rPr>
              <a:t>2012 - Sekarang:</a:t>
            </a:r>
            <a:r>
              <a:rPr sz="1800" b="1" i="0" u="none">
                <a:solidFill>
                  <a:srgbClr val="050505"/>
                </a:solidFill>
                <a:latin typeface="Times New Roman"/>
              </a:rPr>
              <a:t> Fase Integrasi Penuh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04425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Eksekusi dan nilai tidak bisa dipisahkan. ISACA secara resmi melebur seluruh domain, prinsip, dan praktik Val IT ke dalam ekosistem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COBIT 5 dan COBIT 2019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863405"/>
            <a:ext cx="1118235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Status Era Kini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521389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Konsep Val IT hidup di domain EDM (Evaluate, Direct, Monitor) dan APO (Align, Plan, Organise) pada COBIT. Diadopsi luas sebagai standar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Manajemen Portofolio Operasional TI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24800" y="0"/>
            <a:ext cx="4267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7252"/>
            <a:ext cx="42672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408807"/>
            <a:ext cx="840105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Latar </a:t>
            </a:r>
            <a:r>
              <a:rPr sz="3000" b="1" i="0" u="none" dirty="0" err="1">
                <a:solidFill>
                  <a:srgbClr val="050505"/>
                </a:solidFill>
                <a:latin typeface="Times New Roman"/>
              </a:rPr>
              <a:t>Belakang</a:t>
            </a: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sz="3000" b="1" i="0" u="none" dirty="0" err="1">
                <a:solidFill>
                  <a:srgbClr val="050505"/>
                </a:solidFill>
                <a:latin typeface="Times New Roman"/>
              </a:rPr>
              <a:t>Diciptakannya</a:t>
            </a:r>
            <a:r>
              <a:rPr sz="3000" b="1" i="0" u="none" dirty="0">
                <a:solidFill>
                  <a:srgbClr val="050505"/>
                </a:solidFill>
                <a:latin typeface="Times New Roman"/>
              </a:rPr>
              <a:t> 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3207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Paradoks Produktivitas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88877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Perusahaan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menghabiskan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belanja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modal (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CapEx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)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miliaran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rupiah,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namun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tidak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mendapatkan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peningkatan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efisiensi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atau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laba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yang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terukur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secara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finansial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84227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Fokus Kesuksesan Salah Arah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949898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Departemen TI menganggap proyek "sukses" jika tepat waktu &amp; anggaran. Val IT menolak metrik ini jika sistem akhirnya tidak digunakan atau tidak membawa manfaat bisnis.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45248"/>
            <a:ext cx="840105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Kesenjangan Bahasa Bisnis &amp; 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210919"/>
            <a:ext cx="64960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Direksi berbicara "Laba-Rugi &amp; Pangsa Pasar". Staf TI berbicara "Uptime Server &amp; Fitur". Val IT bertindak sebagai penerjemah penengah di antara keduanya.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466976"/>
            <a:ext cx="5219700" cy="168351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2466975"/>
            <a:ext cx="5219700" cy="168351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4858" y="4434257"/>
            <a:ext cx="5219700" cy="168623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56018" y="4455294"/>
            <a:ext cx="5219700" cy="1665199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145898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466975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1999" y="2466976"/>
            <a:ext cx="45719" cy="168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72175" y="2466975"/>
            <a:ext cx="45719" cy="168844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4145894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2466975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0299" y="2466975"/>
            <a:ext cx="45719" cy="168844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20475" y="2466976"/>
            <a:ext cx="45719" cy="168351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9177932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2000" y="4434257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049" y="4443783"/>
            <a:ext cx="81917" cy="1686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22654" y="4434258"/>
            <a:ext cx="45719" cy="169576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9177932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434257"/>
            <a:ext cx="5219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1146" y="4434258"/>
            <a:ext cx="70594" cy="16862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50846" y="4434257"/>
            <a:ext cx="45719" cy="169576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9431" y="885825"/>
            <a:ext cx="6973137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Konsep Dasar: The Four "Ares"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1495425"/>
            <a:ext cx="9525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Mengubah TI dari sekadar "Pusat Biaya" menjadi pendorong keuntungan melalui </a:t>
            </a:r>
            <a:r>
              <a:rPr sz="1350" b="1" i="0" u="none">
                <a:solidFill>
                  <a:srgbClr val="94A3B8"/>
                </a:solidFill>
                <a:latin typeface="Times New Roman"/>
              </a:rPr>
              <a:t>Pendekatan Portofolio</a:t>
            </a:r>
            <a:r>
              <a:rPr sz="1350" b="0" i="0" u="none">
                <a:solidFill>
                  <a:srgbClr val="94A3B8"/>
                </a:solidFill>
                <a:latin typeface="Times New Roman"/>
              </a:rPr>
              <a:t> investasi.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2781300"/>
            <a:ext cx="5988248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1. Are we doing the right things?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3146970"/>
            <a:ext cx="4657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TI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ini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sejalan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dengan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visi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strategis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prioritas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, dan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bisnis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perusahaan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2781300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2. Are we doing them the right way?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3146970"/>
            <a:ext cx="4657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sistem ini dibangun sesuai standar arsitektur perusahaan agar tidak tumpang tindih?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" y="4748582"/>
            <a:ext cx="5988248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3. Are we getting them done well?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" y="5114253"/>
            <a:ext cx="4657725" cy="23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proyek dieksekusi secara efektif dan efisien? (Fokus eksekusi pada ranah COBIT).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3200" y="4748582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FFFFFF"/>
                </a:solidFill>
                <a:latin typeface="Times New Roman"/>
              </a:rPr>
              <a:t>4. Are we getting the benefits?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3200" y="5114253"/>
            <a:ext cx="4657725" cy="23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Apakah ROI dan manfaat finansial yang dijanjikan benar-benar terwujud setelah sistem digunakan?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2460" y="2970907"/>
            <a:ext cx="8067079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62460" y="3513832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62460" y="4327177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62460" y="5140523"/>
            <a:ext cx="8067079" cy="5847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62460" y="3275707"/>
            <a:ext cx="806707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62460" y="3513832"/>
            <a:ext cx="57150" cy="5847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62460" y="4327177"/>
            <a:ext cx="57150" cy="5847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62460" y="5140523"/>
            <a:ext cx="57150" cy="58474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285750" y="1408807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Tujuan Strategis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187" y="2018407"/>
            <a:ext cx="107156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475569"/>
                </a:solidFill>
                <a:latin typeface="Times New Roman"/>
              </a:rPr>
              <a:t>"Keseimbangan triade: Optimalisasi Manfaat, Efisiensi Biaya, dan Mitigasi Risiko."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2460" y="2970907"/>
            <a:ext cx="1012953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50505"/>
                </a:solidFill>
                <a:latin typeface="Times New Roman"/>
              </a:rPr>
              <a:t>MANFAAT BAGI ORGANISASI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0110" y="3513832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Transparansi &amp; Akuntabilitas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0110" y="3841402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Prioritas anggaran menjadi objektif berdasarkan hitungan finansial, menghilangkan "proyek titipan" tanpa dasar.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0110" y="4327177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Pencegahan Pemborosan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0110" y="4654748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Menghentikan proyek TI di tengah jalan jika terbukti parameter bisnisnya berubah dan tidak lagi menguntungkan.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0110" y="5140523"/>
            <a:ext cx="9881889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Keterlibatan Pimpinan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0110" y="5468094"/>
            <a:ext cx="9774287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Memaksa pimpinan unit bisnis (non-TI) ikut bertanggung jawab atas kesuksesan implementasi aplikasi.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9415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26300" y="1800225"/>
            <a:ext cx="3403550" cy="4448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1800225"/>
            <a:ext cx="340355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4150" y="1800225"/>
            <a:ext cx="340355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1800225"/>
            <a:ext cx="3403550" cy="76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Tiga Komponen Arsitektur Val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57425"/>
            <a:ext cx="3467034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Value Governance (VG)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791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563EB"/>
                </a:solidFill>
                <a:latin typeface="Times New Roman"/>
              </a:rPr>
              <a:t>LEVEL EKSEKUTIF / DIREKSI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65115"/>
            <a:ext cx="27368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Bertugas membangun struktur tata kelola, menetapkan kebijakan dasar, arah strategis investasi, serta batas toleransi risiko yang dapat diterima perusahaan.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5150" y="2257425"/>
            <a:ext cx="287364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Portfolio Management (PM)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288220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Times New Roman"/>
              </a:rPr>
              <a:t>LEVEL MANAJEMEN STRATEGIS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5150" y="3339405"/>
            <a:ext cx="27368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Mengumpulkan usulan proyek, mengevaluasi dokumen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memprioritaskan dan mengalokasikan dana HANYA untuk proyek bernilai tertinggi.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300" y="2257425"/>
            <a:ext cx="287364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00000"/>
                </a:solidFill>
                <a:latin typeface="Times New Roman"/>
              </a:rPr>
              <a:t>Investment Management (IM)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300" y="2882205"/>
            <a:ext cx="330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64748B"/>
                </a:solidFill>
                <a:latin typeface="Times New Roman"/>
              </a:rPr>
              <a:t>LEVEL OPERASIONAL PROYEK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300" y="3339405"/>
            <a:ext cx="2736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Memastikan proyek sesuai rencana keuangan, memantau sistem saat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go-live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dan memastikan target keuntungan berhasil dipanen.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800225"/>
            <a:ext cx="4461569" cy="448627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80769" y="2637383"/>
            <a:ext cx="574923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6325" y="2647950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6325" y="3914775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6325" y="5181600"/>
            <a:ext cx="3832919" cy="790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6325" y="2647950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6325" y="3914775"/>
            <a:ext cx="38100" cy="790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76325" y="5181600"/>
            <a:ext cx="38100" cy="790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34" y="3590925"/>
            <a:ext cx="1143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634" y="4857750"/>
            <a:ext cx="1143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Cara Kerja &amp; Prinsip Dasar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114550"/>
            <a:ext cx="50307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50505"/>
                </a:solidFill>
                <a:latin typeface="Times New Roman"/>
              </a:rPr>
              <a:t>SIKLUS SISTEMIS VAL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0769" y="2286892"/>
            <a:ext cx="651123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Prinsip IT Governance dalam Val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2800350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1. Kebijakan (VG)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" y="3057525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Direksi menetapkan aturan main investasi.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4067175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2. Antrean (PM)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825" y="4324350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Usulan disaring dan diprioritaskan.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5334000"/>
            <a:ext cx="436252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3. Pemantauan (IM)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5" y="5591175"/>
            <a:ext cx="43625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Times New Roman"/>
              </a:rPr>
              <a:t>Kelayakan ekonomi dipantau hingga aplikasi pensiun.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0769" y="288503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1. Investasi Holistik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0769" y="318983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TI bukan sekadar instalasi software. Mencakup pelatihan karyawan, perubahan proses bisnis, dan restrukturisasi organisasi.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0769" y="393278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2. Realisasi Nilai Aktif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0769" y="423758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Nilai bisnis tidak muncul secara magis. Ia harus ditagih, dikelola, dan dipantau berkala via indikator kinerja (KPI).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0769" y="4980533"/>
            <a:ext cx="651123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3. Bukti Kasus Bisnis (Business Case)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0769" y="5285333"/>
            <a:ext cx="584448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Tidak ada proyek TI yang boleh berjalan tanpa dokumen perhitungan target ROI yang akurat dan jelas.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67200" y="0"/>
            <a:ext cx="792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381000"/>
            <a:ext cx="3505200" cy="6096000"/>
          </a:xfrm>
          <a:prstGeom prst="rect">
            <a:avLst/>
          </a:prstGeom>
          <a:noFill/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581025"/>
            <a:ext cx="381000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0" y="271938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0" y="376713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0" y="4814887"/>
            <a:ext cx="6400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49339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53530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57721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61912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271938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376713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4814887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9339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53530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57721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6191250"/>
            <a:ext cx="3105150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1500187"/>
            <a:ext cx="68208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Contoh: PT Bank Mandiri (Persero) Tbk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025" y="2681287"/>
            <a:ext cx="3881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66666"/>
                </a:solidFill>
                <a:latin typeface="Times New Roman"/>
              </a:rPr>
              <a:t>KARAKTERISTIK PENGGUNA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46005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Sektor Perbankan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50196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BUMN &amp; Multinasional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025" y="54387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Lembaga Pemerintah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025" y="5857875"/>
            <a:ext cx="388143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Times New Roman"/>
              </a:rPr>
              <a:t>• Telekomunikasi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850" y="271938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Value Governance (VG)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850" y="302418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Direksi menetapkan mandat: seluruh belanja modal TI harus mendukung visi strategis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"Menjadi bank digital terdepan"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850" y="376713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Portfolio Management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850" y="407193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Manajemen memprioritaskan pendanaan penuh untuk "Super App Livin'" &amp; pembaruan Core Banking, menolak proyek ber-ROI rendah.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850" y="4814887"/>
            <a:ext cx="6915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Investment Management (IM)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850" y="5119687"/>
            <a:ext cx="624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Pasca-rilis, tim memantau metrik bisnis nyata: pertumbuhan transaksi digital dan efisiensi penghematan biaya kantor cabang fisik.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" y="2172741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172741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4273003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6025" y="4273003"/>
            <a:ext cx="5086350" cy="1785937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-285750" y="1105941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Keunggulan Kerangka Kerja Val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2487066"/>
            <a:ext cx="5850731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Memperbaiki Komunikasi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2852737"/>
            <a:ext cx="4552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Menyediakan bahasa yang sama antara divisi keuangan (CFO), eksekutif bisnis, dan teknis (CIO), menghilangkan miskomunikasi.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487066"/>
            <a:ext cx="5629275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2563EB"/>
                </a:solidFill>
                <a:latin typeface="Times New Roman"/>
              </a:rPr>
              <a:t>Pergeseran Paradigma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852737"/>
            <a:ext cx="4552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Mendorong pemikiran bahwa pengeluaran TI bukanlah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Sunk Cost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(biaya hangus), melainkan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Strategic Investment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penarik laba.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74" y="4567099"/>
            <a:ext cx="5850731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Standarisasi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5105398"/>
            <a:ext cx="4552950" cy="12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Kompatibilitas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dan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integrasi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mulus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dengan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standar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internasional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: COBIT (IT Gov), Risk IT, dan ITIL.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4" y="4567099"/>
            <a:ext cx="5629275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Fokus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650" b="1" i="0" u="none" dirty="0" err="1">
                <a:solidFill>
                  <a:srgbClr val="000000"/>
                </a:solidFill>
                <a:latin typeface="Times New Roman"/>
              </a:rPr>
              <a:t>Penghentian</a:t>
            </a:r>
            <a:r>
              <a:rPr sz="1650" b="1" i="0" u="none" dirty="0">
                <a:solidFill>
                  <a:srgbClr val="000000"/>
                </a:solidFill>
                <a:latin typeface="Times New Roman"/>
              </a:rPr>
              <a:t> Dini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5084289"/>
            <a:ext cx="4552950" cy="121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Mekanisme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tegas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untuk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"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membunuh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"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berjalan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jika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proyeksi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pasar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menurun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menyelamatkan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uang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dari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kerugian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" y="2282280"/>
            <a:ext cx="5086350" cy="174711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2282279"/>
            <a:ext cx="5086350" cy="174711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7250" y="4372289"/>
            <a:ext cx="5086350" cy="161313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4368891"/>
            <a:ext cx="5086350" cy="1616529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7250" y="2282279"/>
            <a:ext cx="508635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8400" y="2282279"/>
            <a:ext cx="5086350" cy="38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250" y="4372288"/>
            <a:ext cx="508635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8400" y="4368890"/>
            <a:ext cx="508635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-285750" y="1215479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Kekurangan &amp; Batasan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2625179"/>
            <a:ext cx="5875734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Beban Birokrasi (Red Tape)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2990850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Membutuhkan matriks rumit,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tebal, dan tinjauan berlapis yang memakan banyak waktu.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625179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Berbenturan dengan Agile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990850"/>
            <a:ext cx="457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Terasa kaku saat dihadapkan pada metode pengembangan software modern (Scrum) yang sangat dinamis.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715189"/>
            <a:ext cx="5875734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Syarat Kematangan Tinggi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5080860"/>
            <a:ext cx="4572000" cy="202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Mustahil berjalan di perusahaan menengah dengan manajemen reaktif dan budaya kerja terkotak-kotak (silo).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711791"/>
            <a:ext cx="5638800" cy="2513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Kurang Panduan Teknis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5077462"/>
            <a:ext cx="4572000" cy="202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Bersifat konseptual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High-Level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 Mutlak membutuhkan COBIT untuk eksekusi teknis di lapangan.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885825"/>
            <a:ext cx="11430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FFFFF"/>
                </a:solidFill>
                <a:latin typeface="Times New Roman"/>
              </a:rPr>
              <a:t>Tantangan Implementasi &amp;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0225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Resistensi Unit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24125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Manipulasi Proyeksi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48025"/>
            <a:ext cx="2476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Times New Roman"/>
              </a:rPr>
              <a:t>Manfaat Intangibel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29100"/>
            <a:ext cx="2976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Times New Roman"/>
              </a:rPr>
              <a:t>Disiplin Pasca-Proyek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3250" y="1800225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Pimpinan non-TI menolak janji KPI untuk menaikkan pendapatan divisi pasca sistem disetujui (budaya menghindar).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524125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Bahaya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1" u="none" dirty="0">
                <a:solidFill>
                  <a:srgbClr val="94A3B8"/>
                </a:solidFill>
                <a:latin typeface="Times New Roman"/>
              </a:rPr>
              <a:t>overpromising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angka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ROI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semu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di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atas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kertas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agar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proyek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sekadar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lolos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seleksi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Times New Roman"/>
              </a:rPr>
              <a:t>pendanaan</a:t>
            </a:r>
            <a:r>
              <a:rPr sz="1350" b="0" i="0" u="none" dirty="0">
                <a:solidFill>
                  <a:srgbClr val="94A3B8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3248025"/>
            <a:ext cx="8382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Sulit merumuskan rupiah (ROI) pasti dari investasi seperti keamanan siber/kepatuhan hukum (sifatnya pencegahan, bukan laba).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3250" y="4229100"/>
            <a:ext cx="90487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Times New Roman"/>
              </a:rPr>
              <a:t>Kebiasaan membubarkan tim pengawas sesaat sesudah implementasi, gagal membuktikan manfaat di tahun berikutnya.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30799" y="3849885"/>
            <a:ext cx="6699200" cy="11772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30799" y="3849885"/>
            <a:ext cx="38100" cy="11772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8055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Review Jurnal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3617170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Penggunaan Val IT Framework 2.0 Untuk Menilai Investasi 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40160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Times New Roman"/>
              </a:rPr>
              <a:t>Studi Kasus Aplikasi SIA di Universitas Terbuka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97360"/>
            <a:ext cx="4187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Times New Roman"/>
              </a:rPr>
              <a:t>PENULIS &amp;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35485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50505"/>
                </a:solidFill>
                <a:latin typeface="Times New Roman"/>
              </a:rPr>
              <a:t>Diovanny L. A., Dr. Sumiyana (2018)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99" y="154305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LATAR BELAKANG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799" y="1824930"/>
            <a:ext cx="6794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Menilai investasi SIA agar TI berfungsi sebagai alat keputusan strategis, bukan sekadar alat operasional, guna menekan fenomena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burning money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799" y="256788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METODOLOGI &amp; TEMUAN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399" y="4040385"/>
            <a:ext cx="72326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KESIMPULAN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9399" y="4322266"/>
            <a:ext cx="637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Kapabilitas operasional TI sangat mumpuni. Butuh paradigma baru agar pimpinan menggunakan data SIA untuk merumuskan arah kebijakan masa depan.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149" y="284976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1299" y="2849760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Kualitatif pengukuran Maturity Level. VG (Level 3), PM (Level 2), IM (Level 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149" y="310693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3106935"/>
            <a:ext cx="6603950" cy="514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Prosedur tata kelola sudah dibakukan, namun implementasi belum konsisten karena kendala pemahaman SDM.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30799" y="3592710"/>
            <a:ext cx="6699200" cy="117723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30799" y="3592710"/>
            <a:ext cx="38100" cy="117723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3805553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Review Jurnal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43050"/>
            <a:ext cx="3617170" cy="817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50505"/>
                </a:solidFill>
                <a:latin typeface="Times New Roman"/>
              </a:rPr>
              <a:t>Penggunaan Val IT Untuk Perencanaan Investasi Teknologi Informasi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12516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64748B"/>
                </a:solidFill>
                <a:latin typeface="Times New Roman"/>
              </a:rPr>
              <a:t>Studi Kasus: AMIK Panca Bhakti Pontianak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969716"/>
            <a:ext cx="4187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Times New Roman"/>
              </a:rPr>
              <a:t>PENULIS &amp;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07841"/>
            <a:ext cx="4187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50505"/>
                </a:solidFill>
                <a:latin typeface="Times New Roman"/>
              </a:rPr>
              <a:t>A. Shalludin, Kusrini, E. Taufiq L. (2013)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0799" y="154305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LATAR BELAKANG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799" y="1824930"/>
            <a:ext cx="6794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Kebutuhan perencanaan proyek lab komputer yang presisi untuk membandingkan janji manfaat operasional dengan besaran biaya modal (CapEx).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0799" y="2567880"/>
            <a:ext cx="74612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2563EB"/>
                </a:solidFill>
                <a:latin typeface="Times New Roman"/>
              </a:rPr>
              <a:t>METODOLOGI &amp; TEMUAN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399" y="3783210"/>
            <a:ext cx="7232600" cy="205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50505"/>
                </a:solidFill>
                <a:latin typeface="Times New Roman"/>
              </a:rPr>
              <a:t>KESIMPULAN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9399" y="4065091"/>
            <a:ext cx="637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Melalui </a:t>
            </a:r>
            <a:r>
              <a:rPr sz="1350" b="0" i="1" u="none">
                <a:solidFill>
                  <a:srgbClr val="475569"/>
                </a:solidFill>
                <a:latin typeface="Times New Roman"/>
              </a:rPr>
              <a:t>Business Case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 dan kalkulasi (NPV, IRR, Net B/C positif), manajemen mendapat bukti akurat bahwa proyek bernilai dan layak dieksekusi.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149" y="2849760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1299" y="2849760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Kuesioner diterjemahkan ke prototyping software Sistem Pendukung Keputusan (SPK).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149" y="3106935"/>
            <a:ext cx="571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1299" y="3106935"/>
            <a:ext cx="7270700" cy="257175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Investasi 100% selaras dengan Renstra (target akreditasi &amp; kualitas IPK lulusan).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055340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50505"/>
                </a:solidFill>
                <a:latin typeface="Times New Roman"/>
              </a:rPr>
              <a:t>Kesimpulan Akhir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6875" y="2122140"/>
            <a:ext cx="61570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2563EB"/>
                </a:solidFill>
                <a:latin typeface="Times New Rom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3529905"/>
            <a:ext cx="626268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2563EB"/>
                </a:solidFill>
                <a:latin typeface="Times New Roman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2069" y="4937670"/>
            <a:ext cx="1538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0070C0"/>
                </a:solidFill>
                <a:latin typeface="Times New Roman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8301" y="2122140"/>
            <a:ext cx="9823698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 dirty="0">
                <a:solidFill>
                  <a:srgbClr val="050505"/>
                </a:solidFill>
                <a:latin typeface="Times New Roman"/>
              </a:rPr>
              <a:t>Kompas </a:t>
            </a:r>
            <a:r>
              <a:rPr sz="1800" b="1" i="0" u="none" dirty="0" err="1">
                <a:solidFill>
                  <a:srgbClr val="050505"/>
                </a:solidFill>
                <a:latin typeface="Times New Roman"/>
              </a:rPr>
              <a:t>Navigasi</a:t>
            </a:r>
            <a:r>
              <a:rPr sz="1800" b="1" i="0" u="none" dirty="0">
                <a:solidFill>
                  <a:srgbClr val="050505"/>
                </a:solidFill>
                <a:latin typeface="Times New Roman"/>
              </a:rPr>
              <a:t> </a:t>
            </a:r>
            <a:r>
              <a:rPr sz="1800" b="1" i="0" u="none" dirty="0" err="1">
                <a:solidFill>
                  <a:srgbClr val="050505"/>
                </a:solidFill>
                <a:latin typeface="Times New Roman"/>
              </a:rPr>
              <a:t>Investasi</a:t>
            </a:r>
            <a:endParaRPr sz="1800" b="1" i="0" u="none" dirty="0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8301" y="2472630"/>
            <a:ext cx="810919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Aturan dasar yang mengawal korporat memastikan rupiah yang dikeluarkan untuk digitalisasi memberi timbal balik ekonomi setimpal.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8868" y="3529905"/>
            <a:ext cx="9813131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Sinergi Absolut (Val IT + COBIT)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8868" y="3880395"/>
            <a:ext cx="809863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Val IT menjamin organisasi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memilih proyek yang tepat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, sementara COBIT menjamin organisasi </a:t>
            </a:r>
            <a:r>
              <a:rPr sz="1350" b="1" i="0" u="none">
                <a:solidFill>
                  <a:srgbClr val="475569"/>
                </a:solidFill>
                <a:latin typeface="Times New Roman"/>
              </a:rPr>
              <a:t>membangunnya dengan tepat</a:t>
            </a:r>
            <a:r>
              <a:rPr sz="1350" b="0" i="0" u="none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6876" y="4937670"/>
            <a:ext cx="9795123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50505"/>
                </a:solidFill>
                <a:latin typeface="Times New Roman"/>
              </a:rPr>
              <a:t>Tiga Kunci Kesuksesan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6876" y="5288160"/>
            <a:ext cx="8080623" cy="489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Sia-sia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tanpa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: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komitmen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penuh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Direksi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keselarasan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sinergis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bisnis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-TI, dan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disiplin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pantau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indikator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pas</a:t>
            </a:r>
            <a:r>
              <a:rPr lang="en-US" sz="1350" b="0" i="0" u="none" dirty="0" err="1">
                <a:solidFill>
                  <a:srgbClr val="475569"/>
                </a:solidFill>
                <a:latin typeface="Times New Roman"/>
              </a:rPr>
              <a:t>c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aplikasi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Times New Roman"/>
              </a:rPr>
              <a:t>berjalan</a:t>
            </a:r>
            <a:r>
              <a:rPr sz="1350" b="0" i="0" u="none" dirty="0">
                <a:solidFill>
                  <a:srgbClr val="475569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471" y="2790825"/>
            <a:ext cx="3879056" cy="504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0" y="3905250"/>
            <a:ext cx="7620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50685" y="1830734"/>
            <a:ext cx="6290629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FFFFF"/>
                </a:solidFill>
                <a:latin typeface="Times New Roman"/>
              </a:rPr>
              <a:t>TERIMA KASIH!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189" y="2905125"/>
            <a:ext cx="4391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FFFFFF"/>
                </a:solidFill>
                <a:latin typeface="Times New Roman"/>
              </a:rPr>
              <a:t>SESI DISKUSI &amp; TANYA JAWAB (Q&amp;A)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4295775"/>
            <a:ext cx="9525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1" u="none">
                <a:solidFill>
                  <a:srgbClr val="94A3B8"/>
                </a:solidFill>
                <a:latin typeface="Times New Roman"/>
              </a:rPr>
              <a:t>"TI bukanlah sebuah tujuan akhir, melainkan sarana pendukung paling krusial untuk mencapai tujuan bisnis organisasi."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257300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PERTANYAAN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21717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2171700"/>
            <a:ext cx="104775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3 domain utama yang membentuk struktur kerangka kerja VAL IT (Tiga Komponen Arsitektur VAL 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268605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2686050"/>
            <a:ext cx="882271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hubungan antara tatakelola keuangan dengan tatakelola IT dan mengapa itu penting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32004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4500" y="3200400"/>
            <a:ext cx="923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prinsip-prinsip tata kelola inti yang mendasari siklus hidup investasi TI dalam VAL IT. (Slide Cara Kerja &amp; Prinsip Dasar)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500" y="4000500"/>
            <a:ext cx="923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Jelaskan mengapa VAL IT memiliki dampak siginifikan dalam mencapai tujuan perusahaan (slide manfaat bagi organisasi)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80060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4800600"/>
            <a:ext cx="864523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Mengapa transparansi dan akuntabilitas menjadi pilar penting dalam implementasi VAL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5314950"/>
            <a:ext cx="5143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Times New Roman"/>
              </a:rP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5314950"/>
            <a:ext cx="857417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Times New Roman"/>
              </a:rPr>
              <a:t>Apa tantangan terbesar yang biasanya dihadapi organisasi pada tahap awal adopsi VAL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85750" y="1128712"/>
            <a:ext cx="127635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000000"/>
                </a:solidFill>
                <a:latin typeface="Times New Roman"/>
              </a:rPr>
              <a:t>JAWABAN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90712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1. Tiga Domain Arsitektur VAL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9551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Val IT terdiri dari Value Governance untuk menetapkan aturan dan arah, Portfolio Management untuk memilih prioritas investasi, dan Investment Management untuk memastikan hasil akhir investasi benar-benar tercapai.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271837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2. Hubungan Tatakelola Keuangan &amp;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76637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Keuangan berperan merencanakan anggaran biaya, sementara IT mengeksekusi solusi teknis. Keduanya harus saling berkoordinasi secara erat agar investasi tepat sasaran dan terhindar dari miskomunikasi.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652962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64748B"/>
                </a:solidFill>
                <a:latin typeface="Times New Roman"/>
              </a:rPr>
              <a:t>3. Prinsip Inti Tata Kelola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95776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Prinsipnya berpegang pada investasi holistik yang mencakup kesiapan SDM, realisasi nilai aktif yang selalu dipantau setelah rilis, dan perhitungan Business Case untuk menilai kelayakan awal proyek.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890712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2563EB"/>
                </a:solidFill>
                <a:latin typeface="Times New Roman"/>
              </a:rPr>
              <a:t>4. Dampak Signifikan bagi Perusahaan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19551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Kerangka ini menjamin pengeluaran teknologi tidak menjadi pemborosan dengan cara menyeleksi dan mendanai proyek yang paling memberikan manfaat bisnis nyata serta menekan risiko kerugian.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27183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000000"/>
                </a:solidFill>
                <a:latin typeface="Times New Roman"/>
              </a:rPr>
              <a:t>5. Pilar Transparansi &amp; Akuntabilitas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76637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Transparansi menjamin keterbukaan proses alokasi anggaran, sedangkan akuntabilitas memastikan setiap pihak bertanggung jawab. Hal ini membuat dana perusahaan selalu dapat diawasi secara objektif.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652962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64748B"/>
                </a:solidFill>
                <a:latin typeface="Times New Roman"/>
              </a:rPr>
              <a:t>6. Tantangan Awal Adopsi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4957762"/>
            <a:ext cx="523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Times New Roman"/>
              </a:rPr>
              <a:t>Hambatan terbesar adalah resistensi pengguna terhadap komitmen tanggung jawab, manipulasi angka estimasi keuntungan proyek, serta kebiasaan buruk tidak mengevaluasi performa sistem pasca-rilis.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1805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Akhmad Khilman</dc:creator>
  <cp:keywords/>
  <dc:description>generated using python-pptx</dc:description>
  <cp:lastModifiedBy>AKHMAD KHILMAN</cp:lastModifiedBy>
  <cp:revision>12</cp:revision>
  <dcterms:created xsi:type="dcterms:W3CDTF">2013-01-27T09:14:16Z</dcterms:created>
  <dcterms:modified xsi:type="dcterms:W3CDTF">2026-10-14T02:16:44Z</dcterms:modified>
  <cp:category/>
</cp:coreProperties>
</file>