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Plus Jakarta Sans" panose="020B0604020202020204" charset="0"/>
      <p:regular r:id="rId16"/>
      <p:bold r:id="rId17"/>
      <p:italic r:id="rId18"/>
      <p:boldItalic r:id="rId19"/>
    </p:embeddedFont>
    <p:embeddedFont>
      <p:font typeface="Space Grotesk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72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2996951"/>
            <a:ext cx="10972800" cy="145732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5857726"/>
            <a:ext cx="109728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5857726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09600" y="495300"/>
            <a:ext cx="2800350" cy="228600"/>
          </a:xfrm>
          <a:prstGeom prst="roundRect">
            <a:avLst>
              <a:gd name="adj" fmla="val 16666"/>
            </a:avLst>
          </a:prstGeom>
          <a:solidFill>
            <a:srgbClr val="0F30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3254126"/>
            <a:ext cx="157162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609600" y="838200"/>
            <a:ext cx="11582400" cy="46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KERANGKA KERJA TATA KELOLA TI: VAL IT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1374427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Memastikan Nilai Investasi TI yang Nyata &amp; Terukur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47725" y="3235076"/>
            <a:ext cx="113442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DISUSUN OLEH — KELOMPOK: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23900" y="533400"/>
            <a:ext cx="2667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TATA KELOLA TEKNOLOGI INFORMASI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524250" y="523875"/>
            <a:ext cx="18692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ISACA / ITGI Framework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6019651"/>
            <a:ext cx="258365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Mata Kuliah: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[Kelas / Mata Kuliah]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09600" y="6191101"/>
            <a:ext cx="258365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Dosen Pengampu: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[Nama Dosen]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415462" y="6029176"/>
            <a:ext cx="216693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[Instansi / Perguruan Tinggi]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9415462" y="6200626"/>
            <a:ext cx="216693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Oktober 2026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847725" y="3520826"/>
            <a:ext cx="64174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[Nama Anggota 1] — 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[NIM]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847725" y="3778001"/>
            <a:ext cx="64174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[Nama Anggota 2] — 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[NIM]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847725" y="4035176"/>
            <a:ext cx="64174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[Nama Anggota 3] — 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[NIM]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210300" y="3520826"/>
            <a:ext cx="59817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[Nama Anggota 4] — 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[NIM]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210300" y="3778001"/>
            <a:ext cx="59817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[Nama Anggota 5] — 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[NIM]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6210300" y="4035176"/>
            <a:ext cx="59817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[Nama Anggota 6] — 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[NIM]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/>
          <p:nvPr/>
        </p:nvSpPr>
        <p:spPr>
          <a:xfrm>
            <a:off x="7581900" y="2374552"/>
            <a:ext cx="4000500" cy="3099345"/>
          </a:xfrm>
          <a:prstGeom prst="roundRect">
            <a:avLst>
              <a:gd name="adj" fmla="val 491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09600" y="2457450"/>
            <a:ext cx="6591300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09600" y="4019550"/>
            <a:ext cx="6591300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7924800" y="4759523"/>
            <a:ext cx="3314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09600" y="2457450"/>
            <a:ext cx="381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09600" y="4019550"/>
            <a:ext cx="38100" cy="137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7924800" y="4759523"/>
            <a:ext cx="3314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271745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609600" y="533400"/>
            <a:ext cx="11582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ISACA / ITGI  FRAMEWORK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Sejarah &amp; Asal-Usul VAL IT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924800" y="3288952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Pertanyaan Inti Direksi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924800" y="3708052"/>
            <a:ext cx="34099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“Apakah investasi teknologi informasi ini benar-benar memberikan nilai bisnis nyata &amp; terukur?”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76300" y="2686050"/>
            <a:ext cx="7620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2004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76300" y="2962275"/>
            <a:ext cx="8001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Peluncuran Perdana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76300" y="3238500"/>
            <a:ext cx="6191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Edisi pertama Val IT 1.0 resmi diluncurkan oleh ISACA / ITGI sebagai panduan evaluasi nilai investasi.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76300" y="4248150"/>
            <a:ext cx="7620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COBIT &amp; Risk IT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76300" y="4524375"/>
            <a:ext cx="8001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Penyelarasan Terstruktur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876300" y="4800600"/>
            <a:ext cx="6191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Diselaraskan penuh dengan COBIT 4.1 dan Risk IT untuk melengkapi domain tata kelola finansial.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7924800" y="4959548"/>
            <a:ext cx="41433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Panduan Khusus Manajemen Nilai Investasi TI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609600" y="2838450"/>
            <a:ext cx="2600325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3400425" y="2838450"/>
            <a:ext cx="2600325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6191250" y="2838450"/>
            <a:ext cx="2600325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8982075" y="2838450"/>
            <a:ext cx="2600325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847725" y="3114675"/>
            <a:ext cx="695325" cy="333375"/>
          </a:xfrm>
          <a:prstGeom prst="roundRect">
            <a:avLst>
              <a:gd name="adj" fmla="val 17142"/>
            </a:avLst>
          </a:prstGeom>
          <a:solidFill>
            <a:srgbClr val="CCF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3638550" y="3114675"/>
            <a:ext cx="1247775" cy="333375"/>
          </a:xfrm>
          <a:prstGeom prst="roundRect">
            <a:avLst>
              <a:gd name="adj" fmla="val 17142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6429375" y="3114675"/>
            <a:ext cx="1143000" cy="333375"/>
          </a:xfrm>
          <a:prstGeom prst="roundRect">
            <a:avLst>
              <a:gd name="adj" fmla="val 17142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9220200" y="3114675"/>
            <a:ext cx="847725" cy="333375"/>
          </a:xfrm>
          <a:prstGeom prst="roundRect">
            <a:avLst>
              <a:gd name="adj" fmla="val 1714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609600" y="533400"/>
            <a:ext cx="11582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EVOLUSI  KERANGKA  KERJA</a:t>
            </a:r>
            <a:endParaRPr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Perkembangan VAL IT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62025" y="3171825"/>
            <a:ext cx="5619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2004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47725" y="3600450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Awal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47725" y="3914775"/>
            <a:ext cx="2219325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Peluncuran Val IT 1.0 dengan fokus pada pemilihan dan prioritas investasi TI organisasi.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3752850" y="3171825"/>
            <a:ext cx="11144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2007–2009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3638550" y="3600450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Penyempurnaan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3638550" y="3914775"/>
            <a:ext cx="2219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Versi 2.0 menambah pengukuran manfaat serta penyelarasan terstruktur dengan Risk IT dan COBIT 4.1.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543675" y="3171825"/>
            <a:ext cx="1009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2012–2019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429375" y="3600450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Integrasi Penuh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429375" y="3914775"/>
            <a:ext cx="2219325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Prinsip Val IT menyatu penuh ke dalam kerangka kerja COBIT 5 dan COBIT 2019.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9334500" y="3171825"/>
            <a:ext cx="714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Era Kini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9220200" y="3600450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Adopsi Industri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9220200" y="3914775"/>
            <a:ext cx="2219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Menjadi acuan standar nilai investasi pada BUMN, perbankan, dan korporasi besar Indonesia.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7581900" y="2248048"/>
            <a:ext cx="4000500" cy="3352502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600" y="2333625"/>
            <a:ext cx="65913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09600" y="3505200"/>
            <a:ext cx="6591300" cy="838200"/>
          </a:xfrm>
          <a:prstGeom prst="roundRect">
            <a:avLst>
              <a:gd name="adj" fmla="val 1136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609600" y="4495800"/>
            <a:ext cx="65913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609600" y="2333625"/>
            <a:ext cx="38100" cy="10191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09600" y="3505200"/>
            <a:ext cx="38100" cy="838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09600" y="4495800"/>
            <a:ext cx="38100" cy="10191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800" y="2590948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609600" y="533400"/>
            <a:ext cx="11582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RELEVANSI  STRATEGIS</a:t>
            </a:r>
            <a:endParaRPr dirty="0"/>
          </a:p>
        </p:txBody>
      </p:sp>
      <p:sp>
        <p:nvSpPr>
          <p:cNvPr id="166" name="Google Shape;166;p16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Mengapa VAL IT Muncul?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7924800" y="3162448"/>
            <a:ext cx="358044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Saling Melengkapi dengan COBIT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7924800" y="3848248"/>
            <a:ext cx="3409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COBIT</a:t>
            </a: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memastikan aktivitas TI dilakukan dengan benar (</a:t>
            </a:r>
            <a:r>
              <a:rPr lang="en-US" sz="1200" b="0" i="1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doing things right</a:t>
            </a:r>
            <a:r>
              <a:rPr lang="en-US" sz="120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7924800" y="4526309"/>
            <a:ext cx="34099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 IT memastikan organisasi memilih investasi yang tepat untuk dibeli (</a:t>
            </a:r>
            <a:r>
              <a:rPr lang="en-US" sz="1200" b="1" i="1" u="none" strike="noStrike" cap="none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doing the right things</a:t>
            </a:r>
            <a:r>
              <a:rPr lang="en-US" sz="1200" b="1" i="0" u="none" strike="noStrike" cap="none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838200" y="2524125"/>
            <a:ext cx="81010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Pengeluaran Tanpa Bukti Manfaat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838200" y="2800350"/>
            <a:ext cx="62674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Anggaran TI membengkak hingga miliaran rupiah, tetapi nilai pengembalian bisnis sulit dibuktikan.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838200" y="3695700"/>
            <a:ext cx="81010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Kesenjangan Bahasa Bisnis &amp; TI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38200" y="3971925"/>
            <a:ext cx="77152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 bisnis fokus profitabilitas, sedangkan tim TI berfokus pada spesifikasi teknis dan fitur.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838200" y="4686300"/>
            <a:ext cx="81010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Risiko Proyek Terbuang Percuma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838200" y="4962525"/>
            <a:ext cx="62674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 TI berhasil dibangun secara teknis, namun tidak diadopsi atau tidak mendukung tujuan perusahaan.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/>
          <p:nvPr/>
        </p:nvSpPr>
        <p:spPr>
          <a:xfrm>
            <a:off x="609600" y="2671762"/>
            <a:ext cx="3505200" cy="2543175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343400" y="2671762"/>
            <a:ext cx="3505200" cy="2543175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077200" y="2671762"/>
            <a:ext cx="3505200" cy="2543175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25" y="2986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9625" y="2986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53425" y="2986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9650" y="310991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3450" y="310991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7250" y="310991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609600" y="533400"/>
            <a:ext cx="11582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FILOSOFI  UTAMA</a:t>
            </a:r>
            <a:endParaRPr dirty="0"/>
          </a:p>
        </p:txBody>
      </p:sp>
      <p:sp>
        <p:nvSpPr>
          <p:cNvPr id="190" name="Google Shape;190;p17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Konsep Dasar VAL IT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885825" y="363378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 Sebagai Investasi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885825" y="3986212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Teknologi informasi dikelola sebagai portofolio investasi pencipta nilai, bukan sekadar beban biaya operasional.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4619625" y="363378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Realisasi Nilai Aktif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4619625" y="3986212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Nilai bisnis tidak muncul otomatis saat sistem berjalan. Nilai harus direncanakan, dikelola, dan dipantau secara berkala.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8353425" y="3633787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Keseimbangan Triade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8353425" y="3986212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Pengambilan keputusan harus menyeimbangkan tiga elemen vital: optimalisasi manfaat, efisiensi biaya, dan mitigasi risiko.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/>
          <p:nvPr/>
        </p:nvSpPr>
        <p:spPr>
          <a:xfrm>
            <a:off x="609600" y="2557462"/>
            <a:ext cx="5343525" cy="2733675"/>
          </a:xfrm>
          <a:prstGeom prst="roundRect">
            <a:avLst>
              <a:gd name="adj" fmla="val 418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257925" y="2843212"/>
            <a:ext cx="5324475" cy="2162175"/>
          </a:xfrm>
          <a:prstGeom prst="roundRect">
            <a:avLst>
              <a:gd name="adj" fmla="val 5286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28956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2725" y="317182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3925" y="33385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3925" y="39481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3925" y="45577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62725" y="360521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62725" y="391953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62725" y="423386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62725" y="454818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609600" y="533400"/>
            <a:ext cx="11582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SIKLUS  MANFAAT</a:t>
            </a:r>
            <a:endParaRPr dirty="0"/>
          </a:p>
        </p:txBody>
      </p:sp>
      <p:sp>
        <p:nvSpPr>
          <p:cNvPr id="213" name="Google Shape;213;p18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Tujuan &amp; Manfaat Utama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1209675" y="2871787"/>
            <a:ext cx="588823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Tujuan Strategis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6800850" y="3148012"/>
            <a:ext cx="5391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Manfaat Organisasi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152525" y="3300412"/>
            <a:ext cx="4581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Seleksi Tepat: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Memilih investasi TI yang paling bernilai tinggi bagi bisnis.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1152525" y="3910012"/>
            <a:ext cx="4581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Realisasi Nyata: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Memastikan manfaat bisnis terwujud sesuai rencana awal.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152525" y="4519612"/>
            <a:ext cx="4581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Akuntabilitas Pengukuran: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Mengukur dan melaporkan pengembalian investasi secara transparan.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6800850" y="3576637"/>
            <a:ext cx="53911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Prioritas anggaran transparan &amp; akuntabel.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6800850" y="3890962"/>
            <a:ext cx="53911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Mengurangi pengeluaran terbuang pada proyek tidak efektif.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6800850" y="4205287"/>
            <a:ext cx="53911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Menjembatani komunikasi sinergis bisnis &amp; tim TI.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6800850" y="4519612"/>
            <a:ext cx="53911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Meningkatkan kepercayaan bagi pemegang saham.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/>
          <p:nvPr/>
        </p:nvSpPr>
        <p:spPr>
          <a:xfrm>
            <a:off x="609600" y="3362325"/>
            <a:ext cx="10972800" cy="828675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609600" y="1400175"/>
            <a:ext cx="3530649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4330749" y="1400175"/>
            <a:ext cx="3530649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8051899" y="1400175"/>
            <a:ext cx="3530649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847725" y="1676400"/>
            <a:ext cx="714375" cy="219075"/>
          </a:xfrm>
          <a:prstGeom prst="roundRect">
            <a:avLst>
              <a:gd name="adj" fmla="val 17391"/>
            </a:avLst>
          </a:prstGeom>
          <a:solidFill>
            <a:srgbClr val="CCF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9600" y="308610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609600" y="1400175"/>
            <a:ext cx="3530649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609600" y="1400175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4130724" y="1400175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4568874" y="1676400"/>
            <a:ext cx="733425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4330749" y="308610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4330749" y="1400175"/>
            <a:ext cx="3530649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330749" y="1400175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7851874" y="1400175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8290024" y="1676400"/>
            <a:ext cx="733425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8051899" y="308610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8051899" y="1400175"/>
            <a:ext cx="3530649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8051899" y="1400175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11573023" y="1400175"/>
            <a:ext cx="9525" cy="1695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5537" y="3852862"/>
            <a:ext cx="762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4862" y="3852862"/>
            <a:ext cx="762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8012" y="3852862"/>
            <a:ext cx="762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9262" y="3852862"/>
            <a:ext cx="762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 txBox="1"/>
          <p:nvPr/>
        </p:nvSpPr>
        <p:spPr>
          <a:xfrm>
            <a:off x="609600" y="495300"/>
            <a:ext cx="11582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STRUKTUR  DOMAIN</a:t>
            </a:r>
            <a:endParaRPr dirty="0"/>
          </a:p>
        </p:txBody>
      </p:sp>
      <p:sp>
        <p:nvSpPr>
          <p:cNvPr id="251" name="Google Shape;251;p19"/>
          <p:cNvSpPr txBox="1"/>
          <p:nvPr/>
        </p:nvSpPr>
        <p:spPr>
          <a:xfrm>
            <a:off x="609600" y="7239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Arsitektur Tiga Domain VAL IT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876300" y="3552825"/>
            <a:ext cx="113157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ALUR CARA KERJA SISTEMIS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923925" y="1714500"/>
            <a:ext cx="657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DOMAIN 1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847725" y="1962150"/>
            <a:ext cx="40088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 Governance (VG)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847725" y="2257425"/>
            <a:ext cx="31496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Tata Kelola Nilai: Menetapkan kebijakan, arah strategis, dan tanggung jawab dewan manajemen.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4645074" y="1714500"/>
            <a:ext cx="6762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DOMAIN 2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4568874" y="1962150"/>
            <a:ext cx="40088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Portfolio Management (PM)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4568874" y="2257425"/>
            <a:ext cx="31496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Manajemen Portofolio: Memilih, memprioritaskan, dan mengalokasikan sumber daya investasi TI.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8366224" y="1714500"/>
            <a:ext cx="6762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DOMAIN 3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8290024" y="1962150"/>
            <a:ext cx="39019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Investment Realization (RV)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8290024" y="2257425"/>
            <a:ext cx="314964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Realisasi Nilai: Merencanakan program, melacak eksekusi, hingga manfaat bisnis tercapai penuh.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733425" y="3819525"/>
            <a:ext cx="1285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Rencanakan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2847975" y="3819525"/>
            <a:ext cx="13906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Pilih Investasi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5056584" y="3819525"/>
            <a:ext cx="153590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Kelola Program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7394971" y="3819525"/>
            <a:ext cx="1583531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Pantau Manfaat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9761934" y="3819525"/>
            <a:ext cx="172640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Pertahankan Nilai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/>
          <p:nvPr/>
        </p:nvSpPr>
        <p:spPr>
          <a:xfrm>
            <a:off x="4533900" y="2181225"/>
            <a:ext cx="70485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4533900" y="3352800"/>
            <a:ext cx="70485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4533900" y="4524375"/>
            <a:ext cx="70485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4533900" y="2181225"/>
            <a:ext cx="38100" cy="10191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4533900" y="3352800"/>
            <a:ext cx="38100" cy="10191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4533900" y="4524375"/>
            <a:ext cx="38100" cy="10191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862137"/>
            <a:ext cx="36195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1871662"/>
            <a:ext cx="36004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0"/>
          <p:cNvSpPr txBox="1"/>
          <p:nvPr/>
        </p:nvSpPr>
        <p:spPr>
          <a:xfrm>
            <a:off x="609600" y="495300"/>
            <a:ext cx="11582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IMPLEMENTASI  INDUSTRI</a:t>
            </a:r>
            <a:endParaRPr dirty="0"/>
          </a:p>
        </p:txBody>
      </p:sp>
      <p:sp>
        <p:nvSpPr>
          <p:cNvPr id="280" name="Google Shape;280;p20"/>
          <p:cNvSpPr txBox="1"/>
          <p:nvPr/>
        </p:nvSpPr>
        <p:spPr>
          <a:xfrm>
            <a:off x="609600" y="7239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Penerapan Nyata: Bank Mandiri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4762500" y="2371725"/>
            <a:ext cx="7429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Tata Kelola Nilai (VG)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4762500" y="2609850"/>
            <a:ext cx="6724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Direksi menetapkan syarat mutlak: seluruh proyek TI wajib mendukung sasaran strategis menjadi </a:t>
            </a:r>
            <a:r>
              <a:rPr lang="en-US" sz="1125" b="0" i="1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bank digital terdepan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4762500" y="3543300"/>
            <a:ext cx="7429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Manajemen Portofolio (PM)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4762500" y="3781425"/>
            <a:ext cx="6724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Memprioritaskan pengembangan aplikasi Livin' dan core banking berbasis kalkulasi dampak nilai bisnis konkret.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4762500" y="4714875"/>
            <a:ext cx="7429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Realisasi Nilai (RV)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4762500" y="4953000"/>
            <a:ext cx="6724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Memantau pertumbuhan transaksi digital, penurunan biaya operasional cabang, dan ekspansi pangsa pasar digital.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/>
          <p:nvPr/>
        </p:nvSpPr>
        <p:spPr>
          <a:xfrm>
            <a:off x="609600" y="2333625"/>
            <a:ext cx="539115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6191250" y="2333625"/>
            <a:ext cx="539115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609600" y="4019550"/>
            <a:ext cx="539115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6191250" y="4019550"/>
            <a:ext cx="5391150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25717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9375" y="257175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7725" y="42576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29375" y="42576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 txBox="1"/>
          <p:nvPr/>
        </p:nvSpPr>
        <p:spPr>
          <a:xfrm>
            <a:off x="609600" y="533400"/>
            <a:ext cx="11582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KEUNGGULAN  KERANGKA</a:t>
            </a:r>
            <a:endParaRPr dirty="0"/>
          </a:p>
        </p:txBody>
      </p:sp>
      <p:sp>
        <p:nvSpPr>
          <p:cNvPr id="300" name="Google Shape;300;p21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Kelebihan Utama VAL IT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847725" y="2914650"/>
            <a:ext cx="64508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Bahasa Bersama Bisnis &amp; TI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847725" y="3190875"/>
            <a:ext cx="5010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Penyelarasan bahasa komunikasi antara eksekutif keuangan dan tim teknis.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6429375" y="2914650"/>
            <a:ext cx="5762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Pencegahan Pemborosan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6429375" y="3190875"/>
            <a:ext cx="5010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Penghentian dini bagi proyek yang tidak terbukti memberikan dampak ekonomi positif.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847725" y="4600575"/>
            <a:ext cx="64508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Pengukuran Terstruktur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847725" y="4876800"/>
            <a:ext cx="5010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Perencanaan dan pelaporan sistematis untuk manfaat finansial maupun non-finansial.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6429375" y="4600575"/>
            <a:ext cx="5762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Integrasi Standar Global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6429375" y="4876800"/>
            <a:ext cx="5762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Kompatibilitas tinggi dengan COBIT, Risk IT, dan ekosistem ITIL.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"/>
          <p:cNvSpPr/>
          <p:nvPr/>
        </p:nvSpPr>
        <p:spPr>
          <a:xfrm>
            <a:off x="609600" y="2959893"/>
            <a:ext cx="3505200" cy="1928812"/>
          </a:xfrm>
          <a:prstGeom prst="roundRect">
            <a:avLst>
              <a:gd name="adj" fmla="val 5925"/>
            </a:avLst>
          </a:prstGeom>
          <a:solidFill>
            <a:srgbClr val="FFF5F5"/>
          </a:solidFill>
          <a:ln w="9525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4343400" y="2959893"/>
            <a:ext cx="3505200" cy="1928812"/>
          </a:xfrm>
          <a:prstGeom prst="roundRect">
            <a:avLst>
              <a:gd name="adj" fmla="val 5925"/>
            </a:avLst>
          </a:prstGeom>
          <a:solidFill>
            <a:srgbClr val="FFF5F5"/>
          </a:solidFill>
          <a:ln w="9525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8077200" y="2959893"/>
            <a:ext cx="3505200" cy="1928812"/>
          </a:xfrm>
          <a:prstGeom prst="roundRect">
            <a:avLst>
              <a:gd name="adj" fmla="val 5925"/>
            </a:avLst>
          </a:prstGeom>
          <a:solidFill>
            <a:srgbClr val="FFF5F5"/>
          </a:solidFill>
          <a:ln w="9525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3236118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1525" y="3236118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5325" y="3236118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2"/>
          <p:cNvSpPr txBox="1"/>
          <p:nvPr/>
        </p:nvSpPr>
        <p:spPr>
          <a:xfrm>
            <a:off x="609600" y="533400"/>
            <a:ext cx="11582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BATASAN  KERANGKA  KERJA</a:t>
            </a:r>
            <a:endParaRPr dirty="0"/>
          </a:p>
        </p:txBody>
      </p:sp>
      <p:sp>
        <p:nvSpPr>
          <p:cNvPr id="320" name="Google Shape;320;p22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Kekurangan &amp; Keterbatasan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847725" y="3655218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Manfaat Kualitatif Rumit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847725" y="3969543"/>
            <a:ext cx="31242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Sulit mengonversi nilai kepuasan pelanggan atau citra merek ke dalam finansial presisi.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4581525" y="3655218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Minim Panduan Teknis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4581525" y="3969543"/>
            <a:ext cx="31242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Bersifat konseptual tingkat tinggi; memerlukan COBIT untuk rincian eksekusi operasional.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8315325" y="3655218"/>
            <a:ext cx="3876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Syarat Kematangan Tinggi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8315325" y="3969543"/>
            <a:ext cx="31242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Penerapan terhambat jika struktur pengambilan keputusan organisasi belum tertata rapi.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3"/>
          <p:cNvSpPr/>
          <p:nvPr/>
        </p:nvSpPr>
        <p:spPr>
          <a:xfrm>
            <a:off x="609600" y="254317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609600" y="351472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609600" y="448627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609600" y="533400"/>
            <a:ext cx="11582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MITIGASI  EKSEKUSI</a:t>
            </a:r>
            <a:endParaRPr dirty="0"/>
          </a:p>
        </p:txBody>
      </p:sp>
      <p:sp>
        <p:nvSpPr>
          <p:cNvPr id="335" name="Google Shape;335;p23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Tantangan Penerapan Utama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885825" y="2833687"/>
            <a:ext cx="6286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885825" y="3805237"/>
            <a:ext cx="6286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885825" y="4776787"/>
            <a:ext cx="6286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1419225" y="2743200"/>
            <a:ext cx="697587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Transformasi Pola Pikir (Mindset Shift)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1419225" y="2981325"/>
            <a:ext cx="664368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Mendorong divisi bisnis aktif bertanggung jawab atas hasil investasi teknologi.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1419225" y="3714750"/>
            <a:ext cx="581322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Penetapan Indikator Kinerja Tepat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1419225" y="3952875"/>
            <a:ext cx="553640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Menyusun matriks evaluasi kualitatif dan kuantitatif yang objektif.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1419225" y="4686300"/>
            <a:ext cx="713839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Komitmen Berkelanjutan Eksekutif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1419225" y="4924425"/>
            <a:ext cx="67984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Menjaga konsistensi pemantauan nilai dari awal proyek hingga fase operasional.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"/>
          <p:cNvSpPr/>
          <p:nvPr/>
        </p:nvSpPr>
        <p:spPr>
          <a:xfrm>
            <a:off x="609600" y="2390775"/>
            <a:ext cx="10972800" cy="895350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609600" y="3476625"/>
            <a:ext cx="10972800" cy="895350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609600" y="4562475"/>
            <a:ext cx="10972800" cy="895350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609600" y="2390775"/>
            <a:ext cx="38100" cy="8953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609600" y="3476625"/>
            <a:ext cx="38100" cy="8953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609600" y="4562475"/>
            <a:ext cx="38100" cy="8953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270510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300" y="379095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48768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4"/>
          <p:cNvSpPr txBox="1"/>
          <p:nvPr/>
        </p:nvSpPr>
        <p:spPr>
          <a:xfrm>
            <a:off x="609600" y="533400"/>
            <a:ext cx="11582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RANGKUMAN  STRATEGIS</a:t>
            </a:r>
            <a:endParaRPr dirty="0"/>
          </a:p>
        </p:txBody>
      </p:sp>
      <p:sp>
        <p:nvSpPr>
          <p:cNvPr id="359" name="Google Shape;359;p24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Kesimpulan Utama</a:t>
            </a:r>
            <a:endParaRPr/>
          </a:p>
        </p:txBody>
      </p:sp>
      <p:sp>
        <p:nvSpPr>
          <p:cNvPr id="360" name="Google Shape;360;p24"/>
          <p:cNvSpPr txBox="1"/>
          <p:nvPr/>
        </p:nvSpPr>
        <p:spPr>
          <a:xfrm>
            <a:off x="1266825" y="2619375"/>
            <a:ext cx="95636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Pola Pikir Investasi Terkelola</a:t>
            </a:r>
            <a:endParaRPr/>
          </a:p>
        </p:txBody>
      </p:sp>
      <p:sp>
        <p:nvSpPr>
          <p:cNvPr id="361" name="Google Shape;361;p24"/>
          <p:cNvSpPr txBox="1"/>
          <p:nvPr/>
        </p:nvSpPr>
        <p:spPr>
          <a:xfrm>
            <a:off x="1266825" y="2876550"/>
            <a:ext cx="9108281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 IT mengubah pandangan: TI bukan biaya yang ditekan, melainkan investasi strategis yang dikelola aktif.</a:t>
            </a:r>
            <a:endParaRPr/>
          </a:p>
        </p:txBody>
      </p:sp>
      <p:sp>
        <p:nvSpPr>
          <p:cNvPr id="362" name="Google Shape;362;p24"/>
          <p:cNvSpPr txBox="1"/>
          <p:nvPr/>
        </p:nvSpPr>
        <p:spPr>
          <a:xfrm>
            <a:off x="1400175" y="3705225"/>
            <a:ext cx="99637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Sinergi Kuat COBIT + VAL IT</a:t>
            </a:r>
            <a:endParaRPr/>
          </a:p>
        </p:txBody>
      </p:sp>
      <p:sp>
        <p:nvSpPr>
          <p:cNvPr id="363" name="Google Shape;363;p24"/>
          <p:cNvSpPr txBox="1"/>
          <p:nvPr/>
        </p:nvSpPr>
        <p:spPr>
          <a:xfrm>
            <a:off x="1400175" y="3962400"/>
            <a:ext cx="9489281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COBIT menjamin eksekusi proses dengan benar; VAL IT menjamin organisasi memilih hal yang benar untuk dibeli.</a:t>
            </a:r>
            <a:endParaRPr/>
          </a:p>
        </p:txBody>
      </p:sp>
      <p:sp>
        <p:nvSpPr>
          <p:cNvPr id="364" name="Google Shape;364;p24"/>
          <p:cNvSpPr txBox="1"/>
          <p:nvPr/>
        </p:nvSpPr>
        <p:spPr>
          <a:xfrm>
            <a:off x="1333500" y="4791075"/>
            <a:ext cx="912614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Tiga Kunci Keberhasilan Penerapan</a:t>
            </a:r>
            <a:endParaRPr/>
          </a:p>
        </p:txBody>
      </p:sp>
      <p:sp>
        <p:nvSpPr>
          <p:cNvPr id="365" name="Google Shape;365;p24"/>
          <p:cNvSpPr txBox="1"/>
          <p:nvPr/>
        </p:nvSpPr>
        <p:spPr>
          <a:xfrm>
            <a:off x="1333500" y="5048250"/>
            <a:ext cx="869156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Memerlukan komitmen pimpinan eksekutif, keselarasan sinergis bisnis–TI, serta pengukuran konsisten.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5"/>
          <p:cNvSpPr/>
          <p:nvPr/>
        </p:nvSpPr>
        <p:spPr>
          <a:xfrm>
            <a:off x="5191125" y="1532632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1433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4267200" y="4877692"/>
            <a:ext cx="3657600" cy="447675"/>
          </a:xfrm>
          <a:prstGeom prst="roundRect">
            <a:avLst>
              <a:gd name="adj" fmla="val 17021"/>
            </a:avLst>
          </a:prstGeom>
          <a:solidFill>
            <a:srgbClr val="1B2335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1524000" y="3677542"/>
            <a:ext cx="2171700" cy="85725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3848100" y="3677542"/>
            <a:ext cx="2171700" cy="85725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6172200" y="3677542"/>
            <a:ext cx="2171700" cy="85725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8496300" y="3677542"/>
            <a:ext cx="2171700" cy="85725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1524000" y="3677542"/>
            <a:ext cx="28575" cy="8572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3848100" y="3677542"/>
            <a:ext cx="28575" cy="8572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6172200" y="3677542"/>
            <a:ext cx="28575" cy="8572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8496300" y="3677542"/>
            <a:ext cx="28575" cy="8572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0" y="5030092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5"/>
          <p:cNvSpPr txBox="1"/>
          <p:nvPr/>
        </p:nvSpPr>
        <p:spPr>
          <a:xfrm>
            <a:off x="5136356" y="1589782"/>
            <a:ext cx="191928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SESI DISKUSI &amp; Q&amp;A</a:t>
            </a:r>
            <a:endParaRPr dirty="0"/>
          </a:p>
        </p:txBody>
      </p:sp>
      <p:sp>
        <p:nvSpPr>
          <p:cNvPr id="382" name="Google Shape;382;p25"/>
          <p:cNvSpPr txBox="1"/>
          <p:nvPr/>
        </p:nvSpPr>
        <p:spPr>
          <a:xfrm>
            <a:off x="3926978" y="2008882"/>
            <a:ext cx="433804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TERIMA KASIH!</a:t>
            </a:r>
            <a:endParaRPr/>
          </a:p>
        </p:txBody>
      </p:sp>
      <p:sp>
        <p:nvSpPr>
          <p:cNvPr id="383" name="Google Shape;383;p25"/>
          <p:cNvSpPr txBox="1"/>
          <p:nvPr/>
        </p:nvSpPr>
        <p:spPr>
          <a:xfrm>
            <a:off x="1333500" y="2828032"/>
            <a:ext cx="952500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1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“TI BUKANLAH TUJUAN, MELAINKAN SARANA UNTUK MENCAPAI TUJUAN BISNIS”</a:t>
            </a:r>
            <a:endParaRPr/>
          </a:p>
        </p:txBody>
      </p:sp>
      <p:sp>
        <p:nvSpPr>
          <p:cNvPr id="384" name="Google Shape;384;p25"/>
          <p:cNvSpPr txBox="1"/>
          <p:nvPr/>
        </p:nvSpPr>
        <p:spPr>
          <a:xfrm>
            <a:off x="2622411" y="5007874"/>
            <a:ext cx="540781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335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Semoga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bermanfaat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!       </a:t>
            </a:r>
            <a:r>
              <a:rPr lang="en-US" sz="1200" b="1" i="0" u="none" strike="noStrike" cap="none" dirty="0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Ada </a:t>
            </a:r>
            <a:r>
              <a:rPr lang="en-US" sz="1200" b="1" i="0" u="none" strike="noStrike" cap="none" dirty="0" err="1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pertanyaan</a:t>
            </a:r>
            <a:r>
              <a:rPr lang="en-US" sz="1200" b="1" i="0" u="none" strike="noStrike" cap="none" dirty="0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?</a:t>
            </a:r>
            <a:endParaRPr dirty="0"/>
          </a:p>
        </p:txBody>
      </p:sp>
      <p:sp>
        <p:nvSpPr>
          <p:cNvPr id="385" name="Google Shape;385;p25"/>
          <p:cNvSpPr txBox="1"/>
          <p:nvPr/>
        </p:nvSpPr>
        <p:spPr>
          <a:xfrm>
            <a:off x="1743075" y="3848992"/>
            <a:ext cx="220265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Jembatan Bisnis ↔ TI</a:t>
            </a:r>
            <a:endParaRPr/>
          </a:p>
        </p:txBody>
      </p:sp>
      <p:sp>
        <p:nvSpPr>
          <p:cNvPr id="386" name="Google Shape;386;p25"/>
          <p:cNvSpPr txBox="1"/>
          <p:nvPr/>
        </p:nvSpPr>
        <p:spPr>
          <a:xfrm>
            <a:off x="1743075" y="4058542"/>
            <a:ext cx="220265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Bahasa komunikasi bersama</a:t>
            </a:r>
            <a:endParaRPr/>
          </a:p>
        </p:txBody>
      </p:sp>
      <p:sp>
        <p:nvSpPr>
          <p:cNvPr id="387" name="Google Shape;387;p25"/>
          <p:cNvSpPr txBox="1"/>
          <p:nvPr/>
        </p:nvSpPr>
        <p:spPr>
          <a:xfrm>
            <a:off x="4067175" y="3848992"/>
            <a:ext cx="220265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Pilar Utama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4067175" y="4058542"/>
            <a:ext cx="1857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Tata Kelola → Portofolio → Realisasi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6391275" y="3848992"/>
            <a:ext cx="220265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Dipadukan COBIT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6391275" y="4058542"/>
            <a:ext cx="220265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Integrasi tata kelola optimal</a:t>
            </a:r>
            <a:endParaRPr/>
          </a:p>
        </p:txBody>
      </p:sp>
      <p:sp>
        <p:nvSpPr>
          <p:cNvPr id="391" name="Google Shape;391;p25"/>
          <p:cNvSpPr txBox="1"/>
          <p:nvPr/>
        </p:nvSpPr>
        <p:spPr>
          <a:xfrm>
            <a:off x="8715375" y="3848992"/>
            <a:ext cx="220265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Kunci Sukses</a:t>
            </a:r>
            <a:endParaRPr/>
          </a:p>
        </p:txBody>
      </p:sp>
      <p:sp>
        <p:nvSpPr>
          <p:cNvPr id="392" name="Google Shape;392;p25"/>
          <p:cNvSpPr txBox="1"/>
          <p:nvPr/>
        </p:nvSpPr>
        <p:spPr>
          <a:xfrm>
            <a:off x="8715375" y="4058542"/>
            <a:ext cx="1857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Komitmen + Keselarasan + Konsistensi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Microsoft Office PowerPoint</Application>
  <PresentationFormat>Widescreen</PresentationFormat>
  <Paragraphs>144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Plus Jakarta Sans</vt:lpstr>
      <vt:lpstr>Arial</vt:lpstr>
      <vt:lpstr>Calibri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AKHMAD KHILMAN</cp:lastModifiedBy>
  <cp:revision>1</cp:revision>
  <dcterms:modified xsi:type="dcterms:W3CDTF">2026-10-07T02:54:46Z</dcterms:modified>
</cp:coreProperties>
</file>