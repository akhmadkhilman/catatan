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  <p:sldMasterId id="2147483708" r:id="rId2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  <p:sldId id="287" r:id="rId30"/>
    <p:sldId id="288" r:id="rId31"/>
    <p:sldId id="283" r:id="rId32"/>
    <p:sldId id="284" r:id="rId33"/>
    <p:sldId id="28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1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96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9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546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0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0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1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0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2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3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66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2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66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98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893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190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737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7318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00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793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0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36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234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48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021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940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526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52833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279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6086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892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598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70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70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576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65296" y="320040"/>
            <a:ext cx="50309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PENGANTAR DAN DASAR-DASAR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231082" cy="18312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 err="1"/>
              <a:t>Membangun</a:t>
            </a:r>
            <a:r>
              <a:rPr dirty="0"/>
              <a:t> Software yang</a:t>
            </a:r>
            <a:br>
              <a:rPr dirty="0"/>
            </a:br>
            <a:r>
              <a:rPr dirty="0" err="1"/>
              <a:t>Benar</a:t>
            </a:r>
            <a:r>
              <a:rPr dirty="0"/>
              <a:t>, </a:t>
            </a:r>
            <a:r>
              <a:rPr dirty="0" err="1"/>
              <a:t>Berkualitas</a:t>
            </a:r>
            <a:r>
              <a:rPr dirty="0"/>
              <a:t> &amp; </a:t>
            </a:r>
            <a:r>
              <a:rPr dirty="0" err="1"/>
              <a:t>Berkelanjutan</a:t>
            </a:r>
            <a:endParaRPr dirty="0"/>
          </a:p>
          <a:p>
            <a:pPr>
              <a:defRPr sz="2000">
                <a:solidFill>
                  <a:srgbClr val="BED7EB"/>
                </a:solidFill>
              </a:defRPr>
            </a:pPr>
            <a:r>
              <a:rPr dirty="0" err="1"/>
              <a:t>Ceramah</a:t>
            </a:r>
            <a:r>
              <a:rPr dirty="0"/>
              <a:t> • </a:t>
            </a:r>
            <a:r>
              <a:rPr dirty="0" err="1"/>
              <a:t>Diskusi</a:t>
            </a:r>
            <a:r>
              <a:rPr dirty="0"/>
              <a:t> • </a:t>
            </a:r>
            <a:r>
              <a:rPr dirty="0" err="1"/>
              <a:t>Presentasi</a:t>
            </a:r>
            <a:endParaRPr dirty="0"/>
          </a:p>
          <a:p>
            <a:pPr>
              <a:defRPr sz="1700">
                <a:solidFill>
                  <a:srgbClr val="BED7EB"/>
                </a:solidFill>
              </a:defRPr>
            </a:pPr>
            <a:r>
              <a:rPr dirty="0" err="1"/>
              <a:t>Dosen</a:t>
            </a:r>
            <a:r>
              <a:rPr dirty="0"/>
              <a:t>: </a:t>
            </a:r>
            <a:r>
              <a:rPr dirty="0" err="1"/>
              <a:t>M</a:t>
            </a:r>
            <a:r>
              <a:rPr lang="en-US" dirty="0" err="1"/>
              <a:t>anorang</a:t>
            </a:r>
            <a:r>
              <a:rPr lang="en-US" dirty="0"/>
              <a:t> </a:t>
            </a:r>
            <a:r>
              <a:rPr lang="en-US" dirty="0" err="1"/>
              <a:t>Sihotang</a:t>
            </a:r>
            <a:r>
              <a:rPr lang="en-US" dirty="0"/>
              <a:t>, </a:t>
            </a:r>
            <a:r>
              <a:rPr lang="en-US" dirty="0" err="1"/>
              <a:t>M.Kom,Ph.D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ECDDC"/>
                </a:solidFill>
              </a:defRPr>
            </a:pPr>
            <a:r>
              <a:rPr dirty="0"/>
              <a:t>REKAYASA PERANGKAT LUNAK  •  Dr. M. </a:t>
            </a:r>
            <a:r>
              <a:rPr dirty="0" err="1"/>
              <a:t>Ramaddan</a:t>
            </a:r>
            <a:r>
              <a:rPr dirty="0"/>
              <a:t> </a:t>
            </a:r>
            <a:r>
              <a:rPr dirty="0" err="1"/>
              <a:t>Julianti</a:t>
            </a:r>
            <a:r>
              <a:rPr dirty="0"/>
              <a:t>, M.T.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1. APA ITU PERANGKAT LUNAK?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Software adalah sekumpulan program, data, konfigurasi, dan dokumentasi yang memungkinkan komputer/perangkat digital menjalankan fungsi tertentu.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Contoh: Windows, Android, WhatsApp, Google Chrome, Sistem Informasi Akademik, Mobile Banking, E-Commerce, dan aplikasi AI.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Software tidak hanya berupa kode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4160520"/>
            <a:ext cx="4389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0" y="4160520"/>
            <a:ext cx="91440" cy="132588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59168" y="4306824"/>
            <a:ext cx="40233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Komponen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4754880"/>
            <a:ext cx="402335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D35"/>
                </a:solidFill>
              </a:defRPr>
            </a:pPr>
            <a:r>
              <a:rPr dirty="0"/>
              <a:t>Program + Data + </a:t>
            </a:r>
            <a:r>
              <a:rPr dirty="0" err="1"/>
              <a:t>Dokumentasi</a:t>
            </a:r>
            <a:r>
              <a:rPr dirty="0"/>
              <a:t> + </a:t>
            </a:r>
            <a:r>
              <a:rPr dirty="0" err="1"/>
              <a:t>Konfigurasi</a:t>
            </a:r>
            <a:r>
              <a:rPr dirty="0"/>
              <a:t> + </a:t>
            </a:r>
            <a:r>
              <a:rPr dirty="0" err="1"/>
              <a:t>Prosedur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2. DEFINISI REKAYASA PERANGKAT LUNAK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62D35"/>
                </a:solidFill>
                <a:latin typeface="Aptos"/>
              </a:defRPr>
            </a:pPr>
            <a:r>
              <a:t>• RPL (Software Engineering) adalah penerapan pendekatan yang sistematis, disiplin, dan terukur dalam pengembangan, pengoperasian, pemeliharaan, dan evolusi perangkat lunak.</a:t>
            </a:r>
          </a:p>
          <a:p>
            <a:pPr>
              <a:spcAft>
                <a:spcPts val="900"/>
              </a:spcAft>
              <a:defRPr sz="2100">
                <a:solidFill>
                  <a:srgbClr val="262D35"/>
                </a:solidFill>
                <a:latin typeface="Aptos"/>
              </a:defRPr>
            </a:pPr>
            <a:r>
              <a:t>• Secara sederhana: RPL adalah ilmu dan praktik untuk membangun software yang benar, berkualitas, dapat dipelihara, dan memenuhi kebutuhan pengguna.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663440"/>
            <a:ext cx="9966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4663440"/>
            <a:ext cx="91440" cy="8229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4809744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Kata kunci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5257800"/>
            <a:ext cx="96012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Sistematis • Disiplin • Terukur • Berkualitas • Berkelanjutan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3. RPL BUKAN SEKADAR PROGRAMMING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" cy="44805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721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20240"/>
            <a:ext cx="484632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D35"/>
                </a:solidFill>
              </a:defRPr>
            </a:pPr>
            <a:r>
              <a:rPr lang="id-ID"/>
              <a:t>• Fokus pada penulisan kode</a:t>
            </a:r>
            <a:br>
              <a:rPr lang="id-ID"/>
            </a:br>
            <a:r>
              <a:rPr lang="id-ID"/>
              <a:t>• Umumnya individu/tim kecil</a:t>
            </a:r>
            <a:br>
              <a:rPr lang="id-ID"/>
            </a:br>
            <a:r>
              <a:rPr lang="id-ID"/>
              <a:t>• Coding menjadi aktivitas utama</a:t>
            </a:r>
            <a:br>
              <a:rPr lang="id-ID"/>
            </a:br>
            <a:r>
              <a:rPr lang="id-ID"/>
              <a:t>• Fokus membuat program berjalan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91440" cy="44805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47218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REKAYASA PERANGKAT LUNAK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2024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2D35"/>
                </a:solidFill>
              </a:defRPr>
            </a:pPr>
            <a:r>
              <a:t>• Fokus pada keseluruhan proses</a:t>
            </a:r>
            <a:br/>
            <a:r>
              <a:t>• Melibatkan banyak stakeholder</a:t>
            </a:r>
            <a:br/>
            <a:r>
              <a:t>• Memperhatikan kualitas &amp; keberlanjutan</a:t>
            </a:r>
            <a:br/>
            <a:r>
              <a:t>• Analisis → desain → coding → testing → deployment →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4. EVOLUSI PERANGKAT LUNAK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91440" cy="347472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609344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62D35"/>
                </a:solidFill>
              </a:defRPr>
            </a:pPr>
            <a:r>
              <a:t>Mainframe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6304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80360" y="1463040"/>
            <a:ext cx="91440" cy="347472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81528" y="1609344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2057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62D35"/>
                </a:solidFill>
              </a:defRPr>
            </a:pPr>
            <a:r>
              <a:t>Personal</a:t>
            </a:r>
            <a:br/>
            <a:r>
              <a:t>Computer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46304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20640" y="1463040"/>
            <a:ext cx="91440" cy="347472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21807" y="1609344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7" y="2057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62D35"/>
                </a:solidFill>
              </a:defRPr>
            </a:pPr>
            <a:r>
              <a:t>Internet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463040"/>
            <a:ext cx="2103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60920" y="1463040"/>
            <a:ext cx="91440" cy="347472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62088" y="1609344"/>
            <a:ext cx="1737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20574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62D35"/>
                </a:solidFill>
              </a:defRPr>
            </a:pPr>
            <a:r>
              <a:t>Mobile &amp;</a:t>
            </a:r>
            <a:br/>
            <a:r>
              <a:t>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463040"/>
            <a:ext cx="1920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0" y="1463040"/>
            <a:ext cx="91440" cy="347472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02368" y="1609344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057400"/>
            <a:ext cx="1554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AI &amp;</a:t>
            </a:r>
            <a:br/>
            <a:r>
              <a:t>Intelligent</a:t>
            </a:r>
            <a:br/>
            <a:r>
              <a:t>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5. MAINFRAME → PERSONAL COMPUTER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" cy="429768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ERA MAINFRAME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62D35"/>
                </a:solidFill>
              </a:defRPr>
            </a:pPr>
            <a:r>
              <a:t>• Komputer berukuran besar</a:t>
            </a:r>
            <a:br/>
            <a:r>
              <a:t>• Software sangat terbatas</a:t>
            </a:r>
            <a:br/>
            <a:r>
              <a:t>• Program terutama untuk perhitungan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91440" cy="429768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517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ERA PERSONAL 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• Komputer digunakan secara individual</a:t>
            </a:r>
            <a:br/>
            <a:r>
              <a:t>• Muncul aplikasi perkantoran dan database</a:t>
            </a:r>
            <a:br/>
            <a:r>
              <a:t>• Software menjadi produk yang digunakan masyarakat luas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6. INTERNET → MOBILE →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91440" cy="420624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1790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INTERNET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659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D35"/>
                </a:solidFill>
              </a:defRPr>
            </a:pPr>
            <a:r>
              <a:t>Software berbasis jaringan</a:t>
            </a:r>
            <a:br/>
            <a:br/>
            <a:r>
              <a:t>Website dan aplikasi online</a:t>
            </a:r>
            <a:br/>
            <a:br/>
            <a:r>
              <a:t>Sistem semakin terintegrasi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91440" cy="420624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1790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D35"/>
                </a:solidFill>
              </a:defRPr>
            </a:pPr>
            <a:r>
              <a:t>Smartphone menjadi platform utama</a:t>
            </a:r>
            <a:br/>
            <a:br/>
            <a:r>
              <a:t>Aplikasi selalu dekat dengan pengguna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91440" cy="420624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51790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6596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D35"/>
                </a:solidFill>
              </a:defRPr>
            </a:pPr>
            <a:r>
              <a:t>Akses dari berbagai perangkat</a:t>
            </a:r>
            <a:br/>
            <a:br/>
            <a:r>
              <a:t>Infrastruktur elastis dan terdistribusi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7. ERA AI DAN INTELLIGENT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Software berkembang dari sistem berbasis aturan menuju sistem yang mampu belajar, menghasilkan konten, memberi rekomendasi, dan menjalankan tugas.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Search Engine → Recommendation System → Chatbot → Generative AI → AI Agent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Pertanyaan penting: bagaimana memastikan software AI aman, dapat dipercaya, dan bertanggung jawab?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8. TUJUAN REKAYASA PERANGKAT LUNAK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" cy="15087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01 • Kebutuhan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D35"/>
                </a:solidFill>
              </a:defRPr>
            </a:pPr>
            <a:r>
              <a:t>Memenuhi kebutuhan pengguna dan menyelesaikan masalah yang benar.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91440" cy="15087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02 • Kualitas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288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D35"/>
                </a:solidFill>
              </a:defRPr>
            </a:pPr>
            <a:r>
              <a:t>Software bekerja baik dan konsisten.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91440" cy="15087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03 • Waktu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D35"/>
                </a:solidFill>
              </a:defRPr>
            </a:pPr>
            <a:r>
              <a:t>Selesai sesuai target.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063240"/>
            <a:ext cx="91440" cy="15087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2095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04 • Biaya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576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D35"/>
                </a:solidFill>
              </a:defRPr>
            </a:pPr>
            <a:r>
              <a:t>Sesuai anggaran.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0632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3400" y="3063240"/>
            <a:ext cx="91440" cy="15087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44568" y="32095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05 •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6576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D35"/>
                </a:solidFill>
              </a:defRPr>
            </a:pPr>
            <a:r>
              <a:t>Mudah diperbaiki dan dikembangkan.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0632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3063240"/>
            <a:ext cx="91440" cy="15087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32095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06 • Aman &amp; Scalable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6576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62D35"/>
                </a:solidFill>
              </a:defRPr>
            </a:pPr>
            <a:r>
              <a:t>Melindungi data dan mampu berkembang.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9. MASALAH UTAMA: REQUIREMENTS BERUBAH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Pengguna sering mengubah kebutuhan selama proyek berlangsung.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Contoh: awalnya hanya login + transaksi.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Kemudian diminta: pembayaran digital + notifikasi + laporan + AI chatbot + integrasi WhatsApp.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RPL membutuhkan elicitation, prioritas kebutuhan, dokumentasi, dan change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10. MASALAH UTAMA: KOMPLEKSITAS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2D35"/>
                </a:solidFill>
                <a:latin typeface="Aptos"/>
              </a:defRPr>
            </a:pPr>
            <a:r>
              <a:rPr dirty="0"/>
              <a:t>• Software </a:t>
            </a:r>
            <a:r>
              <a:rPr dirty="0" err="1"/>
              <a:t>sederhana</a:t>
            </a:r>
            <a:r>
              <a:rPr dirty="0"/>
              <a:t>: Login → Dashboard → Logout.</a:t>
            </a:r>
          </a:p>
          <a:p>
            <a:pPr>
              <a:spcAft>
                <a:spcPts val="900"/>
              </a:spcAft>
              <a:defRPr sz="18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akademik</a:t>
            </a:r>
            <a:r>
              <a:rPr dirty="0"/>
              <a:t>: </a:t>
            </a:r>
            <a:r>
              <a:rPr dirty="0" err="1"/>
              <a:t>Mahasiswa</a:t>
            </a:r>
            <a:r>
              <a:rPr dirty="0"/>
              <a:t> → </a:t>
            </a:r>
            <a:r>
              <a:rPr dirty="0" err="1"/>
              <a:t>Dosen</a:t>
            </a:r>
            <a:r>
              <a:rPr dirty="0"/>
              <a:t> → KRS → </a:t>
            </a:r>
            <a:r>
              <a:rPr dirty="0" err="1"/>
              <a:t>Jadwal</a:t>
            </a:r>
            <a:r>
              <a:rPr dirty="0"/>
              <a:t> → Nilai → </a:t>
            </a:r>
            <a:r>
              <a:rPr dirty="0" err="1"/>
              <a:t>Keuangan</a:t>
            </a:r>
            <a:r>
              <a:rPr dirty="0"/>
              <a:t> → </a:t>
            </a:r>
            <a:r>
              <a:rPr dirty="0" err="1"/>
              <a:t>PDDikti</a:t>
            </a:r>
            <a:r>
              <a:rPr dirty="0"/>
              <a:t> → API → Database.</a:t>
            </a:r>
          </a:p>
          <a:p>
            <a:pPr>
              <a:spcAft>
                <a:spcPts val="900"/>
              </a:spcAft>
              <a:defRPr sz="18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besar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, </a:t>
            </a:r>
            <a:r>
              <a:rPr dirty="0" err="1"/>
              <a:t>semakin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</a:t>
            </a:r>
            <a:r>
              <a:rPr dirty="0" err="1"/>
              <a:t>dependensi</a:t>
            </a:r>
            <a:r>
              <a:rPr dirty="0"/>
              <a:t> dan </a:t>
            </a:r>
            <a:r>
              <a:rPr dirty="0" err="1"/>
              <a:t>risiko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8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Kompleksitas</a:t>
            </a:r>
            <a:r>
              <a:rPr dirty="0"/>
              <a:t> </a:t>
            </a:r>
            <a:r>
              <a:rPr dirty="0" err="1"/>
              <a:t>dikendalikan</a:t>
            </a:r>
            <a:r>
              <a:rPr dirty="0"/>
              <a:t> </a:t>
            </a:r>
            <a:r>
              <a:rPr dirty="0" err="1"/>
              <a:t>melalui</a:t>
            </a:r>
            <a:r>
              <a:rPr dirty="0"/>
              <a:t> </a:t>
            </a:r>
            <a:r>
              <a:rPr dirty="0" err="1"/>
              <a:t>arsitektur</a:t>
            </a:r>
            <a:r>
              <a:rPr dirty="0"/>
              <a:t>, </a:t>
            </a:r>
            <a:r>
              <a:rPr dirty="0" err="1"/>
              <a:t>modularisasi</a:t>
            </a:r>
            <a:r>
              <a:rPr dirty="0"/>
              <a:t>, </a:t>
            </a:r>
            <a:r>
              <a:rPr dirty="0" err="1"/>
              <a:t>dokumentasi</a:t>
            </a:r>
            <a:r>
              <a:rPr dirty="0"/>
              <a:t>, dan </a:t>
            </a:r>
            <a:r>
              <a:rPr dirty="0" err="1"/>
              <a:t>pengujian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11. WAKTU • BIAYA • KUALITAS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" cy="411480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WAKTU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D35"/>
                </a:solidFill>
              </a:defRPr>
            </a:pPr>
            <a:r>
              <a:t>Stakeholder menginginkan software selesai secepat mungkin, tetapi kualitas membutuhkan waktu.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91440" cy="411480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517904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BIAYA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D35"/>
                </a:solidFill>
              </a:defRPr>
            </a:pPr>
            <a:r>
              <a:rPr dirty="0" err="1"/>
              <a:t>Anggaran</a:t>
            </a:r>
            <a:r>
              <a:rPr dirty="0"/>
              <a:t> </a:t>
            </a:r>
            <a:r>
              <a:rPr dirty="0" err="1"/>
              <a:t>mencakup</a:t>
            </a:r>
            <a:r>
              <a:rPr dirty="0"/>
              <a:t> developer, server, database, security, testing, dan maintenance.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91440" cy="411480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17904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KUALITAS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6596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62D35"/>
                </a:solidFill>
              </a:defRPr>
            </a:pPr>
            <a:r>
              <a:t>Software yang berjalan belum tentu cepat, aman, mudah digunakan, dan mudah dikembangkan.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12. ATRIBUT SOFTWARE BERKUALITAS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Functionality — melakukan fungsi yang dibutuhkan.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Reliability — bekerja secara konsisten.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Usability — mudah digunakan.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Performance / Efficiency — cepat dan efisien.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Security — data dan sistem terlindungi.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13. ATRIBUT KUALITAS 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Maintainability — mudah diperbaiki.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Scalability — mampu menangani peningkatan pengguna.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Compatibility — dapat bekerja dengan sistem lain.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Portability — mudah dipindahkan ke platform lain.</a:t>
            </a:r>
          </a:p>
          <a:p>
            <a:pPr>
              <a:spcAft>
                <a:spcPts val="900"/>
              </a:spcAft>
              <a:defRPr sz="2000">
                <a:solidFill>
                  <a:srgbClr val="262D35"/>
                </a:solidFill>
                <a:latin typeface="Aptos"/>
              </a:defRPr>
            </a:pPr>
            <a:r>
              <a:t>• Prinsip utama: software berkualitas tidak hanya berarti “bisa berjalan”.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14. ILMU KOMPUTER vs REKAYASA PERANGKAT LUNAK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457200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8074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ILMU KOMPUTER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2D35"/>
                </a:solidFill>
              </a:defRPr>
            </a:pPr>
            <a:r>
              <a:t>Algoritma</a:t>
            </a:r>
            <a:br/>
            <a:r>
              <a:t>Struktur data</a:t>
            </a:r>
            <a:br/>
            <a:r>
              <a:t>Teori komputasi</a:t>
            </a:r>
            <a:br/>
            <a:r>
              <a:t>Artificial Intelligence</a:t>
            </a:r>
            <a:br/>
            <a:r>
              <a:t>Sistem operasi</a:t>
            </a:r>
            <a:br/>
            <a:r>
              <a:t>Arsitektur komputer</a:t>
            </a:r>
            <a:br/>
            <a:r>
              <a:t>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91440" cy="457200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8074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REKAYASA PERANGKAT LUNAK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2D35"/>
                </a:solidFill>
              </a:defRPr>
            </a:pPr>
            <a:r>
              <a:rPr dirty="0"/>
              <a:t>Requirements</a:t>
            </a:r>
            <a:br>
              <a:rPr dirty="0"/>
            </a:br>
            <a:r>
              <a:rPr dirty="0"/>
              <a:t>Software architecture</a:t>
            </a:r>
            <a:br>
              <a:rPr dirty="0"/>
            </a:br>
            <a:r>
              <a:rPr dirty="0"/>
              <a:t>Software design</a:t>
            </a:r>
            <a:br>
              <a:rPr dirty="0"/>
            </a:br>
            <a:r>
              <a:rPr dirty="0"/>
              <a:t>Development</a:t>
            </a:r>
            <a:br>
              <a:rPr dirty="0"/>
            </a:br>
            <a:r>
              <a:rPr dirty="0"/>
              <a:t>Testing</a:t>
            </a:r>
            <a:br>
              <a:rPr dirty="0"/>
            </a:br>
            <a:r>
              <a:rPr dirty="0"/>
              <a:t>Deployment</a:t>
            </a:r>
            <a:br>
              <a:rPr dirty="0"/>
            </a:br>
            <a:r>
              <a:rPr dirty="0"/>
              <a:t>Maintenance</a:t>
            </a:r>
            <a:br>
              <a:rPr dirty="0"/>
            </a:br>
            <a:r>
              <a:rPr dirty="0"/>
              <a:t>Quality &amp; project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15. ANALOGI: PERTANYAANNYA BERBEDA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554480"/>
            <a:ext cx="91440" cy="347472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700784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ILMU KOMPUTER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48840"/>
            <a:ext cx="44805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62D35"/>
                </a:solidFill>
              </a:defRPr>
            </a:pPr>
            <a:r>
              <a:t>“Bagaimana algoritma ini bekerja?”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91440" cy="347472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1700784"/>
            <a:ext cx="44805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RPL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148840"/>
            <a:ext cx="448055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62D35"/>
                </a:solidFill>
              </a:defRPr>
            </a:pPr>
            <a:r>
              <a:t>“Bagaimana membangun sistem menggunakan algoritma tersebut agar digunakan jutaan pengguna secara aman dan andal?”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16. ETIKA PROFESI SOFTWARE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62D35"/>
                </a:solidFill>
                <a:latin typeface="Aptos"/>
              </a:defRPr>
            </a:pPr>
            <a:r>
              <a:rPr dirty="0"/>
              <a:t>• Software Engineer </a:t>
            </a:r>
            <a:r>
              <a:rPr dirty="0" err="1"/>
              <a:t>bertanggung</a:t>
            </a:r>
            <a:r>
              <a:rPr dirty="0"/>
              <a:t> </a:t>
            </a:r>
            <a:r>
              <a:rPr dirty="0" err="1"/>
              <a:t>jawab</a:t>
            </a:r>
            <a:r>
              <a:rPr dirty="0"/>
              <a:t> </a:t>
            </a:r>
            <a:r>
              <a:rPr dirty="0" err="1"/>
              <a:t>kepada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, </a:t>
            </a:r>
            <a:r>
              <a:rPr dirty="0" err="1"/>
              <a:t>organisasi</a:t>
            </a:r>
            <a:r>
              <a:rPr dirty="0"/>
              <a:t>, </a:t>
            </a:r>
            <a:r>
              <a:rPr dirty="0" err="1"/>
              <a:t>masyarakat</a:t>
            </a:r>
            <a:r>
              <a:rPr dirty="0"/>
              <a:t>, </a:t>
            </a:r>
            <a:r>
              <a:rPr dirty="0" err="1"/>
              <a:t>sesama</a:t>
            </a:r>
            <a:r>
              <a:rPr dirty="0"/>
              <a:t> </a:t>
            </a:r>
            <a:r>
              <a:rPr dirty="0" err="1"/>
              <a:t>profesional</a:t>
            </a:r>
            <a:r>
              <a:rPr dirty="0"/>
              <a:t>, </a:t>
            </a:r>
            <a:r>
              <a:rPr dirty="0" err="1"/>
              <a:t>hukum</a:t>
            </a:r>
            <a:r>
              <a:rPr dirty="0"/>
              <a:t>, dan </a:t>
            </a:r>
            <a:r>
              <a:rPr dirty="0" err="1"/>
              <a:t>regulasi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2100">
                <a:solidFill>
                  <a:srgbClr val="262D35"/>
                </a:solidFill>
                <a:latin typeface="Aptos"/>
              </a:defRPr>
            </a:pPr>
            <a:r>
              <a:rPr dirty="0"/>
              <a:t>• Etika </a:t>
            </a:r>
            <a:r>
              <a:rPr dirty="0" err="1"/>
              <a:t>penting</a:t>
            </a:r>
            <a:r>
              <a:rPr dirty="0"/>
              <a:t> </a:t>
            </a:r>
            <a:r>
              <a:rPr dirty="0" err="1"/>
              <a:t>karena</a:t>
            </a:r>
            <a:r>
              <a:rPr dirty="0"/>
              <a:t> software </a:t>
            </a:r>
            <a:r>
              <a:rPr dirty="0" err="1"/>
              <a:t>memengaruhi</a:t>
            </a:r>
            <a:r>
              <a:rPr dirty="0"/>
              <a:t> </a:t>
            </a:r>
            <a:r>
              <a:rPr dirty="0" err="1"/>
              <a:t>keputusan</a:t>
            </a:r>
            <a:r>
              <a:rPr dirty="0"/>
              <a:t>, </a:t>
            </a:r>
            <a:r>
              <a:rPr dirty="0" err="1"/>
              <a:t>privasi</a:t>
            </a:r>
            <a:r>
              <a:rPr dirty="0"/>
              <a:t>, </a:t>
            </a:r>
            <a:r>
              <a:rPr dirty="0" err="1"/>
              <a:t>keamanan</a:t>
            </a:r>
            <a:r>
              <a:rPr dirty="0"/>
              <a:t>, </a:t>
            </a:r>
            <a:r>
              <a:rPr dirty="0" err="1"/>
              <a:t>kesempatan</a:t>
            </a:r>
            <a:r>
              <a:rPr dirty="0"/>
              <a:t>, dan </a:t>
            </a:r>
            <a:r>
              <a:rPr dirty="0" err="1"/>
              <a:t>kualitas</a:t>
            </a:r>
            <a:r>
              <a:rPr dirty="0"/>
              <a:t> </a:t>
            </a:r>
            <a:r>
              <a:rPr dirty="0" err="1"/>
              <a:t>hidup</a:t>
            </a:r>
            <a:r>
              <a:rPr dirty="0"/>
              <a:t> </a:t>
            </a:r>
            <a:r>
              <a:rPr dirty="0" err="1"/>
              <a:t>manusia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17. ETIKA: KEAMANAN, PRIVASI, KEJUJURAN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Tidak menyalahgunakan teknologi atau akses sistem.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Menjaga privasi dan memperlakukan data pengguna secara bertanggung jawab.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Menjaga keamanan: authentication, authorization, encryption, access control.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Jujur secara profesional: jangan mengklaim software “100% aman” jika belum diuji memadai.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18. ETIKA: HKI DAN DAMPAK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Menghormati hak kekayaan intelektual: tidak menyalin kode, menggunakan software bajakan, atau mengambil karya orang lain.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Bertanggung jawab terhadap dampak teknologi, terutama AI, facial recognition, kesehatan, keuangan, pendidikan, dan pemerintahan.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Pertanyaan etis: siapa yang bertanggung jawab ketika software menghasilkan kesalahan?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19. KOMPONEN SISTEM PERANGKAT LUNAK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" cy="15087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Website • Mobile App •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91440" cy="15087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APPLICATION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Logika bisnis &amp; proses utama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91440" cy="15087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9328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82880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MySQL • PostgreSQL • Oracle • MongoDB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108960"/>
            <a:ext cx="91440" cy="15087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325526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0332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Penghubung aplikasi dan sistem lain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1089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3108960"/>
            <a:ext cx="91440" cy="15087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325526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INFRASTRUCTURE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70332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Server • Cloud • Network • Storage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1089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3108960"/>
            <a:ext cx="91440" cy="15087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325526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SECURITY &amp; DOCUMENTATION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703320"/>
            <a:ext cx="310896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Perlindungan sistem &amp; panduan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20. TANTANGAN MODERN: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Software dapat menggunakan AI untuk menghasilkan konten, memberi rekomendasi, atau membantu mengambil keputusan.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Chatbot → Generative AI → AI Agent.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Isu: bias, halusinasi, transparansi, privasi, keamanan, dan akuntabilitas.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Software Engineer perlu menggabungkan kemampuan teknis dengan pertimbangan etika.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21. TANTANGAN: CYBERSECURITY &amp; BIG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" cy="411480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62D35"/>
                </a:solidFill>
              </a:defRPr>
            </a:pPr>
            <a:r>
              <a:t>Malware</a:t>
            </a:r>
            <a:br/>
            <a:r>
              <a:t>Phishing</a:t>
            </a:r>
            <a:br/>
            <a:r>
              <a:t>Ransomware</a:t>
            </a:r>
            <a:br/>
            <a:r>
              <a:t>Data breach</a:t>
            </a:r>
            <a:br/>
            <a:r>
              <a:t>Credential theft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91440" cy="411480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517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BIG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Software harus menangani data yang:</a:t>
            </a:r>
            <a:br/>
            <a:br/>
            <a:r>
              <a:t>• Besar</a:t>
            </a:r>
            <a:br/>
            <a:r>
              <a:t>• Cepat</a:t>
            </a:r>
            <a:br/>
            <a:r>
              <a:t>• Beragam</a:t>
            </a:r>
            <a:br/>
            <a:br/>
            <a:r>
              <a:t>Sekaligus menjaga kualitas, keamanan, dan privasi.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22. TANTANGAN: CLOUD &amp; PERUBAHAN BERKELANJUTAN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Cloud computing menuntut software yang distributed, scalable, dan highly available.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Teknologi berubah sangat cepat.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Software yang dibangun hari ini mungkin harus diperbarui dalam beberapa bulan.</a:t>
            </a:r>
          </a:p>
          <a:p>
            <a:pPr>
              <a:spcAft>
                <a:spcPts val="900"/>
              </a:spcAft>
              <a:defRPr sz="1900">
                <a:solidFill>
                  <a:srgbClr val="262D35"/>
                </a:solidFill>
                <a:latin typeface="Aptos"/>
              </a:defRPr>
            </a:pPr>
            <a:r>
              <a:t>• Arsitektur, automation, monitoring, dan continuous improvement menjadi penting.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23. SOFTWARE vs 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91440" cy="457200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8074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PERANGKAT LUNAK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2D35"/>
                </a:solidFill>
              </a:defRPr>
            </a:pPr>
            <a:r>
              <a:t>Digital</a:t>
            </a:r>
            <a:br/>
            <a:r>
              <a:t>Tidak mengalami keausan fisik</a:t>
            </a:r>
            <a:br/>
            <a:r>
              <a:t>Dapat diperbarui</a:t>
            </a:r>
            <a:br/>
            <a:r>
              <a:t>Dibangun melalui engineering</a:t>
            </a:r>
            <a:br/>
            <a:r>
              <a:t>Bug diperbaiki melalui perubahan software</a:t>
            </a:r>
            <a:br/>
            <a:r>
              <a:t>Mudah disalin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91440" cy="457200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38074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PERANGKAT KERAS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62D35"/>
                </a:solidFill>
              </a:defRPr>
            </a:pPr>
            <a:r>
              <a:t>Fisik</a:t>
            </a:r>
            <a:br/>
            <a:r>
              <a:t>Dapat mengalami kerusakan</a:t>
            </a:r>
            <a:br/>
            <a:r>
              <a:t>Upgrade membutuhkan komponen</a:t>
            </a:r>
            <a:br/>
            <a:r>
              <a:t>Diproduksi melalui manufaktur</a:t>
            </a:r>
            <a:br/>
            <a:r>
              <a:t>Kerusakan dapat membutuhkan penggantian</a:t>
            </a:r>
            <a:br/>
            <a:r>
              <a:t>Memerlukan proses produksi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24. CONTOH: LAPTOP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" cy="420624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517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62D35"/>
                </a:solidFill>
              </a:defRPr>
            </a:pPr>
            <a:r>
              <a:t>CPU • RAM • SSD • Motherboard • Keyboard • Monitor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91440" cy="420624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517904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659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Windows/Linux • Browser • Microsoft Office • Aplikasi akademik • Antivirus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064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49187"/>
                </a:solidFill>
              </a:defRPr>
            </a:pPr>
            <a:r>
              <a:t>Hardware menyediakan platform; software memberikan fungsi.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25. SIKLUS HIDUP SOFTWARE (SDLC)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91440" cy="15087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56362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01168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Planning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417320"/>
            <a:ext cx="91440" cy="15087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84448" y="156362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01168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91440" cy="15087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6362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1168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417320"/>
            <a:ext cx="91440" cy="15087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45168" y="156362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201168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Implementation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3566160"/>
            <a:ext cx="91440" cy="15087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371246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416052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Testing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83280" y="3566160"/>
            <a:ext cx="91440" cy="15087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84448" y="371246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416052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3566160"/>
            <a:ext cx="91440" cy="15087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807" y="371246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16052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Maintenance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44000" y="3566160"/>
            <a:ext cx="91440" cy="15087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45168" y="3712464"/>
            <a:ext cx="2148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45168" y="4160520"/>
            <a:ext cx="21488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5"/>
                </a:solidFill>
              </a:defRPr>
            </a:pPr>
            <a:r>
              <a:t>Evolution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Siklus Hidup Software (SDLC)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Tahapan utama dalam pengembangan perangkat lunak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91440" cy="3977639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01 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Menentukan tujuan, ruang lingkup, sumber daya, jadwal, biaya, dan risiko proyek.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508760"/>
            <a:ext cx="91440" cy="3977639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02 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Mengidentifikasi dan mendokumentasikan kebutuhan pengguna dan stakeholder.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91440" cy="3977639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03 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Merancang arsitektur, database, antarmuka, modul, dan teknologi sistem.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508760"/>
            <a:ext cx="91440" cy="3977639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04 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Menerjemahkan rancangan menjadi program melalui proses coding.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• SDLC •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Siklus Hidup Software (SDLC)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Dari pengujian hingga software siap digunakan dan dikembangkan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91440" cy="3977639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05 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Memeriksa fungsi, menemukan bug, dan memastikan software sesuai kebutuhan.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508760"/>
            <a:ext cx="91440" cy="3977639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49039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06 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Memasang dan menyediakan software agar dapat digunakan oleh pengguna.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508760"/>
            <a:ext cx="91440" cy="3977639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07  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Memperbaiki bug, meningkatkan keamanan, melakukan optimasi, dan penyesuaian.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508760"/>
            <a:ext cx="25146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89720" y="1508760"/>
            <a:ext cx="91440" cy="3977639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0" y="1673351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08 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148839"/>
            <a:ext cx="2057400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62D35"/>
                </a:solidFill>
              </a:defRPr>
            </a:pPr>
            <a:r>
              <a:t>Mengembangkan software sesuai perubahan teknologi, kebutuhan, dan lingkungan.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• SDLC •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Cara Mudah Memahami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Gunakan pertanyaan kunci berikut untuk mengingat setiap tahapan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35607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435607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Apa yang akan kita buat?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435607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435607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Pengguna membutuhkan apa?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603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67004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70048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Bagaimana cara membangunnya?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56032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67004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670048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Mari kita coding.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947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9044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904488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Apakah sudah benar?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9476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39044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904488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Mari digunakan.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02920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513892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MAINTENANCE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138928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Perbaiki dan rawat.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502920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513892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3050"/>
                </a:solidFill>
              </a:defRPr>
            </a:pPr>
            <a:r>
              <a:t>EVOLUTION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5138928"/>
            <a:ext cx="3246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62D35"/>
                </a:solidFill>
              </a:defRPr>
            </a:pPr>
            <a:r>
              <a:t>Kembangkan agar tetap relevan.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9560" y="600456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49187"/>
                </a:solidFill>
              </a:defRPr>
            </a:pPr>
            <a:r>
              <a:rPr dirty="0"/>
              <a:t>INTI: SDLC </a:t>
            </a:r>
            <a:r>
              <a:rPr dirty="0" err="1"/>
              <a:t>memastikan</a:t>
            </a:r>
            <a:r>
              <a:rPr dirty="0"/>
              <a:t> software </a:t>
            </a:r>
            <a:r>
              <a:rPr dirty="0" err="1"/>
              <a:t>dibangun</a:t>
            </a:r>
            <a:r>
              <a:rPr dirty="0"/>
              <a:t> </a:t>
            </a:r>
            <a:r>
              <a:rPr dirty="0" err="1"/>
              <a:t>terencana</a:t>
            </a:r>
            <a:r>
              <a:rPr dirty="0"/>
              <a:t>, </a:t>
            </a:r>
            <a:r>
              <a:rPr dirty="0" err="1"/>
              <a:t>memenuhi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, </a:t>
            </a:r>
            <a:r>
              <a:rPr dirty="0" err="1"/>
              <a:t>berkualitas</a:t>
            </a:r>
            <a:r>
              <a:rPr dirty="0"/>
              <a:t>, dan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terus</a:t>
            </a:r>
            <a:r>
              <a:rPr dirty="0"/>
              <a:t> </a:t>
            </a:r>
            <a:r>
              <a:rPr dirty="0" err="1"/>
              <a:t>berkembang</a:t>
            </a:r>
            <a:r>
              <a:rPr dirty="0"/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• SDLC •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26. PERAN STAKEHOLDER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Customer — pihak yang membutuhkan software.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User — orang yang menggunakan software.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Product Owner — kebutuhan dan prioritas produk.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Project Manager — mengelola proyek.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System Analyst — menganalisis kebutuhan.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Software Engineer/Developer — membangun software.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UI/UX Designer — merancang pengalaman pengguna.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Tester/QA — memastikan kualitas.</a:t>
            </a:r>
          </a:p>
          <a:p>
            <a:pPr>
              <a:spcAft>
                <a:spcPts val="900"/>
              </a:spcAft>
              <a:defRPr sz="1500">
                <a:solidFill>
                  <a:srgbClr val="262D35"/>
                </a:solidFill>
                <a:latin typeface="Aptos"/>
              </a:defRPr>
            </a:pPr>
            <a:r>
              <a:t>• DevOps/Infrastructure Engineer — deployment dan infrastruktur.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27. STUDI KASUS: SISTEM INFORMASI AKADEMIK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62D35"/>
                </a:solidFill>
                <a:latin typeface="Aptos"/>
              </a:defRPr>
            </a:pPr>
            <a:r>
              <a:rPr lang="en-US" dirty="0" err="1"/>
              <a:t>Sebuah</a:t>
            </a:r>
            <a:r>
              <a:rPr lang="en-US" dirty="0"/>
              <a:t> </a:t>
            </a:r>
            <a:r>
              <a:rPr dirty="0"/>
              <a:t>Universitas</a:t>
            </a:r>
            <a:r>
              <a:rPr lang="en-US" dirty="0"/>
              <a:t> </a:t>
            </a:r>
            <a:r>
              <a:rPr lang="en-US" dirty="0" err="1"/>
              <a:t>Swasta</a:t>
            </a:r>
            <a:r>
              <a:rPr dirty="0"/>
              <a:t> </a:t>
            </a:r>
            <a:r>
              <a:rPr dirty="0" err="1"/>
              <a:t>ingin</a:t>
            </a:r>
            <a:r>
              <a:rPr dirty="0"/>
              <a:t> </a:t>
            </a:r>
            <a:r>
              <a:rPr dirty="0" err="1"/>
              <a:t>membangun</a:t>
            </a:r>
            <a:r>
              <a:rPr dirty="0"/>
              <a:t> </a:t>
            </a:r>
            <a:r>
              <a:rPr dirty="0" err="1"/>
              <a:t>aplikasi</a:t>
            </a:r>
            <a:r>
              <a:rPr dirty="0"/>
              <a:t> </a:t>
            </a:r>
            <a:r>
              <a:rPr dirty="0" err="1"/>
              <a:t>akademik</a:t>
            </a:r>
            <a:r>
              <a:rPr lang="en-US" dirty="0"/>
              <a:t> SIAKAD)</a:t>
            </a:r>
            <a:r>
              <a:rPr dirty="0"/>
              <a:t>: login, KRS online, </a:t>
            </a:r>
            <a:r>
              <a:rPr dirty="0" err="1"/>
              <a:t>jadwal</a:t>
            </a:r>
            <a:r>
              <a:rPr dirty="0"/>
              <a:t>, </a:t>
            </a:r>
            <a:r>
              <a:rPr dirty="0" err="1"/>
              <a:t>nilai</a:t>
            </a:r>
            <a:r>
              <a:rPr dirty="0"/>
              <a:t>, </a:t>
            </a:r>
            <a:r>
              <a:rPr dirty="0" err="1"/>
              <a:t>pembayaran</a:t>
            </a:r>
            <a:r>
              <a:rPr dirty="0"/>
              <a:t>, </a:t>
            </a:r>
            <a:r>
              <a:rPr dirty="0" err="1"/>
              <a:t>presensi</a:t>
            </a:r>
            <a:r>
              <a:rPr dirty="0"/>
              <a:t>, </a:t>
            </a:r>
            <a:r>
              <a:rPr dirty="0" err="1"/>
              <a:t>notifikasi</a:t>
            </a:r>
            <a:r>
              <a:rPr dirty="0"/>
              <a:t>, dan </a:t>
            </a:r>
            <a:r>
              <a:rPr dirty="0" err="1"/>
              <a:t>integrasi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akademik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6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Kelompok</a:t>
            </a:r>
            <a:r>
              <a:rPr dirty="0"/>
              <a:t> 1 — </a:t>
            </a:r>
            <a:r>
              <a:rPr dirty="0" err="1"/>
              <a:t>Siapa</a:t>
            </a:r>
            <a:r>
              <a:rPr dirty="0"/>
              <a:t> stakeholder?</a:t>
            </a:r>
          </a:p>
          <a:p>
            <a:pPr>
              <a:spcAft>
                <a:spcPts val="900"/>
              </a:spcAft>
              <a:defRPr sz="16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Kelompok</a:t>
            </a:r>
            <a:r>
              <a:rPr dirty="0"/>
              <a:t> 2 — </a:t>
            </a:r>
            <a:r>
              <a:rPr dirty="0" err="1"/>
              <a:t>Apa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fungsional</a:t>
            </a:r>
            <a:r>
              <a:rPr dirty="0"/>
              <a:t> &amp; </a:t>
            </a:r>
            <a:r>
              <a:rPr dirty="0" err="1"/>
              <a:t>nonfungsional</a:t>
            </a:r>
            <a:r>
              <a:rPr dirty="0"/>
              <a:t>?</a:t>
            </a:r>
          </a:p>
          <a:p>
            <a:pPr>
              <a:spcAft>
                <a:spcPts val="900"/>
              </a:spcAft>
              <a:defRPr sz="16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Kelompok</a:t>
            </a:r>
            <a:r>
              <a:rPr dirty="0"/>
              <a:t> 3 — </a:t>
            </a:r>
            <a:r>
              <a:rPr dirty="0" err="1"/>
              <a:t>Apa</a:t>
            </a:r>
            <a:r>
              <a:rPr dirty="0"/>
              <a:t> </a:t>
            </a:r>
            <a:r>
              <a:rPr dirty="0" err="1"/>
              <a:t>risiko</a:t>
            </a:r>
            <a:r>
              <a:rPr dirty="0"/>
              <a:t> </a:t>
            </a:r>
            <a:r>
              <a:rPr dirty="0" err="1"/>
              <a:t>utama</a:t>
            </a:r>
            <a:r>
              <a:rPr dirty="0"/>
              <a:t>?</a:t>
            </a:r>
          </a:p>
          <a:p>
            <a:pPr>
              <a:spcAft>
                <a:spcPts val="900"/>
              </a:spcAft>
              <a:defRPr sz="16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Kelompok</a:t>
            </a:r>
            <a:r>
              <a:rPr dirty="0"/>
              <a:t> 4 — </a:t>
            </a:r>
            <a:r>
              <a:rPr dirty="0" err="1"/>
              <a:t>Apa</a:t>
            </a:r>
            <a:r>
              <a:rPr dirty="0"/>
              <a:t> </a:t>
            </a:r>
            <a:r>
              <a:rPr dirty="0" err="1"/>
              <a:t>atribut</a:t>
            </a:r>
            <a:r>
              <a:rPr dirty="0"/>
              <a:t> software </a:t>
            </a:r>
            <a:r>
              <a:rPr dirty="0" err="1"/>
              <a:t>berkualitas</a:t>
            </a:r>
            <a:r>
              <a:rPr dirty="0"/>
              <a:t>?</a:t>
            </a:r>
          </a:p>
          <a:p>
            <a:pPr>
              <a:spcAft>
                <a:spcPts val="900"/>
              </a:spcAft>
              <a:defRPr sz="16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Kelompok</a:t>
            </a:r>
            <a:r>
              <a:rPr dirty="0"/>
              <a:t> 5 — </a:t>
            </a:r>
            <a:r>
              <a:rPr dirty="0" err="1"/>
              <a:t>Apa</a:t>
            </a:r>
            <a:r>
              <a:rPr dirty="0"/>
              <a:t> </a:t>
            </a:r>
            <a:r>
              <a:rPr dirty="0" err="1"/>
              <a:t>masalah</a:t>
            </a:r>
            <a:r>
              <a:rPr dirty="0"/>
              <a:t> </a:t>
            </a:r>
            <a:r>
              <a:rPr dirty="0" err="1"/>
              <a:t>jika</a:t>
            </a:r>
            <a:r>
              <a:rPr dirty="0"/>
              <a:t>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berubah</a:t>
            </a:r>
            <a:r>
              <a:rPr dirty="0"/>
              <a:t>?</a:t>
            </a:r>
          </a:p>
          <a:p>
            <a:pPr>
              <a:spcAft>
                <a:spcPts val="900"/>
              </a:spcAft>
              <a:defRPr sz="1600">
                <a:solidFill>
                  <a:srgbClr val="262D35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Kelompok</a:t>
            </a:r>
            <a:r>
              <a:rPr dirty="0"/>
              <a:t> 6 — </a:t>
            </a:r>
            <a:r>
              <a:rPr dirty="0" err="1"/>
              <a:t>Apa</a:t>
            </a:r>
            <a:r>
              <a:rPr dirty="0"/>
              <a:t> </a:t>
            </a:r>
            <a:r>
              <a:rPr dirty="0" err="1"/>
              <a:t>aspek</a:t>
            </a:r>
            <a:r>
              <a:rPr dirty="0"/>
              <a:t> </a:t>
            </a:r>
            <a:r>
              <a:rPr dirty="0" err="1"/>
              <a:t>etika</a:t>
            </a:r>
            <a:r>
              <a:rPr dirty="0"/>
              <a:t> yang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diperhatikan</a:t>
            </a:r>
            <a:r>
              <a:rPr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050"/>
                </a:solidFill>
                <a:latin typeface="Aptos Display"/>
              </a:defRPr>
            </a:pPr>
            <a:r>
              <a:t>28–30. PENUTUP • TUGAS • REFLEKSI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" cy="4480560"/>
          </a:xfrm>
          <a:prstGeom prst="rect">
            <a:avLst/>
          </a:prstGeom>
          <a:solidFill>
            <a:srgbClr val="2E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INTI MATERI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RPL bukan sekadar membuat program.</a:t>
            </a:r>
            <a:br/>
            <a:br/>
            <a:r>
              <a:t>Problem → Requirements → Design → Development → Testing → Deployment → Maintenance → Evolution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91440" cy="4480560"/>
          </a:xfrm>
          <a:prstGeom prst="rect">
            <a:avLst/>
          </a:prstGeom>
          <a:solidFill>
            <a:srgbClr val="24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TUGAS KELOMPOK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2880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Pilih satu sistem digital.</a:t>
            </a:r>
            <a:br/>
            <a:br/>
            <a:r>
              <a:t>Analisis: tujuan, pengguna, stakeholder, komponen, kebutuhan, kualitas, risiko, etika, dan SDLC.</a:t>
            </a:r>
            <a:br/>
            <a:br/>
            <a:r>
              <a:t>Presentasi 5–7 menit/kelompok.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234440"/>
            <a:ext cx="91440" cy="4480560"/>
          </a:xfrm>
          <a:prstGeom prst="rect">
            <a:avLst/>
          </a:prstGeom>
          <a:solidFill>
            <a:srgbClr val="E07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80744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050"/>
                </a:solidFill>
              </a:defRPr>
            </a:pPr>
            <a:r>
              <a:t>REFLEKSI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3108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5"/>
                </a:solidFill>
              </a:defRPr>
            </a:pPr>
            <a:r>
              <a:t>People + Process + Technology + Quality + Ethics</a:t>
            </a:r>
            <a:br/>
            <a:br/>
            <a:r>
              <a:t>Pertanyaan:</a:t>
            </a:r>
            <a:br/>
            <a:r>
              <a:t>Apa perbedaan paling penting antara Programmer dan Software Engineer?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REKAYASA PERANGKAT LUNAK  •  Dr. M. Ramaddan Julianti, M.T.  •  30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122</TotalTime>
  <Words>2302</Words>
  <Application>Microsoft Office PowerPoint</Application>
  <PresentationFormat>Widescreen</PresentationFormat>
  <Paragraphs>263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Century Gothic</vt:lpstr>
      <vt:lpstr>Wingdings 3</vt:lpstr>
      <vt:lpstr>Ion Boardroom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mansih</dc:creator>
  <cp:keywords/>
  <dc:description>generated using python-pptx</dc:description>
  <cp:lastModifiedBy>mansih</cp:lastModifiedBy>
  <cp:revision>4</cp:revision>
  <dcterms:created xsi:type="dcterms:W3CDTF">2013-01-27T09:14:16Z</dcterms:created>
  <dcterms:modified xsi:type="dcterms:W3CDTF">2026-09-28T02:52:15Z</dcterms:modified>
  <cp:category/>
</cp:coreProperties>
</file>