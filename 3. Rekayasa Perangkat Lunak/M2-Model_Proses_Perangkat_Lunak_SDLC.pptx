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9" r:id="rId8"/>
    <p:sldId id="262" r:id="rId9"/>
    <p:sldId id="263" r:id="rId10"/>
    <p:sldId id="264" r:id="rId11"/>
    <p:sldId id="300" r:id="rId12"/>
    <p:sldId id="265" r:id="rId13"/>
    <p:sldId id="266" r:id="rId14"/>
    <p:sldId id="267" r:id="rId15"/>
    <p:sldId id="302" r:id="rId16"/>
    <p:sldId id="268" r:id="rId17"/>
    <p:sldId id="269" r:id="rId18"/>
    <p:sldId id="270" r:id="rId19"/>
    <p:sldId id="303" r:id="rId20"/>
    <p:sldId id="271" r:id="rId21"/>
    <p:sldId id="272" r:id="rId22"/>
    <p:sldId id="273" r:id="rId23"/>
    <p:sldId id="304" r:id="rId24"/>
    <p:sldId id="274" r:id="rId25"/>
    <p:sldId id="275" r:id="rId26"/>
    <p:sldId id="276" r:id="rId27"/>
    <p:sldId id="305" r:id="rId28"/>
    <p:sldId id="277" r:id="rId29"/>
    <p:sldId id="278" r:id="rId30"/>
    <p:sldId id="279" r:id="rId31"/>
    <p:sldId id="280" r:id="rId32"/>
    <p:sldId id="306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307" r:id="rId43"/>
    <p:sldId id="290" r:id="rId44"/>
    <p:sldId id="291" r:id="rId45"/>
    <p:sldId id="308" r:id="rId46"/>
    <p:sldId id="292" r:id="rId47"/>
    <p:sldId id="293" r:id="rId48"/>
    <p:sldId id="294" r:id="rId49"/>
    <p:sldId id="295" r:id="rId50"/>
    <p:sldId id="296" r:id="rId51"/>
    <p:sldId id="297" r:id="rId52"/>
    <p:sldId id="298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91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808484" cy="19543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MODEL PROSES PERANGKAT LUNAK</a:t>
            </a:r>
          </a:p>
          <a:p>
            <a:pPr>
              <a:defRPr sz="2700">
                <a:solidFill>
                  <a:srgbClr val="DCEBF8"/>
                </a:solidFill>
                <a:latin typeface="Aptos"/>
              </a:defRPr>
            </a:pPr>
            <a:r>
              <a:rPr dirty="0"/>
              <a:t>Software Development Life Cycle (SDLC)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1800" b="1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 err="1"/>
              <a:t>Dosen</a:t>
            </a:r>
            <a:r>
              <a:rPr dirty="0"/>
              <a:t>: </a:t>
            </a:r>
            <a:r>
              <a:rPr dirty="0" err="1"/>
              <a:t>Manorang</a:t>
            </a:r>
            <a:r>
              <a:rPr dirty="0"/>
              <a:t> </a:t>
            </a:r>
            <a:r>
              <a:rPr dirty="0" err="1"/>
              <a:t>Sihotang</a:t>
            </a:r>
            <a:r>
              <a:rPr lang="en-US" dirty="0" err="1"/>
              <a:t>,M.Kom,Ph.D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Tujuan Pembelajaran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Memahami konsep Software Development Life Cycle (SDLC).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Menjelaskan karakteristik berbagai model proses perangkat lunak.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Membandingkan kelebihan dan kekurangan setiap model.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Menentukan model proses yang sesuai dengan karakteristik proyek.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Memahami evolusi model proses menuju pendekatan modern.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Konsep Software Development Life Cycle (SDLC)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t>Pengertian SDLC: kerangka kerja yang menggambarkan tahapan sistematis dalam proses pengembangan perangkat lunak, mulai dari identifikasi kebutuhan hingga perangkat lunak dipelihara atau dihentikan penggunaannya.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t>Tujuan SDLC: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Menghasilkan perangkat lunak berkualitas.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Mengendalikan waktu dan biaya pengembangan.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Mengurangi risiko kegagalan proyek.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Memastikan kebutuhan pengguna terpenuhi.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Menyediakan proses pengembangan yang terstruktur.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Memudahkan pengujian dan pemeliharaan.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Tahapan Umum SDLC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Planning – menentukan tujuan dan ruang lingkup.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Requirements Analysis – mengidentifikasi kebutuhan pengguna.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Design – merancang arsitektur dan komponen sistem.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Implementation – melakukan pemrograman.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Testing – memastikan sistem bekerja sesuai kebutuhan.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Deployment – menerapkan sistem kepada pengguna.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Maintenance – memperbaiki dan mengembangkan sistem.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Inti: SDLC bukan hanya metode pemrograman, tetapi pendekatan untuk mengelola keseluruhan siklus hidup perangkat lunak.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Model Waterfall – Linear Sequential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Pengertian: model pengembangan perangkat lunak yang menggunakan tahapan berurutan. Setiap tahap umumnya diselesaikan sebelum tahap berikutnya dimulai.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Alur: Requirements → Design → Implementation → Testing → Deployment → Maintenance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Karakteristik:</a:t>
            </a:r>
          </a:p>
          <a:p>
            <a:pPr lvl="1">
              <a:spcAft>
                <a:spcPts val="8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t>Proses bersifat linear.</a:t>
            </a:r>
          </a:p>
          <a:p>
            <a:pPr lvl="1">
              <a:spcAft>
                <a:spcPts val="8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t>Dokumentasi relatif kuat.</a:t>
            </a:r>
          </a:p>
          <a:p>
            <a:pPr lvl="1">
              <a:spcAft>
                <a:spcPts val="8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t>Perubahan kebutuhan setelah tahap awal relatif sulit.</a:t>
            </a:r>
          </a:p>
          <a:p>
            <a:pPr lvl="1">
              <a:spcAft>
                <a:spcPts val="8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t>Setiap fase memiliki output yang jelas.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Waterfall: Kelebihan, Kekurangan &amp; Kesesuaian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3282D"/>
                </a:solidFill>
                <a:latin typeface="Aptos"/>
              </a:defRPr>
            </a:pPr>
            <a:r>
              <a:rPr dirty="0" err="1"/>
              <a:t>Kelebihan</a:t>
            </a:r>
            <a:r>
              <a:rPr dirty="0"/>
              <a:t>:</a:t>
            </a:r>
          </a:p>
          <a:p>
            <a:pPr lvl="1">
              <a:spcAft>
                <a:spcPts val="800"/>
              </a:spcAft>
              <a:defRPr sz="1300">
                <a:solidFill>
                  <a:srgbClr val="23282D"/>
                </a:solidFill>
                <a:latin typeface="Aptos"/>
              </a:defRPr>
            </a:pPr>
            <a:r>
              <a:rPr dirty="0" err="1"/>
              <a:t>Sederhana</a:t>
            </a:r>
            <a:r>
              <a:rPr dirty="0"/>
              <a:t> dan </a:t>
            </a:r>
            <a:r>
              <a:rPr dirty="0" err="1"/>
              <a:t>mudah</a:t>
            </a:r>
            <a:r>
              <a:rPr dirty="0"/>
              <a:t> </a:t>
            </a:r>
            <a:r>
              <a:rPr dirty="0" err="1"/>
              <a:t>dipahami</a:t>
            </a:r>
            <a:r>
              <a:rPr dirty="0"/>
              <a:t>.</a:t>
            </a:r>
          </a:p>
          <a:p>
            <a:pPr lvl="1">
              <a:spcAft>
                <a:spcPts val="800"/>
              </a:spcAft>
              <a:defRPr sz="1300">
                <a:solidFill>
                  <a:srgbClr val="23282D"/>
                </a:solidFill>
                <a:latin typeface="Aptos"/>
              </a:defRPr>
            </a:pPr>
            <a:r>
              <a:rPr dirty="0" err="1"/>
              <a:t>Tahapan</a:t>
            </a:r>
            <a:r>
              <a:rPr dirty="0"/>
              <a:t> dan </a:t>
            </a:r>
            <a:r>
              <a:rPr dirty="0" err="1"/>
              <a:t>tanggung</a:t>
            </a:r>
            <a:r>
              <a:rPr dirty="0"/>
              <a:t> </a:t>
            </a:r>
            <a:r>
              <a:rPr dirty="0" err="1"/>
              <a:t>jawab</a:t>
            </a:r>
            <a:r>
              <a:rPr dirty="0"/>
              <a:t> </a:t>
            </a:r>
            <a:r>
              <a:rPr dirty="0" err="1"/>
              <a:t>jelas</a:t>
            </a:r>
            <a:r>
              <a:rPr dirty="0"/>
              <a:t>.</a:t>
            </a:r>
          </a:p>
          <a:p>
            <a:pPr lvl="1">
              <a:spcAft>
                <a:spcPts val="800"/>
              </a:spcAft>
              <a:defRPr sz="1300">
                <a:solidFill>
                  <a:srgbClr val="23282D"/>
                </a:solidFill>
                <a:latin typeface="Aptos"/>
              </a:defRPr>
            </a:pPr>
            <a:r>
              <a:rPr dirty="0" err="1"/>
              <a:t>Dokumentasi</a:t>
            </a:r>
            <a:r>
              <a:rPr dirty="0"/>
              <a:t> </a:t>
            </a:r>
            <a:r>
              <a:rPr dirty="0" err="1"/>
              <a:t>terstruktur</a:t>
            </a:r>
            <a:r>
              <a:rPr dirty="0"/>
              <a:t>.</a:t>
            </a:r>
          </a:p>
          <a:p>
            <a:pPr lvl="1">
              <a:spcAft>
                <a:spcPts val="800"/>
              </a:spcAft>
              <a:defRPr sz="1300">
                <a:solidFill>
                  <a:srgbClr val="23282D"/>
                </a:solidFill>
                <a:latin typeface="Aptos"/>
              </a:defRPr>
            </a:pPr>
            <a:r>
              <a:rPr dirty="0" err="1"/>
              <a:t>Mudah</a:t>
            </a:r>
            <a:r>
              <a:rPr dirty="0"/>
              <a:t> </a:t>
            </a:r>
            <a:r>
              <a:rPr dirty="0" err="1"/>
              <a:t>digunakan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proyek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kebutuhan</a:t>
            </a:r>
            <a:r>
              <a:rPr dirty="0"/>
              <a:t> </a:t>
            </a:r>
            <a:r>
              <a:rPr dirty="0" err="1"/>
              <a:t>stabil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500" b="0">
                <a:solidFill>
                  <a:srgbClr val="23282D"/>
                </a:solidFill>
                <a:latin typeface="Aptos"/>
              </a:defRPr>
            </a:pPr>
            <a:r>
              <a:rPr dirty="0" err="1"/>
              <a:t>Kekurangan</a:t>
            </a:r>
            <a:r>
              <a:rPr dirty="0"/>
              <a:t>:</a:t>
            </a:r>
          </a:p>
          <a:p>
            <a:pPr lvl="1">
              <a:spcAft>
                <a:spcPts val="800"/>
              </a:spcAft>
              <a:defRPr sz="1300">
                <a:solidFill>
                  <a:srgbClr val="23282D"/>
                </a:solidFill>
                <a:latin typeface="Aptos"/>
              </a:defRPr>
            </a:pPr>
            <a:r>
              <a:rPr dirty="0"/>
              <a:t>Kurang </a:t>
            </a:r>
            <a:r>
              <a:rPr dirty="0" err="1"/>
              <a:t>fleksibel</a:t>
            </a:r>
            <a:r>
              <a:rPr dirty="0"/>
              <a:t> </a:t>
            </a:r>
            <a:r>
              <a:rPr dirty="0" err="1"/>
              <a:t>terhadap</a:t>
            </a:r>
            <a:r>
              <a:rPr dirty="0"/>
              <a:t> </a:t>
            </a:r>
            <a:r>
              <a:rPr dirty="0" err="1"/>
              <a:t>perubahan</a:t>
            </a:r>
            <a:r>
              <a:rPr dirty="0"/>
              <a:t>.</a:t>
            </a:r>
          </a:p>
          <a:p>
            <a:pPr lvl="1">
              <a:spcAft>
                <a:spcPts val="800"/>
              </a:spcAft>
              <a:defRPr sz="1300">
                <a:solidFill>
                  <a:srgbClr val="23282D"/>
                </a:solidFill>
                <a:latin typeface="Aptos"/>
              </a:defRPr>
            </a:pPr>
            <a:r>
              <a:rPr dirty="0" err="1"/>
              <a:t>Pengguna</a:t>
            </a:r>
            <a:r>
              <a:rPr dirty="0"/>
              <a:t> </a:t>
            </a:r>
            <a:r>
              <a:rPr dirty="0" err="1"/>
              <a:t>biasanya</a:t>
            </a:r>
            <a:r>
              <a:rPr dirty="0"/>
              <a:t> </a:t>
            </a:r>
            <a:r>
              <a:rPr dirty="0" err="1"/>
              <a:t>baru</a:t>
            </a:r>
            <a:r>
              <a:rPr dirty="0"/>
              <a:t> </a:t>
            </a:r>
            <a:r>
              <a:rPr dirty="0" err="1"/>
              <a:t>melihat</a:t>
            </a:r>
            <a:r>
              <a:rPr dirty="0"/>
              <a:t> </a:t>
            </a:r>
            <a:r>
              <a:rPr dirty="0" err="1"/>
              <a:t>produk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nyata</a:t>
            </a:r>
            <a:r>
              <a:rPr dirty="0"/>
              <a:t> pada </a:t>
            </a:r>
            <a:r>
              <a:rPr dirty="0" err="1"/>
              <a:t>tahap</a:t>
            </a:r>
            <a:r>
              <a:rPr dirty="0"/>
              <a:t> </a:t>
            </a:r>
            <a:r>
              <a:rPr dirty="0" err="1"/>
              <a:t>akhir</a:t>
            </a:r>
            <a:r>
              <a:rPr dirty="0"/>
              <a:t>.</a:t>
            </a:r>
          </a:p>
          <a:p>
            <a:pPr lvl="1">
              <a:spcAft>
                <a:spcPts val="800"/>
              </a:spcAft>
              <a:defRPr sz="1300">
                <a:solidFill>
                  <a:srgbClr val="23282D"/>
                </a:solidFill>
                <a:latin typeface="Aptos"/>
              </a:defRPr>
            </a:pPr>
            <a:r>
              <a:rPr dirty="0" err="1"/>
              <a:t>Risiko</a:t>
            </a:r>
            <a:r>
              <a:rPr dirty="0"/>
              <a:t> </a:t>
            </a:r>
            <a:r>
              <a:rPr dirty="0" err="1"/>
              <a:t>kesalahan</a:t>
            </a:r>
            <a:r>
              <a:rPr dirty="0"/>
              <a:t> </a:t>
            </a:r>
            <a:r>
              <a:rPr dirty="0" err="1"/>
              <a:t>kebutuhan</a:t>
            </a:r>
            <a:r>
              <a:rPr dirty="0"/>
              <a:t> </a:t>
            </a:r>
            <a:r>
              <a:rPr dirty="0" err="1"/>
              <a:t>dapat</a:t>
            </a:r>
            <a:r>
              <a:rPr dirty="0"/>
              <a:t> </a:t>
            </a:r>
            <a:r>
              <a:rPr dirty="0" err="1"/>
              <a:t>terlambat</a:t>
            </a:r>
            <a:r>
              <a:rPr dirty="0"/>
              <a:t> </a:t>
            </a:r>
            <a:r>
              <a:rPr dirty="0" err="1"/>
              <a:t>diketahui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500" b="0">
                <a:solidFill>
                  <a:srgbClr val="23282D"/>
                </a:solidFill>
                <a:latin typeface="Aptos"/>
              </a:defRPr>
            </a:pPr>
            <a:r>
              <a:rPr dirty="0" err="1"/>
              <a:t>Cocok</a:t>
            </a:r>
            <a:r>
              <a:rPr dirty="0"/>
              <a:t> </a:t>
            </a:r>
            <a:r>
              <a:rPr dirty="0" err="1"/>
              <a:t>digunakan</a:t>
            </a:r>
            <a:r>
              <a:rPr dirty="0"/>
              <a:t> </a:t>
            </a:r>
            <a:r>
              <a:rPr dirty="0" err="1"/>
              <a:t>ketika</a:t>
            </a:r>
            <a:r>
              <a:rPr dirty="0"/>
              <a:t>: </a:t>
            </a:r>
            <a:r>
              <a:rPr dirty="0" err="1"/>
              <a:t>kebutuhan</a:t>
            </a:r>
            <a:r>
              <a:rPr dirty="0"/>
              <a:t> </a:t>
            </a:r>
            <a:r>
              <a:rPr dirty="0" err="1"/>
              <a:t>sudah</a:t>
            </a:r>
            <a:r>
              <a:rPr dirty="0"/>
              <a:t> </a:t>
            </a:r>
            <a:r>
              <a:rPr dirty="0" err="1"/>
              <a:t>jelas</a:t>
            </a:r>
            <a:r>
              <a:rPr dirty="0"/>
              <a:t>; </a:t>
            </a:r>
            <a:r>
              <a:rPr dirty="0" err="1"/>
              <a:t>teknologi</a:t>
            </a:r>
            <a:r>
              <a:rPr dirty="0"/>
              <a:t> </a:t>
            </a:r>
            <a:r>
              <a:rPr dirty="0" err="1"/>
              <a:t>matang</a:t>
            </a:r>
            <a:r>
              <a:rPr dirty="0"/>
              <a:t>; </a:t>
            </a:r>
            <a:r>
              <a:rPr dirty="0" err="1"/>
              <a:t>regulasi</a:t>
            </a:r>
            <a:r>
              <a:rPr dirty="0"/>
              <a:t> dan </a:t>
            </a:r>
            <a:r>
              <a:rPr dirty="0" err="1"/>
              <a:t>dokumentasi</a:t>
            </a:r>
            <a:r>
              <a:rPr dirty="0"/>
              <a:t> </a:t>
            </a:r>
            <a:r>
              <a:rPr dirty="0" err="1"/>
              <a:t>penting</a:t>
            </a:r>
            <a:r>
              <a:rPr dirty="0"/>
              <a:t>; </a:t>
            </a:r>
            <a:r>
              <a:rPr dirty="0" err="1"/>
              <a:t>perubahan</a:t>
            </a:r>
            <a:r>
              <a:rPr dirty="0"/>
              <a:t> </a:t>
            </a:r>
            <a:r>
              <a:rPr dirty="0" err="1"/>
              <a:t>kebutuhan</a:t>
            </a:r>
            <a:r>
              <a:rPr dirty="0"/>
              <a:t> </a:t>
            </a:r>
            <a:r>
              <a:rPr dirty="0" err="1"/>
              <a:t>rendah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500" b="0">
                <a:solidFill>
                  <a:srgbClr val="23282D"/>
                </a:solidFill>
                <a:latin typeface="Aptos"/>
              </a:defRPr>
            </a:pPr>
            <a:r>
              <a:rPr dirty="0" err="1"/>
              <a:t>Contoh</a:t>
            </a:r>
            <a:r>
              <a:rPr dirty="0"/>
              <a:t>: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administrasi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prosedur</a:t>
            </a:r>
            <a:r>
              <a:rPr dirty="0"/>
              <a:t> dan </a:t>
            </a:r>
            <a:r>
              <a:rPr dirty="0" err="1"/>
              <a:t>kebutuhan</a:t>
            </a:r>
            <a:r>
              <a:rPr dirty="0"/>
              <a:t> yang </a:t>
            </a:r>
            <a:r>
              <a:rPr dirty="0" err="1"/>
              <a:t>sudah</a:t>
            </a:r>
            <a:r>
              <a:rPr dirty="0"/>
              <a:t> </a:t>
            </a:r>
            <a:r>
              <a:rPr dirty="0" err="1"/>
              <a:t>ditetapkan</a:t>
            </a:r>
            <a:r>
              <a:rPr dirty="0"/>
              <a:t> </a:t>
            </a:r>
            <a:r>
              <a:rPr dirty="0" err="1"/>
              <a:t>sejak</a:t>
            </a:r>
            <a:r>
              <a:rPr dirty="0"/>
              <a:t> </a:t>
            </a:r>
            <a:r>
              <a:rPr dirty="0" err="1"/>
              <a:t>awal</a:t>
            </a:r>
            <a:r>
              <a:rPr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06B53A-9DA7-45C1-A6A5-C7C5B3830D42}"/>
              </a:ext>
            </a:extLst>
          </p:cNvPr>
          <p:cNvSpPr txBox="1"/>
          <p:nvPr/>
        </p:nvSpPr>
        <p:spPr>
          <a:xfrm>
            <a:off x="3025140" y="3267194"/>
            <a:ext cx="614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DevSecOps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172B4D"/>
                </a:solidFill>
                <a:latin typeface="Aptos"/>
              </a:rPr>
              <a:t>Contoh Model Waterfall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10642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Cocok ketika kebutuhan relatif stabil dan tahapan perlu didokumentasikan dengan jelas.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1143000" cy="54864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0" y="6510528"/>
            <a:ext cx="2468880" cy="182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Rekayasa Perangkat Lunak • Contoh &amp; Visual •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74420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Kasus: sistem pengajuan cuti pegawai dengan aturan, formulir, alur persetujuan, dan laporan yang sudah ditetapkan.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75688"/>
            <a:ext cx="5943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Aptos"/>
              </a:rPr>
              <a:t>VISUALISASI ALUR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14600"/>
            <a:ext cx="1700784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514600"/>
            <a:ext cx="64008" cy="10241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569464"/>
            <a:ext cx="1517904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1. Kebutuhan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1536192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Aturan cuti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2868" y="3026664"/>
            <a:ext cx="100584" cy="0"/>
          </a:xfrm>
          <a:prstGeom prst="line">
            <a:avLst/>
          </a:prstGeom>
          <a:ln w="190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87168" y="2514600"/>
            <a:ext cx="1700784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87168" y="2514600"/>
            <a:ext cx="64008" cy="10241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96896" y="2569464"/>
            <a:ext cx="1517904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2. Desain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2871216"/>
            <a:ext cx="1536192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Database &amp; alur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01668" y="3026664"/>
            <a:ext cx="100584" cy="0"/>
          </a:xfrm>
          <a:prstGeom prst="line">
            <a:avLst/>
          </a:prstGeom>
          <a:ln w="190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15968" y="2514600"/>
            <a:ext cx="1700784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15968" y="2514600"/>
            <a:ext cx="64008" cy="10241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25696" y="2569464"/>
            <a:ext cx="1517904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3. 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7" y="2871216"/>
            <a:ext cx="1536192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Bangun aplikasi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0468" y="3026664"/>
            <a:ext cx="100584" cy="0"/>
          </a:xfrm>
          <a:prstGeom prst="line">
            <a:avLst/>
          </a:prstGeom>
          <a:ln w="190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44768" y="2514600"/>
            <a:ext cx="1700784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44768" y="2514600"/>
            <a:ext cx="64008" cy="10241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54496" y="2569464"/>
            <a:ext cx="1517904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4. 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7" y="2871216"/>
            <a:ext cx="1536192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Uji skenario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59268" y="3026664"/>
            <a:ext cx="100584" cy="0"/>
          </a:xfrm>
          <a:prstGeom prst="line">
            <a:avLst/>
          </a:prstGeom>
          <a:ln w="190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973568" y="2514600"/>
            <a:ext cx="1700784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73568" y="2514600"/>
            <a:ext cx="64008" cy="10241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83296" y="2569464"/>
            <a:ext cx="1517904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5. Rilis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5008" y="2871216"/>
            <a:ext cx="1536192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Deploy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88068" y="3026664"/>
            <a:ext cx="100584" cy="0"/>
          </a:xfrm>
          <a:prstGeom prst="line">
            <a:avLst/>
          </a:prstGeom>
          <a:ln w="190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802368" y="2514600"/>
            <a:ext cx="1700784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2514600"/>
            <a:ext cx="64008" cy="10241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12096" y="2569464"/>
            <a:ext cx="1517904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6. Maintenance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3808" y="2871216"/>
            <a:ext cx="1536192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Perbaikan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3977639"/>
            <a:ext cx="10863072" cy="14173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95528" y="409651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4110228"/>
            <a:ext cx="1362456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CATATAN PENTING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" y="4462272"/>
            <a:ext cx="10543032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Contoh output: dokumen kebutuhan disetujui lebih dahulu; setelah itu desain dan implementasi mengikuti baseline yang telah ditetapkan.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72B4D"/>
                </a:solidFill>
                <a:latin typeface="Aptos"/>
              </a:rPr>
              <a:t>Diskusi: bagian mana dari contoh ini yang paling menentukan keberhasilan proyek?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199632"/>
            <a:ext cx="1088136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Ilustrasi konseptual untuk pembelajaran; struktur nyata dapat berbeda sesuai kebutuhan proyek.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MODEL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BF8"/>
                </a:solidFill>
                <a:latin typeface="Aptos"/>
              </a:defRPr>
            </a:pPr>
            <a:r>
              <a:t>Memahami kebutuhan melalui model awal dan umpan balik pengguna.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Model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Pengertian: pendekatan pengembangan yang membuat model awal atau prototype sistem untuk membantu pengguna memahami dan memberikan umpan balik terhadap kebutuhan sistem.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Alur: Kebutuhan Awal → Prototype → Evaluasi Pengguna → Perbaikan → Prototype/Sistem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Jenis prototype:</a:t>
            </a:r>
          </a:p>
          <a:p>
            <a:pPr lvl="1">
              <a:spcAft>
                <a:spcPts val="8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t>Throwaway prototype – dibuat untuk memahami kebutuhan kemudian dibuang.</a:t>
            </a:r>
          </a:p>
          <a:p>
            <a:pPr lvl="1">
              <a:spcAft>
                <a:spcPts val="8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t>Evolutionary prototype – dikembangkan secara bertahap menjadi sistem final.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Prototyping: Kelebihan, Kekurangan &amp; Contoh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3282D"/>
                </a:solidFill>
                <a:latin typeface="Aptos"/>
              </a:defRPr>
            </a:pPr>
            <a:r>
              <a:t>Kelebihan:</a:t>
            </a:r>
          </a:p>
          <a:p>
            <a:pPr lvl="1">
              <a:spcAft>
                <a:spcPts val="800"/>
              </a:spcAft>
              <a:defRPr sz="1300">
                <a:solidFill>
                  <a:srgbClr val="23282D"/>
                </a:solidFill>
                <a:latin typeface="Aptos"/>
              </a:defRPr>
            </a:pPr>
            <a:r>
              <a:t>Pengguna lebih mudah memahami rancangan.</a:t>
            </a:r>
          </a:p>
          <a:p>
            <a:pPr lvl="1">
              <a:spcAft>
                <a:spcPts val="800"/>
              </a:spcAft>
              <a:defRPr sz="1300">
                <a:solidFill>
                  <a:srgbClr val="23282D"/>
                </a:solidFill>
                <a:latin typeface="Aptos"/>
              </a:defRPr>
            </a:pPr>
            <a:r>
              <a:t>Kebutuhan yang belum jelas dapat dieksplorasi.</a:t>
            </a:r>
          </a:p>
          <a:p>
            <a:pPr lvl="1">
              <a:spcAft>
                <a:spcPts val="800"/>
              </a:spcAft>
              <a:defRPr sz="1300">
                <a:solidFill>
                  <a:srgbClr val="23282D"/>
                </a:solidFill>
                <a:latin typeface="Aptos"/>
              </a:defRPr>
            </a:pPr>
            <a:r>
              <a:t>Feedback diperoleh lebih awal.</a:t>
            </a:r>
          </a:p>
          <a:p>
            <a:pPr lvl="1">
              <a:spcAft>
                <a:spcPts val="800"/>
              </a:spcAft>
              <a:defRPr sz="1300">
                <a:solidFill>
                  <a:srgbClr val="23282D"/>
                </a:solidFill>
                <a:latin typeface="Aptos"/>
              </a:defRPr>
            </a:pPr>
            <a:r>
              <a:t>Mengurangi risiko salah memahami kebutuhan.</a:t>
            </a:r>
          </a:p>
          <a:p>
            <a:pPr>
              <a:spcAft>
                <a:spcPts val="800"/>
              </a:spcAft>
              <a:defRPr sz="1500" b="0">
                <a:solidFill>
                  <a:srgbClr val="23282D"/>
                </a:solidFill>
                <a:latin typeface="Aptos"/>
              </a:defRPr>
            </a:pPr>
            <a:r>
              <a:t>Kekurangan:</a:t>
            </a:r>
          </a:p>
          <a:p>
            <a:pPr lvl="1">
              <a:spcAft>
                <a:spcPts val="800"/>
              </a:spcAft>
              <a:defRPr sz="1300">
                <a:solidFill>
                  <a:srgbClr val="23282D"/>
                </a:solidFill>
                <a:latin typeface="Aptos"/>
              </a:defRPr>
            </a:pPr>
            <a:r>
              <a:t>Pengguna dapat menganggap prototype sebagai produk final.</a:t>
            </a:r>
          </a:p>
          <a:p>
            <a:pPr lvl="1">
              <a:spcAft>
                <a:spcPts val="800"/>
              </a:spcAft>
              <a:defRPr sz="1300">
                <a:solidFill>
                  <a:srgbClr val="23282D"/>
                </a:solidFill>
                <a:latin typeface="Aptos"/>
              </a:defRPr>
            </a:pPr>
            <a:r>
              <a:t>Pengembang dapat terlalu fokus pada tampilan.</a:t>
            </a:r>
          </a:p>
          <a:p>
            <a:pPr lvl="1">
              <a:spcAft>
                <a:spcPts val="800"/>
              </a:spcAft>
              <a:defRPr sz="1300">
                <a:solidFill>
                  <a:srgbClr val="23282D"/>
                </a:solidFill>
                <a:latin typeface="Aptos"/>
              </a:defRPr>
            </a:pPr>
            <a:r>
              <a:t>Dokumentasi dapat terabaikan.</a:t>
            </a:r>
          </a:p>
          <a:p>
            <a:pPr lvl="1">
              <a:spcAft>
                <a:spcPts val="800"/>
              </a:spcAft>
              <a:defRPr sz="1300">
                <a:solidFill>
                  <a:srgbClr val="23282D"/>
                </a:solidFill>
                <a:latin typeface="Aptos"/>
              </a:defRPr>
            </a:pPr>
            <a:r>
              <a:t>Perubahan berulang dapat meningkatkan biaya.</a:t>
            </a:r>
          </a:p>
          <a:p>
            <a:pPr>
              <a:spcAft>
                <a:spcPts val="800"/>
              </a:spcAft>
              <a:defRPr sz="1500" b="0">
                <a:solidFill>
                  <a:srgbClr val="23282D"/>
                </a:solidFill>
                <a:latin typeface="Aptos"/>
              </a:defRPr>
            </a:pPr>
            <a:r>
              <a:t>Cocok untuk: sistem dengan kebutuhan belum jelas; aplikasi berorientasi pengguna; sistem dengan antarmuka kompleks.</a:t>
            </a:r>
          </a:p>
          <a:p>
            <a:pPr>
              <a:spcAft>
                <a:spcPts val="800"/>
              </a:spcAft>
              <a:defRPr sz="1500" b="0">
                <a:solidFill>
                  <a:srgbClr val="23282D"/>
                </a:solidFill>
                <a:latin typeface="Aptos"/>
              </a:defRPr>
            </a:pPr>
            <a:r>
              <a:t>Contoh: aplikasi mobile kampus yang membutuhkan banyak masukan mahasiswa dan dosen mengenai desain antarmuka.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172B4D"/>
                </a:solidFill>
                <a:latin typeface="Aptos"/>
              </a:rPr>
              <a:t>Contoh Model Prototyping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10642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Cocok ketika kebutuhan belum sepenuhnya jelas dan pengguna perlu mencoba rancangan awal.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1143000" cy="54864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0" y="6510528"/>
            <a:ext cx="2468880" cy="182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Rekayasa Perangkat Lunak • Contoh &amp; Visual •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74420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Kasus: aplikasi mobile kampus. Mahasiswa mencoba mock-up halaman KRS, lalu memberi masukan tentang navigasi, jadwal, dan tampilan.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75688"/>
            <a:ext cx="5943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7158A3"/>
                </a:solidFill>
                <a:latin typeface="Aptos"/>
              </a:rPr>
              <a:t>VISUALISASI ALUR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514600"/>
            <a:ext cx="64008" cy="1024128"/>
          </a:xfrm>
          <a:prstGeom prst="rect">
            <a:avLst/>
          </a:prstGeom>
          <a:solidFill>
            <a:srgbClr val="7158A3"/>
          </a:solidFill>
          <a:ln>
            <a:solidFill>
              <a:srgbClr val="715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Kebutuhan awal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Wawancara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38627" y="3026664"/>
            <a:ext cx="100584" cy="0"/>
          </a:xfrm>
          <a:prstGeom prst="line">
            <a:avLst/>
          </a:prstGeom>
          <a:ln w="19050">
            <a:solidFill>
              <a:srgbClr val="7158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52928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52928" y="2514600"/>
            <a:ext cx="64008" cy="1024128"/>
          </a:xfrm>
          <a:prstGeom prst="rect">
            <a:avLst/>
          </a:prstGeom>
          <a:solidFill>
            <a:srgbClr val="7158A3"/>
          </a:solidFill>
          <a:ln>
            <a:solidFill>
              <a:srgbClr val="715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62656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Prototype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Wireframe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3188" y="3026664"/>
            <a:ext cx="100584" cy="0"/>
          </a:xfrm>
          <a:prstGeom prst="line">
            <a:avLst/>
          </a:prstGeom>
          <a:ln w="19050">
            <a:solidFill>
              <a:srgbClr val="7158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47488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47488" y="2514600"/>
            <a:ext cx="64008" cy="1024128"/>
          </a:xfrm>
          <a:prstGeom prst="rect">
            <a:avLst/>
          </a:prstGeom>
          <a:solidFill>
            <a:srgbClr val="7158A3"/>
          </a:solidFill>
          <a:ln>
            <a:solidFill>
              <a:srgbClr val="715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57216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Evaluasi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7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Uji pengguna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27747" y="3026664"/>
            <a:ext cx="100584" cy="0"/>
          </a:xfrm>
          <a:prstGeom prst="line">
            <a:avLst/>
          </a:prstGeom>
          <a:ln w="19050">
            <a:solidFill>
              <a:srgbClr val="7158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42047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42047" y="2514600"/>
            <a:ext cx="64008" cy="1024128"/>
          </a:xfrm>
          <a:prstGeom prst="rect">
            <a:avLst/>
          </a:prstGeom>
          <a:solidFill>
            <a:srgbClr val="7158A3"/>
          </a:solidFill>
          <a:ln>
            <a:solidFill>
              <a:srgbClr val="715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51775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Perbaikan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Revisi desain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22308" y="3026664"/>
            <a:ext cx="100584" cy="0"/>
          </a:xfrm>
          <a:prstGeom prst="line">
            <a:avLst/>
          </a:prstGeom>
          <a:ln w="19050">
            <a:solidFill>
              <a:srgbClr val="7158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36608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36608" y="2514600"/>
            <a:ext cx="64008" cy="1024128"/>
          </a:xfrm>
          <a:prstGeom prst="rect">
            <a:avLst/>
          </a:prstGeom>
          <a:solidFill>
            <a:srgbClr val="7158A3"/>
          </a:solidFill>
          <a:ln>
            <a:solidFill>
              <a:srgbClr val="715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46336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Ulangi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Sampai cocok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3977639"/>
            <a:ext cx="10863072" cy="14173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95528" y="409651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7158A3"/>
          </a:solidFill>
          <a:ln>
            <a:solidFill>
              <a:srgbClr val="715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4110228"/>
            <a:ext cx="1362456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CATATAN PENTING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" y="4462272"/>
            <a:ext cx="10543032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Prototype dapat dibuang setelah kebutuhan jelas (throwaway) atau dikembangkan menjadi produk (evolutionary).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72B4D"/>
                </a:solidFill>
                <a:latin typeface="Aptos"/>
              </a:rPr>
              <a:t>Diskusi: bagian mana dari contoh ini yang paling menentukan keberhasilan proyek?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199632"/>
            <a:ext cx="1088136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Ilustrasi konseptual untuk pembelajaran; struktur nyata dapat berbeda sesuai kebutuhan proyek.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INCREMENTAL &amp; ITERATIVE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BF8"/>
                </a:solidFill>
                <a:latin typeface="Aptos"/>
              </a:defRPr>
            </a:pPr>
            <a:r>
              <a:t>Membangun sistem secara bertahap dan menyempurnakannya melalui pengulangan.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Model Incremental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t>Incremental berarti sistem dikembangkan dan diberikan kepada pengguna dalam beberapa bagian atau increment.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t>Contoh: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Increment 1 → Login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Increment 2 → Data Mahasiswa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Increment 3 → KRS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Increment 4 → Pembayaran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t>Setiap increment menambahkan kemampuan baru.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t>Kelebihan: produk dapat digunakan lebih awal; feedback diperoleh secara bertahap; risiko dapat dibagi menjadi beberapa bagian; prioritas fitur dapat disesuaikan.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Model Iterative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Iterative berarti sistem dikembangkan melalui pengulangan. Setiap iterasi menghasilkan versi yang semakin disempurnakan.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Version 1 → Feedback → Version 2 → Feedback → Version 3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Perbedaan sederhana:</a:t>
            </a:r>
          </a:p>
          <a:p>
            <a:pPr lvl="1">
              <a:spcAft>
                <a:spcPts val="8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t>Incremental: menambahkan fitur baru; fokus pada pertambahan fungsi; produk berkembang secara bertahap.</a:t>
            </a:r>
          </a:p>
          <a:p>
            <a:pPr lvl="1">
              <a:spcAft>
                <a:spcPts val="800"/>
              </a:spcAft>
              <a:defRPr sz="1600">
                <a:solidFill>
                  <a:srgbClr val="23282D"/>
                </a:solidFill>
                <a:latin typeface="Aptos"/>
              </a:defRPr>
            </a:pPr>
            <a:r>
              <a:t>Iterative: menyempurnakan fitur; fokus pada perbaikan; produk mengalami penyempurnaan berulang.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Dalam praktik: Incremental dan iterative sering digunakan bersamaan.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172B4D"/>
                </a:solidFill>
                <a:latin typeface="Aptos"/>
              </a:rPr>
              <a:t>Contoh Model Iterative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10642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Sistem diperbaiki melalui siklus berulang berdasarkan hasil pengujian dan umpan balik.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1143000" cy="54864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0" y="6510528"/>
            <a:ext cx="2468880" cy="182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Rekayasa Perangkat Lunak • Contoh &amp; Visual •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74420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Kasus: fitur pencarian mata kuliah. Versi awal dibuat, lalu disempurnakan agar pencarian lebih cepat dan filter lebih mudah digunakan.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75688"/>
            <a:ext cx="5943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Aptos"/>
              </a:rPr>
              <a:t>VISUALISASI ALUR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514600"/>
            <a:ext cx="64008" cy="1024128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Versi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Pencarian dasar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38627" y="3026664"/>
            <a:ext cx="100584" cy="0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52928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52928" y="2514600"/>
            <a:ext cx="64008" cy="1024128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62656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Pengguna mencoba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3188" y="3026664"/>
            <a:ext cx="100584" cy="0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47488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47488" y="2514600"/>
            <a:ext cx="64008" cy="1024128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57216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Versi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7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Tambah filter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27747" y="3026664"/>
            <a:ext cx="100584" cy="0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42047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42047" y="2514600"/>
            <a:ext cx="64008" cy="1024128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51775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Uji ulang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22308" y="3026664"/>
            <a:ext cx="100584" cy="0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36608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36608" y="2514600"/>
            <a:ext cx="64008" cy="1024128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46336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Versi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Optimasi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767328"/>
            <a:ext cx="292608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Kualitas disempurnakan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4434840"/>
            <a:ext cx="896112" cy="914400"/>
          </a:xfrm>
          <a:prstGeom prst="roundRect">
            <a:avLst>
              <a:gd name="adj" fmla="val 12000"/>
            </a:avLst>
          </a:prstGeom>
          <a:solidFill>
            <a:srgbClr val="D7E1ED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526279"/>
            <a:ext cx="804672" cy="2286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72B4D"/>
                </a:solidFill>
                <a:latin typeface="Aptos"/>
              </a:rPr>
              <a:t>V1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818888"/>
            <a:ext cx="80467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172B4D"/>
                </a:solidFill>
                <a:latin typeface="Aptos"/>
              </a:rPr>
              <a:t>Dasar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764792" y="4892040"/>
            <a:ext cx="137160" cy="0"/>
          </a:xfrm>
          <a:prstGeom prst="line">
            <a:avLst/>
          </a:prstGeom>
          <a:ln w="19050">
            <a:solidFill>
              <a:srgbClr val="1B9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920239" y="4434840"/>
            <a:ext cx="896112" cy="914400"/>
          </a:xfrm>
          <a:prstGeom prst="roundRect">
            <a:avLst>
              <a:gd name="adj" fmla="val 12000"/>
            </a:avLst>
          </a:prstGeom>
          <a:solidFill>
            <a:srgbClr val="A3C6DD"/>
          </a:solidFill>
          <a:ln>
            <a:solidFill>
              <a:srgbClr val="A3C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965959" y="4526279"/>
            <a:ext cx="804672" cy="2286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72B4D"/>
                </a:solidFill>
                <a:latin typeface="Aptos"/>
              </a:rPr>
              <a:t>V2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59" y="4818888"/>
            <a:ext cx="80467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172B4D"/>
                </a:solidFill>
                <a:latin typeface="Aptos"/>
              </a:rPr>
              <a:t>Lebih baik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816351" y="4892040"/>
            <a:ext cx="137160" cy="0"/>
          </a:xfrm>
          <a:prstGeom prst="line">
            <a:avLst/>
          </a:prstGeom>
          <a:ln w="19050">
            <a:solidFill>
              <a:srgbClr val="1B9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971800" y="4434840"/>
            <a:ext cx="896112" cy="914400"/>
          </a:xfrm>
          <a:prstGeom prst="roundRect">
            <a:avLst>
              <a:gd name="adj" fmla="val 12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017520" y="4526279"/>
            <a:ext cx="804672" cy="2286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72B4D"/>
                </a:solidFill>
                <a:latin typeface="Aptos"/>
              </a:rPr>
              <a:t>V3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4818888"/>
            <a:ext cx="804672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172B4D"/>
                </a:solidFill>
                <a:latin typeface="Aptos"/>
              </a:rPr>
              <a:t>Optimal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0" y="3977639"/>
            <a:ext cx="7132320" cy="14173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526280" y="409651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53712" y="4110228"/>
            <a:ext cx="1362456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CATATAN PENTING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80" y="4462272"/>
            <a:ext cx="6812280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Fokus utama: penyempurnaan kualitas atau perilaku solusi pada setiap iterasi. Dalam praktik, iterative dapat digabung dengan incremental.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72B4D"/>
                </a:solidFill>
                <a:latin typeface="Aptos"/>
              </a:rPr>
              <a:t>Diskusi: bagian mana dari contoh ini yang paling menentukan keberhasilan proyek?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199632"/>
            <a:ext cx="1088136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Ilustrasi konseptual untuk pembelajaran; struktur nyata dapat berbeda sesuai kebutuhan proyek.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MODEL SPIRAL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BF8"/>
                </a:solidFill>
                <a:latin typeface="Aptos"/>
              </a:defRPr>
            </a:pPr>
            <a:r>
              <a:t>Risk-Driven Model — menggabungkan pendekatan iteratif dengan analisis risiko.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Model Spiral – Risk-Driven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t>Pengertian: model pengembangan yang menggabungkan pendekatan iteratif dengan analisis risiko secara sistematis.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t>Empat aktivitas utama: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1. Planning – menentukan tujuan dan kebutuhan.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2. Risk Analysis – mengidentifikasi dan menganalisis risiko.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3. Engineering – mengembangkan dan menguji solusi.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4. Evaluation – mengevaluasi hasil bersama stakeholder.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t>Kemudian siklus berlanjut ke putaran berikutnya.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t>Fokus utama: Risk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Spiral: Kelebihan, Kekurangan &amp; Contoh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r>
              <a:t>Kelebihan: risiko diidentifikasi sejak awal; cocok untuk proyek besar dan kompleks; mendukung perubahan kebutuhan; feedback dapat diperoleh pada setiap siklus.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r>
              <a:t>Kekurangan: relatif kompleks; membutuhkan keahlian analisis risiko; biaya pengelolaan lebih tinggi; tidak selalu cocok untuk proyek kecil.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r>
              <a:t>Contoh: sistem perbankan skala besar; sistem kesehatan; sistem pertahanan; sistem dengan risiko keamanan tinggi.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172B4D"/>
                </a:solidFill>
                <a:latin typeface="Aptos"/>
              </a:rPr>
              <a:t>Contoh Model Spiral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10642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Pendekatan berbasis risiko; setiap putaran merencanakan, menganalisis risiko, membangun, lalu mengevaluasi.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1143000" cy="54864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0" y="6510528"/>
            <a:ext cx="2468880" cy="182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Rekayasa Perangkat Lunak • Contoh &amp; Visual •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74420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Kasus: sistem pembayaran kampus yang harus melindungi transaksi, menjaga ketersediaan, dan terhubung dengan penyedia pembayaran.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75688"/>
            <a:ext cx="5943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  <a:latin typeface="Aptos"/>
              </a:rPr>
              <a:t>VISUALISASI ALUR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14600"/>
            <a:ext cx="2615184" cy="1170432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514600"/>
            <a:ext cx="64008" cy="1170432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569464"/>
            <a:ext cx="243230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1.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2450591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Tujuan &amp; batas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87268" y="3099816"/>
            <a:ext cx="100584" cy="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01568" y="2514600"/>
            <a:ext cx="2615184" cy="1170432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1568" y="2514600"/>
            <a:ext cx="64008" cy="1170432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11296" y="2569464"/>
            <a:ext cx="243230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172B4D"/>
                </a:solidFill>
                <a:latin typeface="Aptos"/>
              </a:rPr>
              <a:t>2. Risk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871216"/>
            <a:ext cx="2450591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Fraud, privasi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0468" y="3099816"/>
            <a:ext cx="100584" cy="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44768" y="2514600"/>
            <a:ext cx="2615184" cy="1170432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2514600"/>
            <a:ext cx="64008" cy="1170432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54496" y="2569464"/>
            <a:ext cx="243230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3.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871216"/>
            <a:ext cx="2450591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Prototype &amp; uji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3668" y="3099816"/>
            <a:ext cx="100584" cy="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87968" y="2514600"/>
            <a:ext cx="2615184" cy="1170432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887968" y="2514600"/>
            <a:ext cx="64008" cy="1170432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97696" y="2569464"/>
            <a:ext cx="243230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4.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2871216"/>
            <a:ext cx="2450591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Review stakeholder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767328"/>
            <a:ext cx="292608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Siklus berulang (ilustrasi)</a:t>
            </a:r>
          </a:p>
        </p:txBody>
      </p:sp>
      <p:sp>
        <p:nvSpPr>
          <p:cNvPr id="29" name="Oval 28"/>
          <p:cNvSpPr/>
          <p:nvPr/>
        </p:nvSpPr>
        <p:spPr>
          <a:xfrm>
            <a:off x="1591055" y="4014216"/>
            <a:ext cx="566928" cy="566928"/>
          </a:xfrm>
          <a:prstGeom prst="ellipse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09343" y="4187952"/>
            <a:ext cx="530352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sp>
        <p:nvSpPr>
          <p:cNvPr id="31" name="Oval 30"/>
          <p:cNvSpPr/>
          <p:nvPr/>
        </p:nvSpPr>
        <p:spPr>
          <a:xfrm>
            <a:off x="2459736" y="4700016"/>
            <a:ext cx="566928" cy="566928"/>
          </a:xfrm>
          <a:prstGeom prst="ellipse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478024" y="4873752"/>
            <a:ext cx="530352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sp>
        <p:nvSpPr>
          <p:cNvPr id="33" name="Oval 32"/>
          <p:cNvSpPr/>
          <p:nvPr/>
        </p:nvSpPr>
        <p:spPr>
          <a:xfrm>
            <a:off x="1591055" y="5385816"/>
            <a:ext cx="566928" cy="566928"/>
          </a:xfrm>
          <a:prstGeom prst="ellipse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609343" y="5559552"/>
            <a:ext cx="530352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Build</a:t>
            </a:r>
          </a:p>
        </p:txBody>
      </p:sp>
      <p:sp>
        <p:nvSpPr>
          <p:cNvPr id="35" name="Oval 34"/>
          <p:cNvSpPr/>
          <p:nvPr/>
        </p:nvSpPr>
        <p:spPr>
          <a:xfrm>
            <a:off x="722376" y="4700016"/>
            <a:ext cx="566928" cy="566928"/>
          </a:xfrm>
          <a:prstGeom prst="ellipse">
            <a:avLst/>
          </a:prstGeom>
          <a:solidFill>
            <a:srgbClr val="7158A3"/>
          </a:solidFill>
          <a:ln>
            <a:solidFill>
              <a:srgbClr val="715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0664" y="4873752"/>
            <a:ext cx="530352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Review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148840" y="4407408"/>
            <a:ext cx="338328" cy="32004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2148840" y="5239512"/>
            <a:ext cx="338328" cy="301752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261872" y="5239512"/>
            <a:ext cx="338328" cy="301752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261872" y="4407408"/>
            <a:ext cx="338328" cy="32004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657600" y="3977639"/>
            <a:ext cx="7863840" cy="14173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3794760" y="409651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22192" y="4110228"/>
            <a:ext cx="1362456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CATATAN PENTING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94760" y="4462272"/>
            <a:ext cx="7543800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Risiko prioritas menentukan pekerjaan pada putaran berikutnya. Cocok untuk proyek besar/kompleks, tetapi butuh keahlian dan biaya pengelolaan lebih tinggi.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72B4D"/>
                </a:solidFill>
                <a:latin typeface="Aptos"/>
              </a:rPr>
              <a:t>Diskusi: bagian mana dari contoh ini yang paling menentukan keberhasilan proyek?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199632"/>
            <a:ext cx="1088136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Ilustrasi konseptual untuk pembelajaran; struktur nyata dapat berbeda sesuai kebutuhan proyek.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MODEL RAD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BF8"/>
                </a:solidFill>
                <a:latin typeface="Aptos"/>
              </a:defRPr>
            </a:pPr>
            <a:r>
              <a:t>Rapid Application Development — kecepatan, prototyping, komponen dan keterlibatan pengguna.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Model RAD – Rapid Application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rPr dirty="0" err="1"/>
              <a:t>Pengertian</a:t>
            </a:r>
            <a:r>
              <a:rPr dirty="0"/>
              <a:t>: </a:t>
            </a:r>
            <a:r>
              <a:rPr dirty="0" err="1"/>
              <a:t>pendekatan</a:t>
            </a:r>
            <a:r>
              <a:rPr dirty="0"/>
              <a:t> </a:t>
            </a:r>
            <a:r>
              <a:rPr dirty="0" err="1"/>
              <a:t>pengembangan</a:t>
            </a:r>
            <a:r>
              <a:rPr dirty="0"/>
              <a:t> yang </a:t>
            </a:r>
            <a:r>
              <a:rPr dirty="0" err="1"/>
              <a:t>menekankan</a:t>
            </a:r>
            <a:r>
              <a:rPr dirty="0"/>
              <a:t> </a:t>
            </a:r>
            <a:r>
              <a:rPr dirty="0" err="1"/>
              <a:t>kecepatan</a:t>
            </a:r>
            <a:r>
              <a:rPr dirty="0"/>
              <a:t> </a:t>
            </a:r>
            <a:r>
              <a:rPr dirty="0" err="1"/>
              <a:t>pembangunan</a:t>
            </a:r>
            <a:r>
              <a:rPr dirty="0"/>
              <a:t> </a:t>
            </a:r>
            <a:r>
              <a:rPr dirty="0" err="1"/>
              <a:t>aplikasi</a:t>
            </a:r>
            <a:r>
              <a:rPr dirty="0"/>
              <a:t> </a:t>
            </a:r>
            <a:r>
              <a:rPr dirty="0" err="1"/>
              <a:t>melalui</a:t>
            </a:r>
            <a:r>
              <a:rPr dirty="0"/>
              <a:t> prototyping, </a:t>
            </a:r>
            <a:r>
              <a:rPr dirty="0" err="1"/>
              <a:t>penggunaan</a:t>
            </a:r>
            <a:r>
              <a:rPr dirty="0"/>
              <a:t> </a:t>
            </a:r>
            <a:r>
              <a:rPr dirty="0" err="1"/>
              <a:t>komponen</a:t>
            </a:r>
            <a:r>
              <a:rPr dirty="0"/>
              <a:t>, dan </a:t>
            </a:r>
            <a:r>
              <a:rPr dirty="0" err="1"/>
              <a:t>keterlibatan</a:t>
            </a:r>
            <a:r>
              <a:rPr dirty="0"/>
              <a:t> </a:t>
            </a:r>
            <a:r>
              <a:rPr dirty="0" err="1"/>
              <a:t>pengguna</a:t>
            </a:r>
            <a:r>
              <a:rPr dirty="0"/>
              <a:t> </a:t>
            </a:r>
            <a:r>
              <a:rPr dirty="0" err="1"/>
              <a:t>secara</a:t>
            </a:r>
            <a:r>
              <a:rPr dirty="0"/>
              <a:t> </a:t>
            </a:r>
            <a:r>
              <a:rPr dirty="0" err="1"/>
              <a:t>intensif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rPr dirty="0" err="1"/>
              <a:t>Prinsip</a:t>
            </a:r>
            <a:r>
              <a:rPr dirty="0"/>
              <a:t> </a:t>
            </a:r>
            <a:r>
              <a:rPr dirty="0" err="1"/>
              <a:t>utama</a:t>
            </a:r>
            <a:r>
              <a:rPr dirty="0"/>
              <a:t>: </a:t>
            </a:r>
            <a:r>
              <a:rPr dirty="0" err="1"/>
              <a:t>pengembangan</a:t>
            </a:r>
            <a:r>
              <a:rPr dirty="0"/>
              <a:t> </a:t>
            </a:r>
            <a:r>
              <a:rPr dirty="0" err="1"/>
              <a:t>cepat</a:t>
            </a:r>
            <a:r>
              <a:rPr dirty="0"/>
              <a:t>; prototyping; user involvement; reusable components; </a:t>
            </a:r>
            <a:r>
              <a:rPr dirty="0" err="1"/>
              <a:t>iterasi</a:t>
            </a:r>
            <a:r>
              <a:rPr dirty="0"/>
              <a:t> </a:t>
            </a:r>
            <a:r>
              <a:rPr dirty="0" err="1"/>
              <a:t>singkat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rPr dirty="0" err="1"/>
              <a:t>Tahapan</a:t>
            </a:r>
            <a:r>
              <a:rPr dirty="0"/>
              <a:t> </a:t>
            </a:r>
            <a:r>
              <a:rPr dirty="0" err="1"/>
              <a:t>umum</a:t>
            </a:r>
            <a:r>
              <a:rPr dirty="0"/>
              <a:t>: Requirements Planning → User Design → Construction → Cutover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RAD: Kelebihan, Kekurangan &amp; Contoh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2882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rPr lang="id-ID" sz="2400"/>
              <a:t>Kelebihan: waktu pengembangan relatif cepat; feedback pengguna diperoleh dengan cepat; cocok untuk aplikasi bisnis; menggunakan kembali komponen yang tersedia.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rPr lang="id-ID" sz="2400"/>
              <a:t>Kekurangan: membutuhkan pengguna yang aktif; kurang cocok untuk sistem yang sangat kompleks; membutuhkan tenaga pengembang yang terampil; tidak semua proyek dapat dikembangkan dengan cepat.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rPr lang="id-ID" sz="2400"/>
              <a:t>Contoh: aplikasi internal perusahaan yang membutuhkan sistem informasi sederhana dalam waktu relatif singkat.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172B4D"/>
                </a:solidFill>
                <a:latin typeface="Aptos"/>
              </a:rPr>
              <a:t>Contoh Model RAD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10642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Rapid Application Development menekankan prototyping cepat, keterlibatan pengguna, dan komponen siap pakai.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1143000" cy="54864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0" y="6510528"/>
            <a:ext cx="2468880" cy="182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Rekayasa Perangkat Lunak • Contoh &amp; Visual •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74420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Kasus: aplikasi inventaris internal untuk unit kampus, dibangun cepat dengan template UI, database, dan masukan langsung staf.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75688"/>
            <a:ext cx="5943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  <a:latin typeface="Aptos"/>
              </a:rPr>
              <a:t>VISUALISASI ALUR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14600"/>
            <a:ext cx="2615184" cy="1170432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514600"/>
            <a:ext cx="64008" cy="1170432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569464"/>
            <a:ext cx="243230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2450591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Workshop singkat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87268" y="3099816"/>
            <a:ext cx="100584" cy="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01568" y="2514600"/>
            <a:ext cx="2615184" cy="1170432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1568" y="2514600"/>
            <a:ext cx="64008" cy="1170432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11296" y="2569464"/>
            <a:ext cx="243230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User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871216"/>
            <a:ext cx="2450591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Prototype bersama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0468" y="3099816"/>
            <a:ext cx="100584" cy="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44768" y="2514600"/>
            <a:ext cx="2615184" cy="1170432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2514600"/>
            <a:ext cx="64008" cy="1170432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54496" y="2569464"/>
            <a:ext cx="243230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Construction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871216"/>
            <a:ext cx="2450591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Bangun cepat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3668" y="3099816"/>
            <a:ext cx="100584" cy="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87968" y="2514600"/>
            <a:ext cx="2615184" cy="1170432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887968" y="2514600"/>
            <a:ext cx="64008" cy="1170432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97696" y="2569464"/>
            <a:ext cx="243230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Cutover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2871216"/>
            <a:ext cx="2450591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Uji &amp; rilis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977639"/>
            <a:ext cx="10863072" cy="14173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95528" y="409651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110228"/>
            <a:ext cx="1362456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CATATAN PENTING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4462272"/>
            <a:ext cx="10543032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RAD efektif jika ruang lingkup dapat dibagi, pengguna aktif memberi feedback, dan tim berpengalaman. Tidak semua sistem dapat dipercepat dengan cara ini.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72B4D"/>
                </a:solidFill>
                <a:latin typeface="Aptos"/>
              </a:rPr>
              <a:t>Diskusi: bagian mana dari contoh ini yang paling menentukan keberhasilan proyek?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199632"/>
            <a:ext cx="1088136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Ilustrasi konseptual untuk pembelajaran; struktur nyata dapat berbeda sesuai kebutuhan proyek.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MODEL V-SHAPE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BF8"/>
                </a:solidFill>
                <a:latin typeface="Aptos"/>
              </a:defRPr>
            </a:pPr>
            <a:r>
              <a:t>Verification and Validation — menghubungkan tahapan pengembangan dengan pengujian.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Model V-Shape – Verification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r>
              <a:rPr dirty="0" err="1"/>
              <a:t>Pengertian</a:t>
            </a:r>
            <a:r>
              <a:rPr dirty="0"/>
              <a:t>: model </a:t>
            </a:r>
            <a:r>
              <a:rPr dirty="0" err="1"/>
              <a:t>pengembangan</a:t>
            </a:r>
            <a:r>
              <a:rPr dirty="0"/>
              <a:t> yang </a:t>
            </a:r>
            <a:r>
              <a:rPr dirty="0" err="1"/>
              <a:t>menghubungkan</a:t>
            </a:r>
            <a:r>
              <a:rPr dirty="0"/>
              <a:t> </a:t>
            </a:r>
            <a:r>
              <a:rPr dirty="0" err="1"/>
              <a:t>setiap</a:t>
            </a:r>
            <a:r>
              <a:rPr dirty="0"/>
              <a:t> </a:t>
            </a:r>
            <a:r>
              <a:rPr dirty="0" err="1"/>
              <a:t>tahap</a:t>
            </a:r>
            <a:r>
              <a:rPr dirty="0"/>
              <a:t> </a:t>
            </a:r>
            <a:r>
              <a:rPr dirty="0" err="1"/>
              <a:t>pengembangan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tahap</a:t>
            </a:r>
            <a:r>
              <a:rPr dirty="0"/>
              <a:t> </a:t>
            </a:r>
            <a:r>
              <a:rPr dirty="0" err="1"/>
              <a:t>pengujian</a:t>
            </a:r>
            <a:r>
              <a:rPr dirty="0"/>
              <a:t> yang </a:t>
            </a:r>
            <a:r>
              <a:rPr dirty="0" err="1"/>
              <a:t>sesuai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r>
              <a:rPr dirty="0"/>
              <a:t>Model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berbentuk</a:t>
            </a:r>
            <a:r>
              <a:rPr dirty="0"/>
              <a:t> </a:t>
            </a:r>
            <a:r>
              <a:rPr dirty="0" err="1"/>
              <a:t>seperti</a:t>
            </a:r>
            <a:r>
              <a:rPr dirty="0"/>
              <a:t> </a:t>
            </a:r>
            <a:r>
              <a:rPr dirty="0" err="1"/>
              <a:t>huruf</a:t>
            </a:r>
            <a:r>
              <a:rPr dirty="0"/>
              <a:t> V.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r>
              <a:rPr lang="en-US" dirty="0"/>
              <a:t>Sisi </a:t>
            </a:r>
            <a:r>
              <a:rPr lang="en-US" dirty="0" err="1"/>
              <a:t>kiri</a:t>
            </a:r>
            <a:r>
              <a:rPr lang="en-US" dirty="0"/>
              <a:t> – Verification: Requirements → System Design → Architecture Design → Module Design → Coding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r>
              <a:rPr dirty="0"/>
              <a:t>Sisi </a:t>
            </a:r>
            <a:r>
              <a:rPr dirty="0" err="1"/>
              <a:t>kanan</a:t>
            </a:r>
            <a:r>
              <a:rPr dirty="0"/>
              <a:t> – Validation: Unit Testing → Integration Testing → System Testing → Acceptance Testing</a:t>
            </a:r>
            <a:endParaRPr lang="en-US" dirty="0"/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V-Model: Konsep, Kelebihan, Kekurangan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rPr lang="id-ID" sz="2000" dirty="0"/>
              <a:t>Verification: “Are we building the product right?”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rPr lang="id-ID" sz="2000" dirty="0"/>
              <a:t>Validation: “Are we building the right product?”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rPr lang="id-ID" sz="2000" dirty="0"/>
              <a:t>Kelebihan: pengujian direncanakan sejak awal; hubungan kebutuhan dan pengujian jelas; cocok untuk sistem yang membutuhkan kualitas dan dokumentasi tinggi.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rPr lang="id-ID" sz="2000" dirty="0"/>
              <a:t>Kekurangan: kurang fleksibel terhadap perubahan; perubahan kebutuhan dapat mahal; kurang cocok untuk proyek dengan kebutuhan yang belum jelas.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rPr lang="id-ID" sz="2000" dirty="0"/>
              <a:t>Contoh: sistem medis; sistem otomotif; sistem penerbangan; sistem yang memiliki tuntutan keselamatan tinggi.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172B4D"/>
                </a:solidFill>
                <a:latin typeface="Aptos"/>
              </a:rPr>
              <a:t>Contoh Model V-Shape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10642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Setiap tahap spesifikasi/perancangan di sisi kiri dipasangkan dengan tingkat pengujian yang sesuai di sisi kanan.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1143000" cy="54864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0" y="6510528"/>
            <a:ext cx="2468880" cy="182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Rekayasa Perangkat Lunak • Contoh &amp; Visual •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74420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Kasus: sistem presensi laboratorium. Kebutuhan akses, integrasi perangkat, dan fungsi modul direncanakan bersama pengujiannya.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75688"/>
            <a:ext cx="5943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2B6CB0"/>
                </a:solidFill>
                <a:latin typeface="Aptos"/>
              </a:rPr>
              <a:t>VISUALISASI ALUR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14600"/>
            <a:ext cx="2615184" cy="1170432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514600"/>
            <a:ext cx="64008" cy="117043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569464"/>
            <a:ext cx="243230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2450591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↔ Acceptance test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87268" y="3099816"/>
            <a:ext cx="100584" cy="0"/>
          </a:xfrm>
          <a:prstGeom prst="line">
            <a:avLst/>
          </a:prstGeom>
          <a:ln w="190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01568" y="2514600"/>
            <a:ext cx="2615184" cy="1170432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1568" y="2514600"/>
            <a:ext cx="64008" cy="117043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11296" y="2569464"/>
            <a:ext cx="243230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System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871216"/>
            <a:ext cx="2450591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↔ System test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0468" y="3099816"/>
            <a:ext cx="100584" cy="0"/>
          </a:xfrm>
          <a:prstGeom prst="line">
            <a:avLst/>
          </a:prstGeom>
          <a:ln w="190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44768" y="2514600"/>
            <a:ext cx="2615184" cy="1170432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2514600"/>
            <a:ext cx="64008" cy="117043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54496" y="2569464"/>
            <a:ext cx="243230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871216"/>
            <a:ext cx="2450591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↔ Integration test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3668" y="3099816"/>
            <a:ext cx="100584" cy="0"/>
          </a:xfrm>
          <a:prstGeom prst="line">
            <a:avLst/>
          </a:prstGeom>
          <a:ln w="19050">
            <a:solidFill>
              <a:srgbClr val="2B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87968" y="2514600"/>
            <a:ext cx="2615184" cy="1170432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887968" y="2514600"/>
            <a:ext cx="64008" cy="117043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97696" y="2569464"/>
            <a:ext cx="243230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Module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2871216"/>
            <a:ext cx="2450591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↔ Unit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767328"/>
            <a:ext cx="292608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ptos"/>
              </a:rPr>
              <a:t>Bentuk V: desain ↔ pengujian</a:t>
            </a:r>
          </a:p>
        </p:txBody>
      </p:sp>
      <p:sp>
        <p:nvSpPr>
          <p:cNvPr id="29" name="Oval 28"/>
          <p:cNvSpPr/>
          <p:nvPr/>
        </p:nvSpPr>
        <p:spPr>
          <a:xfrm>
            <a:off x="740664" y="4032503"/>
            <a:ext cx="347472" cy="347472"/>
          </a:xfrm>
          <a:prstGeom prst="ellipse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4416552"/>
            <a:ext cx="585216" cy="2286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800" b="1">
                <a:solidFill>
                  <a:srgbClr val="283444"/>
                </a:solidFill>
                <a:latin typeface="Aptos"/>
              </a:rPr>
              <a:t>Req.</a:t>
            </a:r>
          </a:p>
        </p:txBody>
      </p:sp>
      <p:sp>
        <p:nvSpPr>
          <p:cNvPr id="31" name="Oval 30"/>
          <p:cNvSpPr/>
          <p:nvPr/>
        </p:nvSpPr>
        <p:spPr>
          <a:xfrm>
            <a:off x="1517904" y="4443983"/>
            <a:ext cx="347472" cy="347472"/>
          </a:xfrm>
          <a:prstGeom prst="ellipse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99032" y="4828032"/>
            <a:ext cx="585216" cy="2286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800" b="1">
                <a:solidFill>
                  <a:srgbClr val="283444"/>
                </a:solidFill>
                <a:latin typeface="Aptos"/>
              </a:rPr>
              <a:t>System</a:t>
            </a:r>
          </a:p>
        </p:txBody>
      </p:sp>
      <p:sp>
        <p:nvSpPr>
          <p:cNvPr id="33" name="Oval 32"/>
          <p:cNvSpPr/>
          <p:nvPr/>
        </p:nvSpPr>
        <p:spPr>
          <a:xfrm>
            <a:off x="2295144" y="4855464"/>
            <a:ext cx="347472" cy="347472"/>
          </a:xfrm>
          <a:prstGeom prst="ellipse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76272" y="5239512"/>
            <a:ext cx="585216" cy="2286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800" b="1">
                <a:solidFill>
                  <a:srgbClr val="283444"/>
                </a:solidFill>
                <a:latin typeface="Aptos"/>
              </a:rPr>
              <a:t>Arch.</a:t>
            </a:r>
          </a:p>
        </p:txBody>
      </p:sp>
      <p:sp>
        <p:nvSpPr>
          <p:cNvPr id="35" name="Oval 34"/>
          <p:cNvSpPr/>
          <p:nvPr/>
        </p:nvSpPr>
        <p:spPr>
          <a:xfrm>
            <a:off x="3072384" y="5266944"/>
            <a:ext cx="347472" cy="347472"/>
          </a:xfrm>
          <a:prstGeom prst="ellipse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53512" y="5650992"/>
            <a:ext cx="585216" cy="2286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800" b="1">
                <a:solidFill>
                  <a:srgbClr val="283444"/>
                </a:solidFill>
                <a:latin typeface="Aptos"/>
              </a:rPr>
              <a:t>Code</a:t>
            </a:r>
          </a:p>
        </p:txBody>
      </p:sp>
      <p:sp>
        <p:nvSpPr>
          <p:cNvPr id="37" name="Oval 36"/>
          <p:cNvSpPr/>
          <p:nvPr/>
        </p:nvSpPr>
        <p:spPr>
          <a:xfrm>
            <a:off x="3849624" y="4855464"/>
            <a:ext cx="347472" cy="347472"/>
          </a:xfrm>
          <a:prstGeom prst="ellipse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30752" y="5239512"/>
            <a:ext cx="585216" cy="2286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800" b="1">
                <a:solidFill>
                  <a:srgbClr val="283444"/>
                </a:solidFill>
                <a:latin typeface="Aptos"/>
              </a:rPr>
              <a:t>Unit</a:t>
            </a:r>
          </a:p>
        </p:txBody>
      </p:sp>
      <p:sp>
        <p:nvSpPr>
          <p:cNvPr id="39" name="Oval 38"/>
          <p:cNvSpPr/>
          <p:nvPr/>
        </p:nvSpPr>
        <p:spPr>
          <a:xfrm>
            <a:off x="4626864" y="4443983"/>
            <a:ext cx="347472" cy="347472"/>
          </a:xfrm>
          <a:prstGeom prst="ellipse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07992" y="4828032"/>
            <a:ext cx="585216" cy="2286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800" b="1">
                <a:solidFill>
                  <a:srgbClr val="283444"/>
                </a:solidFill>
                <a:latin typeface="Aptos"/>
              </a:rPr>
              <a:t>Integr.</a:t>
            </a:r>
          </a:p>
        </p:txBody>
      </p:sp>
      <p:sp>
        <p:nvSpPr>
          <p:cNvPr id="41" name="Oval 40"/>
          <p:cNvSpPr/>
          <p:nvPr/>
        </p:nvSpPr>
        <p:spPr>
          <a:xfrm>
            <a:off x="5404103" y="4032503"/>
            <a:ext cx="347472" cy="347472"/>
          </a:xfrm>
          <a:prstGeom prst="ellipse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85231" y="4416552"/>
            <a:ext cx="585216" cy="2286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800" b="1">
                <a:solidFill>
                  <a:srgbClr val="283444"/>
                </a:solidFill>
                <a:latin typeface="Aptos"/>
              </a:rPr>
              <a:t>Accept.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78992" y="4261103"/>
            <a:ext cx="448056" cy="411480"/>
          </a:xfrm>
          <a:prstGeom prst="line">
            <a:avLst/>
          </a:prstGeom>
          <a:ln w="19050">
            <a:solidFill>
              <a:srgbClr val="D7E1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856232" y="4672583"/>
            <a:ext cx="448056" cy="411481"/>
          </a:xfrm>
          <a:prstGeom prst="line">
            <a:avLst/>
          </a:prstGeom>
          <a:ln w="19050">
            <a:solidFill>
              <a:srgbClr val="D7E1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633472" y="5084064"/>
            <a:ext cx="448055" cy="411480"/>
          </a:xfrm>
          <a:prstGeom prst="line">
            <a:avLst/>
          </a:prstGeom>
          <a:ln w="19050">
            <a:solidFill>
              <a:srgbClr val="D7E1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410712" y="5084064"/>
            <a:ext cx="448056" cy="411480"/>
          </a:xfrm>
          <a:prstGeom prst="line">
            <a:avLst/>
          </a:prstGeom>
          <a:ln w="19050">
            <a:solidFill>
              <a:srgbClr val="D7E1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187952" y="4672583"/>
            <a:ext cx="448056" cy="411481"/>
          </a:xfrm>
          <a:prstGeom prst="line">
            <a:avLst/>
          </a:prstGeom>
          <a:ln w="19050">
            <a:solidFill>
              <a:srgbClr val="D7E1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965192" y="4261103"/>
            <a:ext cx="448056" cy="411480"/>
          </a:xfrm>
          <a:prstGeom prst="line">
            <a:avLst/>
          </a:prstGeom>
          <a:ln w="19050">
            <a:solidFill>
              <a:srgbClr val="D7E1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126480" y="3977639"/>
            <a:ext cx="5394959" cy="14173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263640" y="409651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2B6CB0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91072" y="4110228"/>
            <a:ext cx="1362456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CATATAN PENTING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462272"/>
            <a:ext cx="5074920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Pengujian direncanakan sejak awal. Coding berada di dasar huruf V; pasangan pengujian di sisi kanan memeriksa hasil pada tingkat yang sesuai.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72B4D"/>
                </a:solidFill>
                <a:latin typeface="Aptos"/>
              </a:rPr>
              <a:t>Diskusi: bagian mana dari contoh ini yang paling menentukan keberhasilan proyek?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199632"/>
            <a:ext cx="1088136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Ilustrasi konseptual untuk pembelajaran; struktur nyata dapat berbeda sesuai kebutuhan proyek.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COMPONENT-BASED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BF8"/>
                </a:solidFill>
                <a:latin typeface="Aptos"/>
              </a:defRPr>
            </a:pPr>
            <a:r>
              <a:t>Membangun software dengan memanfaatkan komponen yang dapat digunakan kembali.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Component-Based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r>
              <a:t>Pengertian: pendekatan pengembangan perangkat lunak dengan menggunakan komponen yang sudah tersedia dan dapat digunakan kembali.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r>
              <a:t>Konsep utama: Component → Reuse → Integration → Application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r>
              <a:t>Contoh komponen: Authentication module; Payment gateway; Database component; Reporting module; UI component; API.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Component-Based Development: Proses &amp; Evaluasi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t>Proses: 1) Identifikasi kebutuhan; 2) Mencari komponen yang tersedia; 3) Mengevaluasi komponen; 4) Melakukan adaptasi; 5) Mengintegrasikan komponen; 6) Melakukan pengujian.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t>Kelebihan: mengurangi waktu pengembangan; mengurangi pekerjaan pemrograman berulang; meningkatkan penggunaan kembali software; memanfaatkan komponen yang telah diuji.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t>Kekurangan: ketergantungan terhadap komponen pihak ketiga; masalah kompatibilitas; risiko keamanan komponen; versi komponen dapat berubah.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Component-Based Development: Contoh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Pengembang menggunakan:</a:t>
            </a:r>
          </a:p>
          <a:p>
            <a:pPr lvl="1">
              <a:spcAft>
                <a:spcPts val="8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library autentikasi</a:t>
            </a:r>
          </a:p>
          <a:p>
            <a:pPr lvl="1">
              <a:spcAft>
                <a:spcPts val="8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payment API</a:t>
            </a:r>
          </a:p>
          <a:p>
            <a:pPr lvl="1">
              <a:spcAft>
                <a:spcPts val="8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framework UI</a:t>
            </a:r>
          </a:p>
          <a:p>
            <a:pPr lvl="1">
              <a:spcAft>
                <a:spcPts val="8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database driver</a:t>
            </a:r>
          </a:p>
          <a:p>
            <a:pPr lvl="1">
              <a:spcAft>
                <a:spcPts val="800"/>
              </a:spcAft>
              <a:defRPr sz="1800">
                <a:solidFill>
                  <a:srgbClr val="23282D"/>
                </a:solidFill>
                <a:latin typeface="Aptos"/>
              </a:defRPr>
            </a:pPr>
            <a:r>
              <a:t>cloud services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daripada membangun semuanya dari nol.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172B4D"/>
                </a:solidFill>
                <a:latin typeface="Aptos"/>
              </a:rPr>
              <a:t>Contoh Component-Based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10642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Aplikasi dibangun dengan mengintegrasikan komponen yang sudah tersedia dan dievaluasi kelayakannya.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1143000" cy="54864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0" y="6510528"/>
            <a:ext cx="2468880" cy="182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Rekayasa Perangkat Lunak • Contoh &amp; Visual •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74420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Kasus: toko daring kampus menggunakan framework UI, layanan autentikasi, payment gateway, dan library laporan yang tersedia.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75688"/>
            <a:ext cx="5943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7158A3"/>
                </a:solidFill>
                <a:latin typeface="Aptos"/>
              </a:rPr>
              <a:t>VISUALISASI ALUR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514600"/>
            <a:ext cx="64008" cy="1024128"/>
          </a:xfrm>
          <a:prstGeom prst="rect">
            <a:avLst/>
          </a:prstGeom>
          <a:solidFill>
            <a:srgbClr val="7158A3"/>
          </a:solidFill>
          <a:ln>
            <a:solidFill>
              <a:srgbClr val="715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Identifikasi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Kebutuhan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38627" y="3026664"/>
            <a:ext cx="100584" cy="0"/>
          </a:xfrm>
          <a:prstGeom prst="line">
            <a:avLst/>
          </a:prstGeom>
          <a:ln w="19050">
            <a:solidFill>
              <a:srgbClr val="7158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52928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52928" y="2514600"/>
            <a:ext cx="64008" cy="1024128"/>
          </a:xfrm>
          <a:prstGeom prst="rect">
            <a:avLst/>
          </a:prstGeom>
          <a:solidFill>
            <a:srgbClr val="7158A3"/>
          </a:solidFill>
          <a:ln>
            <a:solidFill>
              <a:srgbClr val="715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62656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Cari komponen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Library / API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3188" y="3026664"/>
            <a:ext cx="100584" cy="0"/>
          </a:xfrm>
          <a:prstGeom prst="line">
            <a:avLst/>
          </a:prstGeom>
          <a:ln w="19050">
            <a:solidFill>
              <a:srgbClr val="7158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47488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47488" y="2514600"/>
            <a:ext cx="64008" cy="1024128"/>
          </a:xfrm>
          <a:prstGeom prst="rect">
            <a:avLst/>
          </a:prstGeom>
          <a:solidFill>
            <a:srgbClr val="7158A3"/>
          </a:solidFill>
          <a:ln>
            <a:solidFill>
              <a:srgbClr val="715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57216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Evaluasi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7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Lisensi &amp; keamanan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27747" y="3026664"/>
            <a:ext cx="100584" cy="0"/>
          </a:xfrm>
          <a:prstGeom prst="line">
            <a:avLst/>
          </a:prstGeom>
          <a:ln w="19050">
            <a:solidFill>
              <a:srgbClr val="7158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42047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42047" y="2514600"/>
            <a:ext cx="64008" cy="1024128"/>
          </a:xfrm>
          <a:prstGeom prst="rect">
            <a:avLst/>
          </a:prstGeom>
          <a:solidFill>
            <a:srgbClr val="7158A3"/>
          </a:solidFill>
          <a:ln>
            <a:solidFill>
              <a:srgbClr val="715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51775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Integrasi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Hubungkan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22308" y="3026664"/>
            <a:ext cx="100584" cy="0"/>
          </a:xfrm>
          <a:prstGeom prst="line">
            <a:avLst/>
          </a:prstGeom>
          <a:ln w="19050">
            <a:solidFill>
              <a:srgbClr val="7158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36608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36608" y="2514600"/>
            <a:ext cx="64008" cy="1024128"/>
          </a:xfrm>
          <a:prstGeom prst="rect">
            <a:avLst/>
          </a:prstGeom>
          <a:solidFill>
            <a:srgbClr val="7158A3"/>
          </a:solidFill>
          <a:ln>
            <a:solidFill>
              <a:srgbClr val="715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46336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Pengujian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Uji end-to-end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3977639"/>
            <a:ext cx="10863072" cy="14173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95528" y="409651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7158A3"/>
          </a:solidFill>
          <a:ln>
            <a:solidFill>
              <a:srgbClr val="715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4110228"/>
            <a:ext cx="1362456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CATATAN PENTING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" y="4462272"/>
            <a:ext cx="10543032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Reuse mengurangi pekerjaan berulang, tetapi tim tetap harus memeriksa kompatibilitas, lisensi, dukungan versi, dan risiko keamanan.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72B4D"/>
                </a:solidFill>
                <a:latin typeface="Aptos"/>
              </a:rPr>
              <a:t>Diskusi: bagian mana dari contoh ini yang paling menentukan keberhasilan proyek?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199632"/>
            <a:ext cx="1088136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Ilustrasi konseptual untuk pembelajaran; struktur nyata dapat berbeda sesuai kebutuhan proyek.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PEMILIHAN MODEL PROSES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BF8"/>
                </a:solidFill>
                <a:latin typeface="Aptos"/>
              </a:defRPr>
            </a:pPr>
            <a:r>
              <a:t>Tidak ada satu model SDLC yang selalu paling baik.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Pemilihan Model Proses yang Tepat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  <a:latin typeface="Aptos"/>
              </a:defRPr>
            </a:pPr>
            <a:r>
              <a:t>Model harus dipilih berdasarkan karakteristik proyek.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  <a:latin typeface="Aptos"/>
              </a:defRPr>
            </a:pPr>
            <a:r>
              <a:t>Faktor yang perlu dipertimbangkan:</a:t>
            </a:r>
          </a:p>
          <a:p>
            <a:pPr lvl="1">
              <a:spcAft>
                <a:spcPts val="8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1. Stabilitas kebutuhan: Stabil → Waterfall/V-Model; Berubah → Iterative/Agile</a:t>
            </a:r>
          </a:p>
          <a:p>
            <a:pPr lvl="1">
              <a:spcAft>
                <a:spcPts val="8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2. Tingkat risiko: Risiko tinggi → Spiral</a:t>
            </a:r>
          </a:p>
          <a:p>
            <a:pPr lvl="1">
              <a:spcAft>
                <a:spcPts val="8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3. Kecepatan pengembangan: Sangat membutuhkan kecepatan → RAD</a:t>
            </a:r>
          </a:p>
          <a:p>
            <a:pPr lvl="1">
              <a:spcAft>
                <a:spcPts val="8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4. Keterlibatan pengguna: Tinggi → Prototyping/Iterative</a:t>
            </a:r>
          </a:p>
          <a:p>
            <a:pPr lvl="1">
              <a:spcAft>
                <a:spcPts val="8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5. Kompleksitas sistem: Kompleks → Spiral/Iterative</a:t>
            </a:r>
          </a:p>
          <a:p>
            <a:pPr lvl="1">
              <a:spcAft>
                <a:spcPts val="8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6. Kebutuhan kualitas dan regulasi: Tinggi → V-Model/Waterfall dengan kontrol yang kuat</a:t>
            </a:r>
          </a:p>
          <a:p>
            <a:pPr lvl="1">
              <a:spcAft>
                <a:spcPts val="8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7. Ketersediaan komponen: Banyak komponen siap pakai → Component-Based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Panduan Pemilihan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Kebutuhan sangat jelas → Waterfall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Kebutuhan belum jelas → Prototyping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Fitur dikembangkan bertahap → Incremental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Membutuhkan penyempurnaan berulang → Iterative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Risiko sangat tinggi → Spiral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Membutuhkan pengembangan cepat → RAD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Pengujian sangat ketat → V-Model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Banyak komponen tersedia → Component-Based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EVOLUSI MODEL PROSES KE ARAH MODERN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BF8"/>
                </a:solidFill>
                <a:latin typeface="Aptos"/>
              </a:defRPr>
            </a:pPr>
            <a:r>
              <a:t>Dari model linear menuju proses adaptif, otomatis, terintegrasi dan berbantuan AI.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Evolusi Model Proses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rPr dirty="0"/>
              <a:t>Waterfall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rPr dirty="0"/>
              <a:t>↓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rPr dirty="0"/>
              <a:t>Prototyping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rPr dirty="0"/>
              <a:t>↓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rPr dirty="0"/>
              <a:t>Incremental / Iterative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rPr dirty="0"/>
              <a:t>↓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rPr dirty="0"/>
              <a:t>Spiral / RAD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rPr dirty="0"/>
              <a:t>↓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rPr dirty="0"/>
              <a:t>Agile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rPr dirty="0"/>
              <a:t>↓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rPr dirty="0"/>
              <a:t>DevOps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rPr dirty="0"/>
              <a:t>↓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rPr dirty="0" err="1"/>
              <a:t>DevSecOps</a:t>
            </a:r>
            <a:r>
              <a:rPr dirty="0"/>
              <a:t> / Cloud-Native / AI-Assisted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30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Mengapa Terjadi Evolusi?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  <a:latin typeface="Aptos"/>
              </a:defRPr>
            </a:pPr>
            <a:r>
              <a:t>Perangkat lunak modern membutuhkan: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Pengembangan lebih cepat.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Feedback pengguna lebih sering.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Continuous Integration.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Continuous Delivery.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Otomasi testing.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Cloud computing.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Keamanan sejak awal.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Integrasi lintas tim.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Adaptasi terhadap perubahan.</a:t>
            </a:r>
          </a:p>
          <a:p>
            <a:pPr lvl="1">
              <a:spcAft>
                <a:spcPts val="8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Pemanfaatan AI dalam pengembangan software.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31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BF8"/>
                </a:solidFill>
                <a:latin typeface="Aptos"/>
              </a:defRPr>
            </a:pPr>
            <a:r>
              <a:t>Pendekatan adaptif yang menekankan iterasi singkat, kolaborasi dan feedback.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Model Modern: 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r>
              <a:t>Pengertian: Agile merupakan pendekatan pengembangan yang menekankan iterasi singkat, kolaborasi, feedback pengguna, dan kemampuan beradaptasi terhadap perubahan.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r>
              <a:t>Prinsip utama: Customer collaboration; Working software; Responding to change; Continuous feedback; Cross-functional team.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r>
              <a:t>Contoh framework: Scrum; Kanban; Extreme Programming (XP).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33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Contoh Siklus Scrum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r>
              <a:t>Product Backlog → Sprint Planning → Sprint → Review → Retrospective → Sprint berikutnya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r>
              <a:t>Product Backlog: daftar kebutuhan atau pekerjaan yang diprioritaskan.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r>
              <a:t>Sprint: periode pengembangan dengan tujuan yang jelas.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r>
              <a:t>Review: mengevaluasi hasil sprint.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  <a:latin typeface="Aptos"/>
              </a:defRPr>
            </a:pPr>
            <a:r>
              <a:t>Retrospective: merefleksikan proses dan menentukan perbaikan.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34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172B4D"/>
                </a:solidFill>
                <a:latin typeface="Aptos"/>
              </a:rPr>
              <a:t>Contoh Agile (Scrum)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10642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Tim mengembangkan perangkat lunak dalam sprint singkat dengan prioritas dan feedback yang terus diperbarui.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1143000" cy="54864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0" y="6510528"/>
            <a:ext cx="2468880" cy="182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Rekayasa Perangkat Lunak • Contoh &amp; Visual •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74420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Kasus: tim mahasiswa membuat aplikasi peminjaman ruang. Sprint pertama untuk login, sprint berikutnya untuk jadwal dan pemesanan.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75688"/>
            <a:ext cx="5943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B998B"/>
                </a:solidFill>
                <a:latin typeface="Aptos"/>
              </a:rPr>
              <a:t>VISUALISASI ALUR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514600"/>
            <a:ext cx="64008" cy="1024128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Product backlog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Daftar prioritas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38627" y="3026664"/>
            <a:ext cx="100584" cy="0"/>
          </a:xfrm>
          <a:prstGeom prst="line">
            <a:avLst/>
          </a:prstGeom>
          <a:ln w="19050">
            <a:solidFill>
              <a:srgbClr val="1B9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52928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52928" y="2514600"/>
            <a:ext cx="64008" cy="1024128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62656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Sprint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Pilih tujuan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3188" y="3026664"/>
            <a:ext cx="100584" cy="0"/>
          </a:xfrm>
          <a:prstGeom prst="line">
            <a:avLst/>
          </a:prstGeom>
          <a:ln w="19050">
            <a:solidFill>
              <a:srgbClr val="1B9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47488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47488" y="2514600"/>
            <a:ext cx="64008" cy="1024128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57216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Sprint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7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Bangun &amp; test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27747" y="3026664"/>
            <a:ext cx="100584" cy="0"/>
          </a:xfrm>
          <a:prstGeom prst="line">
            <a:avLst/>
          </a:prstGeom>
          <a:ln w="19050">
            <a:solidFill>
              <a:srgbClr val="1B9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42047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42047" y="2514600"/>
            <a:ext cx="64008" cy="1024128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51775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Demo hasil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22308" y="3026664"/>
            <a:ext cx="100584" cy="0"/>
          </a:xfrm>
          <a:prstGeom prst="line">
            <a:avLst/>
          </a:prstGeom>
          <a:ln w="19050">
            <a:solidFill>
              <a:srgbClr val="1B9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36608" y="2514600"/>
            <a:ext cx="2066543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36608" y="2514600"/>
            <a:ext cx="64008" cy="1024128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46336" y="2569464"/>
            <a:ext cx="1883663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Retrospective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2871216"/>
            <a:ext cx="1901951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Perbaiki cara kerja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3977639"/>
            <a:ext cx="10863072" cy="14173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95528" y="409651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4110228"/>
            <a:ext cx="1362456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CATATAN PENTING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" y="4462272"/>
            <a:ext cx="10543032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Agile adalah pendekatan; Scrum merupakan salah satu framework-nya. Perubahan prioritas dikelola melalui backlog dan siklus kerja.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72B4D"/>
                </a:solidFill>
                <a:latin typeface="Aptos"/>
              </a:rPr>
              <a:t>Diskusi: bagian mana dari contoh ini yang paling menentukan keberhasilan proyek?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199632"/>
            <a:ext cx="1088136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Ilustrasi konseptual untuk pembelajaran; struktur nyata dapat berbeda sesuai kebutuhan proyek.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BF8"/>
                </a:solidFill>
                <a:latin typeface="Aptos"/>
              </a:defRPr>
            </a:pPr>
            <a:r>
              <a:t>Development + Operations — mempercepat delivery dan feedback melalui kolaborasi dan otomasi.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DevOps sebagai Evolusi SDLC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Pengertian: DevOps mengintegrasikan aktivitas Development dan Operations agar software dapat dikembangkan, diuji, dirilis, dan dipelihara secara lebih berkelanjutan.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Siklus: Plan → Code → Build → Test → Release → Deploy → Operate → Monitor → kembali ke Plan.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Tujuan: mempercepat delivery; mengurangi kesalahan manual; meningkatkan kolaborasi; mendukung continuous delivery; mempercepat feedback.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36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172B4D"/>
                </a:solidFill>
                <a:latin typeface="Aptos"/>
              </a:rPr>
              <a:t>Contoh DevOps dan DevSecOps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106424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Otomatisasi dan kolaborasi membantu aplikasi dirilis secara berkelanjutan, dipantau, dan diperbaiki.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1143000" cy="54864"/>
          </a:xfrm>
          <a:prstGeom prst="rect">
            <a:avLst/>
          </a:prstGeom>
          <a:solidFill>
            <a:srgbClr val="1B998B"/>
          </a:solidFill>
          <a:ln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0" y="6510528"/>
            <a:ext cx="2468880" cy="182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Rekayasa Perangkat Lunak • Contoh &amp; Visual •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11064240" cy="65836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74420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0">
                <a:solidFill>
                  <a:srgbClr val="283444"/>
                </a:solidFill>
                <a:latin typeface="Aptos"/>
              </a:rPr>
              <a:t>Kasus: portal akademik diperbarui berkala. Setiap perubahan kode diuji otomatis sebelum dirilis ke lingkungan produksi.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75688"/>
            <a:ext cx="5943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Aptos"/>
              </a:rPr>
              <a:t>VISUALISASI ALUR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14600"/>
            <a:ext cx="1700784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514600"/>
            <a:ext cx="64008" cy="1024128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569464"/>
            <a:ext cx="1517904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Plan /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1536192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Rancang &amp; tulis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2868" y="3026664"/>
            <a:ext cx="100584" cy="0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87168" y="2514600"/>
            <a:ext cx="1700784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87168" y="2514600"/>
            <a:ext cx="64008" cy="1024128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96896" y="2569464"/>
            <a:ext cx="1517904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Build /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2871216"/>
            <a:ext cx="1536192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CI &amp; tes otomatis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01668" y="3026664"/>
            <a:ext cx="100584" cy="0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15968" y="2514600"/>
            <a:ext cx="1700784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15968" y="2514600"/>
            <a:ext cx="64008" cy="1024128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25696" y="2569464"/>
            <a:ext cx="1517904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7" y="2871216"/>
            <a:ext cx="1536192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Scan kode/dependensi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0468" y="3026664"/>
            <a:ext cx="100584" cy="0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44768" y="2514600"/>
            <a:ext cx="1700784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44768" y="2514600"/>
            <a:ext cx="64008" cy="1024128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54496" y="2569464"/>
            <a:ext cx="1517904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7" y="2871216"/>
            <a:ext cx="1536192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Rilis terkontrol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59268" y="3026664"/>
            <a:ext cx="100584" cy="0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973568" y="2514600"/>
            <a:ext cx="1700784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73568" y="2514600"/>
            <a:ext cx="64008" cy="1024128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83296" y="2569464"/>
            <a:ext cx="1517904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Monitor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5008" y="2871216"/>
            <a:ext cx="1536192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Log &amp; alert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88068" y="3026664"/>
            <a:ext cx="100584" cy="0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802368" y="2514600"/>
            <a:ext cx="1700784" cy="1024128"/>
          </a:xfrm>
          <a:prstGeom prst="roundRect">
            <a:avLst>
              <a:gd name="adj" fmla="val 12000"/>
            </a:avLst>
          </a:prstGeom>
          <a:solidFill>
            <a:srgbClr val="F1F6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802368" y="2514600"/>
            <a:ext cx="64008" cy="1024128"/>
          </a:xfrm>
          <a:prstGeom prst="rect">
            <a:avLst/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12096" y="2569464"/>
            <a:ext cx="1517904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72B4D"/>
                </a:solidFill>
                <a:latin typeface="Aptos"/>
              </a:rPr>
              <a:t>Feedback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3808" y="2871216"/>
            <a:ext cx="1536192" cy="6309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283444"/>
                </a:solidFill>
                <a:latin typeface="Aptos"/>
              </a:rPr>
              <a:t>Perbaikan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3977639"/>
            <a:ext cx="10863072" cy="14173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solidFill>
              <a:srgbClr val="D7E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95528" y="409651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4110228"/>
            <a:ext cx="1362456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CATATAN PENTING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" y="4462272"/>
            <a:ext cx="10543032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283444"/>
                </a:solidFill>
                <a:latin typeface="Aptos"/>
              </a:rPr>
              <a:t>DevOps menekankan kolaborasi Development–Operations. DevSecOps mengintegrasikan keamanan ke seluruh siklus; keduanya adalah pendekatan praktik, bukan sekadar urutan fase.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806440"/>
            <a:ext cx="1088136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72B4D"/>
                </a:solidFill>
                <a:latin typeface="Aptos"/>
              </a:rPr>
              <a:t>Diskusi: bagian mana dari contoh ini yang paling menentukan keberhasilan proyek?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199632"/>
            <a:ext cx="1088136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Ilustrasi konseptual untuk pembelajaran; struktur nyata dapat berbeda sesuai kebutuhan proyek.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AI DALAM SDLC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BF8"/>
                </a:solidFill>
                <a:latin typeface="Aptos"/>
              </a:defRPr>
            </a:pPr>
            <a:r>
              <a:t>Artificial Intelligence semakin terintegrasi ke berbagai aktivitas pengembangan software.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AI dalam Model Proses Perangkat Lunak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  <a:latin typeface="Aptos"/>
              </a:defRPr>
            </a:pPr>
            <a:r>
              <a:t>Perkembangan terbaru membawa Artificial Intelligence (AI) ke berbagai aktivitas SDLC.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  <a:latin typeface="Aptos"/>
              </a:defRPr>
            </a:pPr>
            <a:r>
              <a:t>AI dapat membantu:</a:t>
            </a:r>
          </a:p>
          <a:p>
            <a:pPr lvl="1">
              <a:spcAft>
                <a:spcPts val="8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Analisis kebutuhan.</a:t>
            </a:r>
          </a:p>
          <a:p>
            <a:pPr lvl="1">
              <a:spcAft>
                <a:spcPts val="8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Pembuatan dokumentasi.</a:t>
            </a:r>
          </a:p>
          <a:p>
            <a:pPr lvl="1">
              <a:spcAft>
                <a:spcPts val="8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Code generation.</a:t>
            </a:r>
          </a:p>
          <a:p>
            <a:pPr lvl="1">
              <a:spcAft>
                <a:spcPts val="8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Code review.</a:t>
            </a:r>
          </a:p>
          <a:p>
            <a:pPr lvl="1">
              <a:spcAft>
                <a:spcPts val="8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Software testing.</a:t>
            </a:r>
          </a:p>
          <a:p>
            <a:pPr lvl="1">
              <a:spcAft>
                <a:spcPts val="8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Bug detection.</a:t>
            </a:r>
          </a:p>
          <a:p>
            <a:pPr lvl="1">
              <a:spcAft>
                <a:spcPts val="8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Test case generation.</a:t>
            </a:r>
          </a:p>
          <a:p>
            <a:pPr lvl="1">
              <a:spcAft>
                <a:spcPts val="8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Refactoring.</a:t>
            </a:r>
          </a:p>
          <a:p>
            <a:pPr lvl="1">
              <a:spcAft>
                <a:spcPts val="8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Monitoring.</a:t>
            </a:r>
          </a:p>
          <a:p>
            <a:pPr lvl="1">
              <a:spcAft>
                <a:spcPts val="800"/>
              </a:spcAft>
              <a:defRPr sz="1400">
                <a:solidFill>
                  <a:srgbClr val="23282D"/>
                </a:solidFill>
                <a:latin typeface="Aptos"/>
              </a:defRPr>
            </a:pPr>
            <a:r>
              <a:t>Analisis log.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38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Alur AI-Assisted Software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23282D"/>
                </a:solidFill>
                <a:latin typeface="Aptos"/>
              </a:defRPr>
            </a:pPr>
            <a:r>
              <a:t>Human Requirement → AI-Assisted Analysis → Development → Automated Testing → CI/CD → Deployment → Monitoring → Feedback</a:t>
            </a:r>
          </a:p>
          <a:p>
            <a:pPr>
              <a:spcAft>
                <a:spcPts val="800"/>
              </a:spcAft>
              <a:defRPr sz="2100" b="0">
                <a:solidFill>
                  <a:srgbClr val="23282D"/>
                </a:solidFill>
                <a:latin typeface="Aptos"/>
              </a:defRPr>
            </a:pPr>
            <a:r>
              <a:t>AI membantu proses pengembangan, tetapi keputusan teknis, validasi, keamanan, dan tanggung jawab akhir tetap berada pada manusia.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39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Ringkasan Perbandingan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3282D"/>
                </a:solidFill>
                <a:latin typeface="Aptos"/>
              </a:defRPr>
            </a:pPr>
            <a:r>
              <a:t>Waterfall — Fokus: Tahapan berurutan | Fleksibilitas: Rendah | Risiko: Sedang | Kecepatan: Sedang</a:t>
            </a:r>
          </a:p>
          <a:p>
            <a:pPr>
              <a:spcAft>
                <a:spcPts val="800"/>
              </a:spcAft>
              <a:defRPr sz="1400" b="0">
                <a:solidFill>
                  <a:srgbClr val="23282D"/>
                </a:solidFill>
                <a:latin typeface="Aptos"/>
              </a:defRPr>
            </a:pPr>
            <a:r>
              <a:t>Prototyping — Fokus: Klarifikasi kebutuhan | Fleksibilitas: Tinggi | Risiko: Sedang | Kecepatan: Sedang</a:t>
            </a:r>
          </a:p>
          <a:p>
            <a:pPr>
              <a:spcAft>
                <a:spcPts val="800"/>
              </a:spcAft>
              <a:defRPr sz="1400" b="0">
                <a:solidFill>
                  <a:srgbClr val="23282D"/>
                </a:solidFill>
                <a:latin typeface="Aptos"/>
              </a:defRPr>
            </a:pPr>
            <a:r>
              <a:t>Incremental — Fokus: Penambahan fitur | Fleksibilitas: Tinggi | Risiko: Sedang | Kecepatan: Tinggi</a:t>
            </a:r>
          </a:p>
          <a:p>
            <a:pPr>
              <a:spcAft>
                <a:spcPts val="800"/>
              </a:spcAft>
              <a:defRPr sz="1400" b="0">
                <a:solidFill>
                  <a:srgbClr val="23282D"/>
                </a:solidFill>
                <a:latin typeface="Aptos"/>
              </a:defRPr>
            </a:pPr>
            <a:r>
              <a:t>Iterative — Fokus: Penyempurnaan | Fleksibilitas: Tinggi | Risiko: Sedang | Kecepatan: Tinggi</a:t>
            </a:r>
          </a:p>
          <a:p>
            <a:pPr>
              <a:spcAft>
                <a:spcPts val="800"/>
              </a:spcAft>
              <a:defRPr sz="1400" b="0">
                <a:solidFill>
                  <a:srgbClr val="23282D"/>
                </a:solidFill>
                <a:latin typeface="Aptos"/>
              </a:defRPr>
            </a:pPr>
            <a:r>
              <a:t>Spiral — Fokus: Manajemen risiko | Fleksibilitas: Tinggi | Risiko: Tinggi | Kecepatan: Sedang</a:t>
            </a:r>
          </a:p>
          <a:p>
            <a:pPr>
              <a:spcAft>
                <a:spcPts val="800"/>
              </a:spcAft>
              <a:defRPr sz="1400" b="0">
                <a:solidFill>
                  <a:srgbClr val="23282D"/>
                </a:solidFill>
                <a:latin typeface="Aptos"/>
              </a:defRPr>
            </a:pPr>
            <a:r>
              <a:t>RAD — Fokus: Pengembangan cepat | Fleksibilitas: Tinggi | Risiko: Sedang | Kecepatan: Sangat tinggi</a:t>
            </a:r>
          </a:p>
          <a:p>
            <a:pPr>
              <a:spcAft>
                <a:spcPts val="800"/>
              </a:spcAft>
              <a:defRPr sz="1400" b="0">
                <a:solidFill>
                  <a:srgbClr val="23282D"/>
                </a:solidFill>
                <a:latin typeface="Aptos"/>
              </a:defRPr>
            </a:pPr>
            <a:r>
              <a:t>V-Model — Fokus: Verification &amp; Validation | Fleksibilitas: Rendah | Risiko: Rendah–Sedang | Kecepatan: Sedang</a:t>
            </a:r>
          </a:p>
          <a:p>
            <a:pPr>
              <a:spcAft>
                <a:spcPts val="800"/>
              </a:spcAft>
              <a:defRPr sz="1400" b="0">
                <a:solidFill>
                  <a:srgbClr val="23282D"/>
                </a:solidFill>
                <a:latin typeface="Aptos"/>
              </a:defRPr>
            </a:pPr>
            <a:r>
              <a:t>Component-Based — Fokus: Reuse komponen | Fleksibilitas: Tinggi | Risiko: Bergantung komponen | Kecepatan: Tinggi</a:t>
            </a:r>
          </a:p>
          <a:p>
            <a:pPr>
              <a:spcAft>
                <a:spcPts val="800"/>
              </a:spcAft>
              <a:defRPr sz="1400" b="0">
                <a:solidFill>
                  <a:srgbClr val="23282D"/>
                </a:solidFill>
                <a:latin typeface="Aptos"/>
              </a:defRPr>
            </a:pPr>
            <a:r>
              <a:t>Agile — Fokus: Adaptasi &amp; feedback | Fleksibilitas: Sangat tinggi | Risiko: Dikelola iteratif | Kecepatan: Tinggi</a:t>
            </a:r>
          </a:p>
          <a:p>
            <a:pPr>
              <a:spcAft>
                <a:spcPts val="800"/>
              </a:spcAft>
              <a:defRPr sz="1400" b="0">
                <a:solidFill>
                  <a:srgbClr val="23282D"/>
                </a:solidFill>
                <a:latin typeface="Aptos"/>
              </a:defRPr>
            </a:pPr>
            <a:r>
              <a:t>DevOps — Fokus: Delivery berkelanjutan | Fleksibilitas: Sangat tinggi | Risiko: Dikelola otomatisasi | Kecepatan: Sangat tinggi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40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1. SDLC merupakan kerangka untuk mengelola seluruh siklus hidup perangkat lunak.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2. Tidak ada satu model yang cocok untuk semua proyek. Pemilihan model bergantung pada kebutuhan, risiko, kompleksitas, waktu, dan karakteristik pengguna.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3. Model tradisional seperti Waterfall cocok ketika kebutuhan relatif stabil.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4. Model adaptif seperti Iterative, Incremental, Agile, dan RAD lebih sesuai ketika perubahan dan feedback menjadi bagian penting dari proyek.</a:t>
            </a:r>
          </a:p>
          <a:p>
            <a:pPr>
              <a:spcAft>
                <a:spcPts val="800"/>
              </a:spcAft>
              <a:defRPr sz="1800" b="0">
                <a:solidFill>
                  <a:srgbClr val="23282D"/>
                </a:solidFill>
                <a:latin typeface="Aptos"/>
              </a:defRPr>
            </a:pPr>
            <a:r>
              <a:t>5. Model modern bergerak menuju otomatisasi, integrasi, continuous delivery, cloud, security, dan AI-assisted software development.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41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Pertanyaan Diskusi Mahasiswa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  <a:latin typeface="Aptos"/>
              </a:defRPr>
            </a:pPr>
            <a:r>
              <a:t>1. Mengapa Waterfall kurang cocok untuk kebutuhan yang sering berubah?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  <a:latin typeface="Aptos"/>
              </a:defRPr>
            </a:pPr>
            <a:r>
              <a:t>2. Apa perbedaan utama Incremental dan Iterative?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  <a:latin typeface="Aptos"/>
              </a:defRPr>
            </a:pPr>
            <a:r>
              <a:t>3. Mengapa Spiral disebut Risk-Driven Model?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  <a:latin typeface="Aptos"/>
              </a:defRPr>
            </a:pPr>
            <a:r>
              <a:t>4. Dalam kondisi apa RAD lebih tepat digunakan?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  <a:latin typeface="Aptos"/>
              </a:defRPr>
            </a:pPr>
            <a:r>
              <a:t>5. Mengapa pengujian pada V-Model direncanakan sejak awal?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  <a:latin typeface="Aptos"/>
              </a:defRPr>
            </a:pPr>
            <a:r>
              <a:t>6. Apa keuntungan menggunakan Component-Based Development?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  <a:latin typeface="Aptos"/>
              </a:defRPr>
            </a:pPr>
            <a:r>
              <a:t>7. Faktor apa saja yang harus dipertimbangkan ketika memilih model SDLC?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  <a:latin typeface="Aptos"/>
              </a:defRPr>
            </a:pPr>
            <a:r>
              <a:t>8. Mengapa Agile muncul sebagai respons terhadap perubahan kebutuhan software?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  <a:latin typeface="Aptos"/>
              </a:defRPr>
            </a:pPr>
            <a:r>
              <a:t>9. Apa hubungan Agile dengan DevOps?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  <a:latin typeface="Aptos"/>
              </a:defRPr>
            </a:pPr>
            <a:r>
              <a:t>10. Bagaimana AI dapat mengubah aktivitas SDLC di masa depan?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42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  <a:latin typeface="Aptos Display"/>
              </a:defRPr>
            </a:pPr>
            <a:r>
              <a:t>Pesan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“Model proses bukan sekadar urutan tahapan pengembangan, tetapi strategi untuk mengelola kebutuhan, risiko, kualitas, waktu, biaya, dan perubahan dalam pembangunan perangkat lunak.”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Mata Kuliah: Rekayasa Perangkat Lunak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Topik: Model Proses Perangkat Lunak (SDLC)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  <a:latin typeface="Aptos"/>
              </a:defRPr>
            </a:pPr>
            <a:r>
              <a:t>Dosen: Manorang Sihotang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D5F96"/>
                </a:solidFill>
                <a:latin typeface="Aptos"/>
              </a:defRPr>
            </a:pPr>
            <a:r>
              <a:t>Rekayasa Perangkat Lunak  •  Dosen: Manorang Sihotang  • 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3737</Words>
  <Application>Microsoft Office PowerPoint</Application>
  <PresentationFormat>Widescreen</PresentationFormat>
  <Paragraphs>485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mansih</dc:creator>
  <cp:keywords/>
  <dc:description>generated using python-pptx</dc:description>
  <cp:lastModifiedBy>mansih</cp:lastModifiedBy>
  <cp:revision>3</cp:revision>
  <dcterms:created xsi:type="dcterms:W3CDTF">2013-01-27T09:14:16Z</dcterms:created>
  <dcterms:modified xsi:type="dcterms:W3CDTF">2026-10-04T11:27:50Z</dcterms:modified>
  <cp:category/>
</cp:coreProperties>
</file>