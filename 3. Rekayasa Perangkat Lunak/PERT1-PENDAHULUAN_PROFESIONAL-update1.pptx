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50"/>
  </p:notesMasterIdLst>
  <p:sldIdLst>
    <p:sldId id="256" r:id="rId2"/>
    <p:sldId id="257" r:id="rId3"/>
    <p:sldId id="258" r:id="rId4"/>
    <p:sldId id="303" r:id="rId5"/>
    <p:sldId id="304" r:id="rId6"/>
    <p:sldId id="305" r:id="rId7"/>
    <p:sldId id="306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-144" y="-10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6BA2AA-EA25-4ABA-8018-C3E6BDE197B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BD1B93-FB41-448F-9F7F-17517A5B3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326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37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508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588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501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68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6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8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921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92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931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983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1726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09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330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684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5160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8050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REKAYASA PERANGKAT LUNAK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278409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15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95360" y="1097280"/>
            <a:ext cx="384048" cy="38404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75520" y="2011680"/>
            <a:ext cx="384048" cy="384048"/>
          </a:xfrm>
          <a:prstGeom prst="ellipse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3108960"/>
            <a:ext cx="384048" cy="38404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24160" y="3840480"/>
            <a:ext cx="384048" cy="384048"/>
          </a:xfrm>
          <a:prstGeom prst="ellipse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46720" y="4297680"/>
            <a:ext cx="384048" cy="38404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26880" y="5029200"/>
            <a:ext cx="384048" cy="384048"/>
          </a:xfrm>
          <a:prstGeom prst="ellipse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8778240" y="1280160"/>
            <a:ext cx="1280160" cy="914400"/>
          </a:xfrm>
          <a:prstGeom prst="line">
            <a:avLst/>
          </a:prstGeom>
          <a:ln w="19050">
            <a:solidFill>
              <a:srgbClr val="9A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235440" y="2194560"/>
            <a:ext cx="822960" cy="1097280"/>
          </a:xfrm>
          <a:prstGeom prst="line">
            <a:avLst/>
          </a:prstGeom>
          <a:ln w="19050">
            <a:solidFill>
              <a:srgbClr val="9A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235440" y="3291840"/>
            <a:ext cx="1371600" cy="731520"/>
          </a:xfrm>
          <a:prstGeom prst="line">
            <a:avLst/>
          </a:prstGeom>
          <a:ln w="19050">
            <a:solidFill>
              <a:srgbClr val="9A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229600" y="3291840"/>
            <a:ext cx="1005840" cy="1188720"/>
          </a:xfrm>
          <a:prstGeom prst="line">
            <a:avLst/>
          </a:prstGeom>
          <a:ln w="19050">
            <a:solidFill>
              <a:srgbClr val="9A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29600" y="4480560"/>
            <a:ext cx="1280160" cy="731520"/>
          </a:xfrm>
          <a:prstGeom prst="line">
            <a:avLst/>
          </a:prstGeom>
          <a:ln w="19050">
            <a:solidFill>
              <a:srgbClr val="9A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1188720"/>
            <a:ext cx="71323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8FAFC"/>
                </a:solidFill>
                <a:latin typeface="Aptos Display"/>
              </a:defRPr>
            </a:pPr>
            <a:r>
              <a:rPr dirty="0"/>
              <a:t>REKAYASA</a:t>
            </a:r>
            <a:br>
              <a:rPr dirty="0"/>
            </a:br>
            <a:r>
              <a:rPr dirty="0"/>
              <a:t>PERANGKAT LUNAK</a:t>
            </a:r>
          </a:p>
          <a:p>
            <a:pPr>
              <a:spcBef>
                <a:spcPts val="800"/>
              </a:spcBef>
              <a:defRPr sz="2200">
                <a:solidFill>
                  <a:srgbClr val="3EC1D3"/>
                </a:solidFill>
                <a:latin typeface="Aptos"/>
              </a:defRPr>
            </a:pPr>
            <a:r>
              <a:rPr dirty="0"/>
              <a:t>Software Engineering</a:t>
            </a:r>
          </a:p>
          <a:p>
            <a:pPr>
              <a:spcBef>
                <a:spcPts val="2500"/>
              </a:spcBef>
              <a:defRPr sz="1500" b="1">
                <a:solidFill>
                  <a:srgbClr val="9AAAB9"/>
                </a:solidFill>
                <a:latin typeface="Aptos"/>
              </a:defRPr>
            </a:pPr>
            <a:r>
              <a:rPr dirty="0"/>
              <a:t>PERTEMUAN 1  •  PENDAHULUAN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44F62D-948B-49CE-AE6A-9FF8D1D9C711}"/>
              </a:ext>
            </a:extLst>
          </p:cNvPr>
          <p:cNvSpPr txBox="1"/>
          <p:nvPr/>
        </p:nvSpPr>
        <p:spPr>
          <a:xfrm>
            <a:off x="3491484" y="5037225"/>
            <a:ext cx="61188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3EC1D3"/>
                </a:solidFill>
                <a:latin typeface="Aptos"/>
              </a:defRPr>
            </a:pPr>
            <a:r>
              <a:rPr lang="en-US" dirty="0" err="1"/>
              <a:t>Manorang</a:t>
            </a:r>
            <a:r>
              <a:rPr lang="en-US" dirty="0"/>
              <a:t> Shotang,M.</a:t>
            </a:r>
            <a:r>
              <a:rPr lang="en-US" dirty="0" err="1"/>
              <a:t>Kom</a:t>
            </a:r>
            <a:r>
              <a:rPr lang="en-US" dirty="0"/>
              <a:t>.,</a:t>
            </a:r>
            <a:r>
              <a:rPr lang="en-US" dirty="0" err="1"/>
              <a:t>Ph.D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Silabus &amp; Pustaka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AAAB9"/>
                </a:solidFill>
                <a:latin typeface="Aptos"/>
              </a:defRPr>
            </a:pPr>
            <a:r>
              <a:t>Pertemuan 1 • Pengenalan Rekayasa Perangkat Lunak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074920" cy="658368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6583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" y="1618488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64592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645920"/>
            <a:ext cx="457200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Pengenalan proyek perangkat lunak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58568"/>
            <a:ext cx="5074920" cy="658368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2258568"/>
            <a:ext cx="64008" cy="6583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6968" y="2459736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2487168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487168"/>
            <a:ext cx="457200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Perencanaan proyek perangkat lunak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099816"/>
            <a:ext cx="5074920" cy="658368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099816"/>
            <a:ext cx="64008" cy="6583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86968" y="3300984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328416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3328416"/>
            <a:ext cx="457200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Konsep &amp; prinsip analisis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941064"/>
            <a:ext cx="5074920" cy="658368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3941064"/>
            <a:ext cx="64008" cy="6583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86968" y="4142232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" y="4169664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4169664"/>
            <a:ext cx="457200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Pemodelan analisis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782312"/>
            <a:ext cx="5074920" cy="658368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5800" y="4782312"/>
            <a:ext cx="64008" cy="6583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86968" y="4983480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6968" y="5010912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5010912"/>
            <a:ext cx="457200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Prinsip &amp; konsep desain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1417320"/>
            <a:ext cx="5074920" cy="658368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72200" y="1417320"/>
            <a:ext cx="64008" cy="658368"/>
          </a:xfrm>
          <a:prstGeom prst="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373368" y="1618488"/>
            <a:ext cx="420624" cy="420624"/>
          </a:xfrm>
          <a:prstGeom prst="ellipse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73368" y="164592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2" y="1645920"/>
            <a:ext cx="457200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Metode desain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2258568"/>
            <a:ext cx="5074920" cy="658368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72200" y="2258568"/>
            <a:ext cx="64008" cy="658368"/>
          </a:xfrm>
          <a:prstGeom prst="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373368" y="2459736"/>
            <a:ext cx="420624" cy="420624"/>
          </a:xfrm>
          <a:prstGeom prst="ellipse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73368" y="2487168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8232" y="2487168"/>
            <a:ext cx="457200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Teknik pengujian perangkat lunak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3099816"/>
            <a:ext cx="5074920" cy="658368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72200" y="3099816"/>
            <a:ext cx="64008" cy="658368"/>
          </a:xfrm>
          <a:prstGeom prst="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373368" y="3300984"/>
            <a:ext cx="420624" cy="420624"/>
          </a:xfrm>
          <a:prstGeom prst="ellipse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73368" y="3328416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8232" y="3328416"/>
            <a:ext cx="457200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Strategi pengujian perangkat lunak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72200" y="3941064"/>
            <a:ext cx="5074920" cy="658368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172200" y="3941064"/>
            <a:ext cx="64008" cy="658368"/>
          </a:xfrm>
          <a:prstGeom prst="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373368" y="4142232"/>
            <a:ext cx="420624" cy="420624"/>
          </a:xfrm>
          <a:prstGeom prst="ellipse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73368" y="4169664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28232" y="4169664"/>
            <a:ext cx="457200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Pemeliharaan perangkat lunak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Referensi / Pustaka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10607040" cy="1078992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64008" cy="10789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78408" y="1618488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64592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1581912"/>
            <a:ext cx="965606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Roger S. Pressman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075688"/>
            <a:ext cx="101041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Software Engineering: A Practitioner’s Approach, 5th ed., McGraw-Hill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34640"/>
            <a:ext cx="10607040" cy="1078992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2834640"/>
            <a:ext cx="64008" cy="1078992"/>
          </a:xfrm>
          <a:prstGeom prst="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78408" y="3035808"/>
            <a:ext cx="420624" cy="420624"/>
          </a:xfrm>
          <a:prstGeom prst="ellipse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8408" y="306324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2999232"/>
            <a:ext cx="965606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Tavri D. Mahyuzir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3493008"/>
            <a:ext cx="101041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Pengantar Rekayasa Perangkat Lunak, Elex Media Komputindo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51960"/>
            <a:ext cx="10607040" cy="1078992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251960"/>
            <a:ext cx="64008" cy="107899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78408" y="445312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8408" y="448056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416552"/>
            <a:ext cx="965606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Ian Sommerville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" y="4910328"/>
            <a:ext cx="101041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Software Engineering, 7th ed., Addison-Wesley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16768" y="621792"/>
            <a:ext cx="960120" cy="9601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16768" y="78638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21792" y="5943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Fokus Utama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Rekayasa Perangkat Lunak (RPL)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527048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RPL berfokus pada pengembangan perangkat lunak secara terencana, sistematis, terukur, dan berorientasi kualitas.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21792" y="2761488"/>
            <a:ext cx="3246120" cy="2148840"/>
          </a:xfrm>
          <a:prstGeom prst="roundRect">
            <a:avLst>
              <a:gd name="adj" fmla="val 6383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301752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30998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44752" y="29718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Terencana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3566160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Setiap tahap memiliki tujuan, aktivitas, dan keluaran yang jelas.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60520" y="2761488"/>
            <a:ext cx="3246120" cy="2148840"/>
          </a:xfrm>
          <a:prstGeom prst="roundRect">
            <a:avLst>
              <a:gd name="adj" fmla="val 6383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16552" y="3017520"/>
            <a:ext cx="438912" cy="43891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16552" y="30998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83480" y="29718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Sistematis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434840" y="3566160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Proses pengembangan mengikuti metode, standar, dan praktik yang terstruktur.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699248" y="2761488"/>
            <a:ext cx="3246120" cy="2148840"/>
          </a:xfrm>
          <a:prstGeom prst="roundRect">
            <a:avLst>
              <a:gd name="adj" fmla="val 6383"/>
            </a:avLst>
          </a:prstGeom>
          <a:solidFill>
            <a:srgbClr val="E9FBF5"/>
          </a:solidFill>
          <a:ln w="12700">
            <a:solidFill>
              <a:srgbClr val="E9FB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3017520"/>
            <a:ext cx="438912" cy="438912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30998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22208" y="29718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Berkualitas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973568" y="3566160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Hasil akhir memenuhi kebutuhan pengguna, andal, efisien, dan mudah dipelihara.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1792" y="5285232"/>
            <a:ext cx="10287000" cy="594360"/>
          </a:xfrm>
          <a:prstGeom prst="roundRect">
            <a:avLst>
              <a:gd name="adj" fmla="val 23077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4132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Mulai dari kebutuhan pengguna → proses pengembangan → perangkat lunak yang siap digunakan.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Ruang Lingkup RPL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SDLC dan Manajemen Proyek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721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Dua fondasi utama untuk menjaga proses pengembangan tetap terarah dan terkendali.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" y="2157984"/>
            <a:ext cx="6812280" cy="352044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44144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SDLC — Software Development Life Cycle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2816352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Mengatur tahapan pengembangan dari awal hingga perangkat lunak dipelihara.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3767328"/>
            <a:ext cx="932688" cy="950976"/>
          </a:xfrm>
          <a:prstGeom prst="roundRect">
            <a:avLst>
              <a:gd name="adj" fmla="val 14706"/>
            </a:avLst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0432" y="3931920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402336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87552" y="4407408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Perencanaan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65376" y="4242816"/>
            <a:ext cx="192024" cy="0"/>
          </a:xfrm>
          <a:prstGeom prst="line">
            <a:avLst/>
          </a:prstGeom>
          <a:noFill/>
          <a:ln w="25400">
            <a:solidFill>
              <a:srgbClr val="D9E2EC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984248" y="4151376"/>
            <a:ext cx="128016" cy="182880"/>
          </a:xfrm>
          <a:prstGeom prst="chevron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93392" y="3767328"/>
            <a:ext cx="932688" cy="950976"/>
          </a:xfrm>
          <a:prstGeom prst="roundRect">
            <a:avLst>
              <a:gd name="adj" fmla="val 14706"/>
            </a:avLst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49424" y="3931920"/>
            <a:ext cx="420624" cy="42062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9424" y="402336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66544" y="4407408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44368" y="4242816"/>
            <a:ext cx="192024" cy="0"/>
          </a:xfrm>
          <a:prstGeom prst="line">
            <a:avLst/>
          </a:prstGeom>
          <a:noFill/>
          <a:ln w="25400">
            <a:solidFill>
              <a:srgbClr val="D9E2EC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3063240" y="4151376"/>
            <a:ext cx="128016" cy="182880"/>
          </a:xfrm>
          <a:prstGeom prst="chevron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72384" y="3767328"/>
            <a:ext cx="932688" cy="950976"/>
          </a:xfrm>
          <a:prstGeom prst="roundRect">
            <a:avLst>
              <a:gd name="adj" fmla="val 14706"/>
            </a:avLst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28416" y="3931920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28416" y="402336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45536" y="4407408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Perancangan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023360" y="4242816"/>
            <a:ext cx="192024" cy="0"/>
          </a:xfrm>
          <a:prstGeom prst="line">
            <a:avLst/>
          </a:prstGeom>
          <a:noFill/>
          <a:ln w="25400">
            <a:solidFill>
              <a:srgbClr val="D9E2EC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4142232" y="4151376"/>
            <a:ext cx="128016" cy="182880"/>
          </a:xfrm>
          <a:prstGeom prst="chevron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51376" y="3767328"/>
            <a:ext cx="932688" cy="950976"/>
          </a:xfrm>
          <a:prstGeom prst="roundRect">
            <a:avLst>
              <a:gd name="adj" fmla="val 14706"/>
            </a:avLst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07408" y="3931920"/>
            <a:ext cx="420624" cy="420624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07408" y="402336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24528" y="4407408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Implementasi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02352" y="4242816"/>
            <a:ext cx="192024" cy="0"/>
          </a:xfrm>
          <a:prstGeom prst="line">
            <a:avLst/>
          </a:prstGeom>
          <a:noFill/>
          <a:ln w="25400">
            <a:solidFill>
              <a:srgbClr val="D9E2EC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5221224" y="4151376"/>
            <a:ext cx="128016" cy="182880"/>
          </a:xfrm>
          <a:prstGeom prst="chevron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30368" y="3767328"/>
            <a:ext cx="932688" cy="950976"/>
          </a:xfrm>
          <a:prstGeom prst="roundRect">
            <a:avLst>
              <a:gd name="adj" fmla="val 14706"/>
            </a:avLst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0" y="3931920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0" y="402336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03520" y="4407408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Pengujian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81344" y="4242816"/>
            <a:ext cx="192024" cy="0"/>
          </a:xfrm>
          <a:prstGeom prst="line">
            <a:avLst/>
          </a:prstGeom>
          <a:noFill/>
          <a:ln w="25400">
            <a:solidFill>
              <a:srgbClr val="D9E2EC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6300216" y="4151376"/>
            <a:ext cx="128016" cy="182880"/>
          </a:xfrm>
          <a:prstGeom prst="chevron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3767328"/>
            <a:ext cx="932688" cy="950976"/>
          </a:xfrm>
          <a:prstGeom prst="roundRect">
            <a:avLst>
              <a:gd name="adj" fmla="val 14706"/>
            </a:avLst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65392" y="3931920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65392" y="402336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82512" y="4407408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Pemeliharaan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699248" y="2157984"/>
            <a:ext cx="3200400" cy="3520440"/>
          </a:xfrm>
          <a:prstGeom prst="roundRect">
            <a:avLst>
              <a:gd name="adj" fmla="val 4286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19288" y="24688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Manajemen Proyek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019288" y="288036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DC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Menjaga proyek tetap sesuai target melalui pengelolaan: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8065008" y="3575304"/>
            <a:ext cx="164592" cy="164592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57616" y="353872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Waktu</a:t>
            </a:r>
            <a:endParaRPr lang="en-US" sz="1120" dirty="0"/>
          </a:p>
        </p:txBody>
      </p:sp>
      <p:sp>
        <p:nvSpPr>
          <p:cNvPr id="47" name="Shape 45"/>
          <p:cNvSpPr/>
          <p:nvPr/>
        </p:nvSpPr>
        <p:spPr>
          <a:xfrm>
            <a:off x="8065008" y="3968496"/>
            <a:ext cx="164592" cy="164592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57616" y="393192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Biaya</a:t>
            </a:r>
            <a:endParaRPr lang="en-US" sz="1120" dirty="0"/>
          </a:p>
        </p:txBody>
      </p:sp>
      <p:sp>
        <p:nvSpPr>
          <p:cNvPr id="49" name="Shape 47"/>
          <p:cNvSpPr/>
          <p:nvPr/>
        </p:nvSpPr>
        <p:spPr>
          <a:xfrm>
            <a:off x="8065008" y="4361688"/>
            <a:ext cx="164592" cy="164592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57616" y="432511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Sumber daya</a:t>
            </a:r>
            <a:endParaRPr lang="en-US" sz="1120" dirty="0"/>
          </a:p>
        </p:txBody>
      </p:sp>
      <p:sp>
        <p:nvSpPr>
          <p:cNvPr id="51" name="Shape 49"/>
          <p:cNvSpPr/>
          <p:nvPr/>
        </p:nvSpPr>
        <p:spPr>
          <a:xfrm>
            <a:off x="8065008" y="4754880"/>
            <a:ext cx="164592" cy="164592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57616" y="471830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Risiko</a:t>
            </a:r>
            <a:endParaRPr lang="en-US" sz="1120" dirty="0"/>
          </a:p>
        </p:txBody>
      </p:sp>
      <p:sp>
        <p:nvSpPr>
          <p:cNvPr id="53" name="Shape 51"/>
          <p:cNvSpPr/>
          <p:nvPr/>
        </p:nvSpPr>
        <p:spPr>
          <a:xfrm>
            <a:off x="8065008" y="5148072"/>
            <a:ext cx="164592" cy="164592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57616" y="51114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Pembagian tugas</a:t>
            </a:r>
            <a:endParaRPr lang="en-US" sz="1120" dirty="0"/>
          </a:p>
        </p:txBody>
      </p:sp>
      <p:sp>
        <p:nvSpPr>
          <p:cNvPr id="55" name="Text 53"/>
          <p:cNvSpPr/>
          <p:nvPr/>
        </p:nvSpPr>
        <p:spPr>
          <a:xfrm>
            <a:off x="8019288" y="5239512"/>
            <a:ext cx="25786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i="1" dirty="0">
                <a:solidFill>
                  <a:srgbClr val="DC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Tujuan: proyek selesai sesuai ruang lingkup, waktu, dan sumber daya yang direncanakan.</a:t>
            </a:r>
            <a:endParaRPr lang="en-US" sz="1030" dirty="0"/>
          </a:p>
        </p:txBody>
      </p:sp>
      <p:sp>
        <p:nvSpPr>
          <p:cNvPr id="56" name="Text 54"/>
          <p:cNvSpPr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Tahap Pengembangan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Dari kebutuhan menuju solusi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72184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Tahapan ini menerjemahkan kebutuhan pengguna menjadi rancangan dan produk perangkat lunak.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" y="2267712"/>
            <a:ext cx="3200400" cy="3401568"/>
          </a:xfrm>
          <a:prstGeom prst="roundRect">
            <a:avLst>
              <a:gd name="adj" fmla="val 4286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551176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715768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77824" y="3218688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Analisis Kebutuhan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77824" y="384962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 yang dibutuhkan?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7824" y="42611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Mengidentifikasi kebutuhan pengguna dan menerjemahkannya menjadi spesifikasi sistem yang jelas.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77824" y="5431536"/>
            <a:ext cx="2441448" cy="0"/>
          </a:xfrm>
          <a:prstGeom prst="line">
            <a:avLst/>
          </a:prstGeom>
          <a:noFill/>
          <a:ln w="16510">
            <a:solidFill>
              <a:srgbClr val="D9E2EC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4160520" y="2267712"/>
            <a:ext cx="3200400" cy="3401568"/>
          </a:xfrm>
          <a:prstGeom prst="roundRect">
            <a:avLst>
              <a:gd name="adj" fmla="val 4286"/>
            </a:avLst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16552" y="2551176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16552" y="2715768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16552" y="3218688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Perancangan Sistem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416552" y="384962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Bagaimana solusinya?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16552" y="42611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Merancang arsitektur, basis data, antarmuka, serta komponen perangkat lunak sebelum implementasi.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16552" y="5431536"/>
            <a:ext cx="2441448" cy="0"/>
          </a:xfrm>
          <a:prstGeom prst="line">
            <a:avLst/>
          </a:prstGeom>
          <a:noFill/>
          <a:ln w="16510">
            <a:solidFill>
              <a:srgbClr val="D9E2EC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699248" y="2267712"/>
            <a:ext cx="3200400" cy="3401568"/>
          </a:xfrm>
          <a:prstGeom prst="roundRect">
            <a:avLst>
              <a:gd name="adj" fmla="val 4286"/>
            </a:avLst>
          </a:prstGeom>
          <a:solidFill>
            <a:srgbClr val="E9FBF5"/>
          </a:solidFill>
          <a:ln w="12700">
            <a:solidFill>
              <a:srgbClr val="E9FB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0" y="2551176"/>
            <a:ext cx="530352" cy="530352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2715768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955280" y="3218688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Implementasi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955280" y="384962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9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Mewujudkan rancangan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55280" y="42611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Menerjemahkan desain menjadi kode program menggunakan bahasa dan teknologi yang sesuai.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55280" y="5431536"/>
            <a:ext cx="2441448" cy="0"/>
          </a:xfrm>
          <a:prstGeom prst="line">
            <a:avLst/>
          </a:prstGeom>
          <a:noFill/>
          <a:ln w="16510">
            <a:solidFill>
              <a:srgbClr val="D9E2EC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841248" y="5943600"/>
            <a:ext cx="9829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Kebutuhan → Spesifikasi → Rancangan → Kode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Kualitas dan Keberlanjutan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9418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Pengujian, Pemeliharaan, dan Tujuan Akhir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7218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RPL memastikan perangkat lunak tidak berhenti pada tahap “selesai dibuat”, tetapi terus memberi nilai saat digunakan.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" y="2240280"/>
            <a:ext cx="4983480" cy="187452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532888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697480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572768" y="25146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Pengujian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72768" y="2962656"/>
            <a:ext cx="3520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Memastikan perangkat lunak berfungsi sesuai kebutuhan serta menemukan dan memperbaiki kesalahan.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5806440" y="2240280"/>
            <a:ext cx="5102352" cy="187452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9048" y="2532888"/>
            <a:ext cx="512064" cy="512064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9048" y="2697480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766560" y="2514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Pemeliharaan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766560" y="2962656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Melakukan perbaikan, pembaruan, pengembangan fitur, dan penyesuaian terhadap perubahan kebutuhan.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21792" y="4451639"/>
            <a:ext cx="10287000" cy="1298448"/>
          </a:xfrm>
          <a:prstGeom prst="roundRect">
            <a:avLst>
              <a:gd name="adj" fmla="val 1056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6817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AFC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TUJUAN AKHIR RPL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96112" y="5001768"/>
            <a:ext cx="9555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Perangkat lunak yang berkualitas, sesuai kebutuhan pengguna, efisien, tepat waktu, dan mudah dipelihara.</a:t>
            </a:r>
            <a:endParaRPr lang="en-US" sz="1720" dirty="0"/>
          </a:p>
        </p:txBody>
      </p:sp>
      <p:sp>
        <p:nvSpPr>
          <p:cNvPr id="18" name="Text 16"/>
          <p:cNvSpPr/>
          <p:nvPr/>
        </p:nvSpPr>
        <p:spPr>
          <a:xfrm>
            <a:off x="640080" y="6007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Intinya: RPL menggabungkan proses, manusia, teknologi, dan pengelolaan proyek untuk menghasilkan solusi perangkat lunak yang bernilai.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Tujuan Pembelajaran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600200"/>
            <a:ext cx="1051560" cy="105156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47088"/>
            <a:ext cx="1051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8FAF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1554480"/>
            <a:ext cx="8961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8FAFC"/>
                </a:solidFill>
                <a:latin typeface="Aptos Display"/>
              </a:defRPr>
            </a:pPr>
            <a:r>
              <a:t>Memahami fondasi Software Engineering</a:t>
            </a:r>
          </a:p>
          <a:p>
            <a:pPr>
              <a:spcBef>
                <a:spcPts val="1000"/>
              </a:spcBef>
              <a:defRPr sz="1600">
                <a:solidFill>
                  <a:srgbClr val="9AAAB9"/>
                </a:solidFill>
                <a:latin typeface="Aptos"/>
              </a:defRPr>
            </a:pPr>
            <a:r>
              <a:t>Mahasiswa mengenali perangkat lunak, proses pengembangan, model proses, serta tanggung jawab etika dan profesi.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57400" y="3337560"/>
            <a:ext cx="2880360" cy="114300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057400" y="3337560"/>
            <a:ext cx="64008" cy="1143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258568" y="3538728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58568" y="356616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208" y="3502152"/>
            <a:ext cx="192938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Konsep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3432" y="399592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E5ECF3"/>
                </a:solidFill>
                <a:latin typeface="Aptos"/>
              </a:defRPr>
            </a:pPr>
            <a:r>
              <a:t>Apa itu software &amp; software 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3337560"/>
            <a:ext cx="2880360" cy="114300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74920" y="3337560"/>
            <a:ext cx="64008" cy="1143000"/>
          </a:xfrm>
          <a:prstGeom prst="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276088" y="3538728"/>
            <a:ext cx="420624" cy="420624"/>
          </a:xfrm>
          <a:prstGeom prst="ellipse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76088" y="356616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4728" y="3502152"/>
            <a:ext cx="192938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Proses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399592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E5ECF3"/>
                </a:solidFill>
                <a:latin typeface="Aptos"/>
              </a:defRPr>
            </a:pPr>
            <a:r>
              <a:t>Bagaimana software dikembangkan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337560"/>
            <a:ext cx="2880360" cy="114300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92440" y="3337560"/>
            <a:ext cx="64008" cy="1143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93608" y="353872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93608" y="356616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2248" y="3502152"/>
            <a:ext cx="192938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Profesional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399592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E5ECF3"/>
                </a:solidFill>
                <a:latin typeface="Aptos"/>
              </a:defRPr>
            </a:pPr>
            <a:r>
              <a:t>Kualitas, etika, keamanan &amp; dampak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Definisi Perangkat Lunak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03520" cy="205740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20574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487375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Software mencakup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075688"/>
            <a:ext cx="4800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Instruction: program komputer yang menghasilkan fungsi &amp; kinerja yang diinginkan.</a:t>
            </a:r>
          </a:p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Data structure: struktur data yang memungkinkan program memanipulasi informasi.</a:t>
            </a:r>
          </a:p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Documents: dokumentasi yang menjelaskan operasi &amp; penggunaan program.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57800" cy="205740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64008" cy="2057400"/>
          </a:xfrm>
          <a:prstGeom prst="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581912"/>
            <a:ext cx="482803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Dalam praktik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075688"/>
            <a:ext cx="4754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Program komputer + dokumentasi terkait: kebutuhan, rancangan, dan user manual.</a:t>
            </a:r>
          </a:p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Produk dapat dibuat untuk pengguna umum maupun pengguna khusus.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94760"/>
            <a:ext cx="5303520" cy="141732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794760"/>
            <a:ext cx="64008" cy="14173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86968" y="399592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402336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7" y="3959352"/>
            <a:ext cx="435254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Generic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4453128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Dibangun untuk dijual kepada banyak pengguna. Contoh: aplikasi perkantoran seperti spreadsheet atau pengolah kata.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94760"/>
            <a:ext cx="5257800" cy="141732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794760"/>
            <a:ext cx="64008" cy="14173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19088" y="3995928"/>
            <a:ext cx="420624" cy="420624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402336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3959352"/>
            <a:ext cx="4306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Bespoke / Custom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453128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Dibangun khusus untuk pengguna atau pemesan sesuai kebutuhan.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Penggunaan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274320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64008" cy="27432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2688" y="2029968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5740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993392"/>
            <a:ext cx="243230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Mengendalikan komputer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487168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E5ECF3"/>
                </a:solidFill>
                <a:latin typeface="Aptos"/>
              </a:defRPr>
            </a:pPr>
            <a:r>
              <a:t>Contoh: sistem operasi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28800"/>
            <a:ext cx="3383280" cy="274320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6280" y="1828800"/>
            <a:ext cx="64008" cy="2743200"/>
          </a:xfrm>
          <a:prstGeom prst="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727448" y="2029968"/>
            <a:ext cx="420624" cy="420624"/>
          </a:xfrm>
          <a:prstGeom prst="ellipse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27448" y="205740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1993392"/>
            <a:ext cx="243230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Mengomunikasikan informasi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487168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E5ECF3"/>
                </a:solidFill>
                <a:latin typeface="Aptos"/>
              </a:defRPr>
            </a:pPr>
            <a:r>
              <a:t>Contoh: software jaringan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828800"/>
            <a:ext cx="3383280" cy="274320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21040" y="1828800"/>
            <a:ext cx="64008" cy="2743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522208" y="202996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22208" y="205740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1993392"/>
            <a:ext cx="2766398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rPr dirty="0" err="1"/>
              <a:t>Membuat</a:t>
            </a:r>
            <a:r>
              <a:rPr dirty="0"/>
              <a:t> &amp; </a:t>
            </a:r>
            <a:r>
              <a:rPr dirty="0" err="1"/>
              <a:t>mengendalikan</a:t>
            </a:r>
            <a:r>
              <a:rPr dirty="0"/>
              <a:t> </a:t>
            </a:r>
            <a:endParaRPr lang="en-US" dirty="0"/>
          </a:p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rPr dirty="0"/>
              <a:t>program lain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2" y="2487168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E5ECF3"/>
                </a:solidFill>
                <a:latin typeface="Aptos"/>
              </a:defRPr>
            </a:pPr>
            <a:r>
              <a:t>Tool dan lingkungan pengembangan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Perkembangan Pemanfaatan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5ECF3"/>
                </a:solidFill>
                <a:latin typeface="Aptos"/>
              </a:defRPr>
            </a:pPr>
            <a:r>
              <a:t>• Menjadi faktor penting dalam pengambilan keputusan bisnis.</a:t>
            </a:r>
          </a:p>
          <a:p>
            <a:pPr>
              <a:spcAft>
                <a:spcPts val="1200"/>
              </a:spcAft>
              <a:defRPr sz="1800">
                <a:solidFill>
                  <a:srgbClr val="E5ECF3"/>
                </a:solidFill>
                <a:latin typeface="Aptos"/>
              </a:defRPr>
            </a:pPr>
            <a:r>
              <a:t>• Menjadi landasan investigasi ilmiah dan pemecahan masalah.</a:t>
            </a:r>
          </a:p>
          <a:p>
            <a:pPr>
              <a:spcAft>
                <a:spcPts val="1200"/>
              </a:spcAft>
              <a:defRPr sz="1800">
                <a:solidFill>
                  <a:srgbClr val="E5ECF3"/>
                </a:solidFill>
                <a:latin typeface="Aptos"/>
              </a:defRPr>
            </a:pPr>
            <a:r>
              <a:t>• Menjadi pembeda penting antara produk/layanan modern dan tradisional.</a:t>
            </a:r>
          </a:p>
          <a:p>
            <a:pPr>
              <a:spcAft>
                <a:spcPts val="1200"/>
              </a:spcAft>
              <a:defRPr sz="1800">
                <a:solidFill>
                  <a:srgbClr val="E5ECF3"/>
                </a:solidFill>
                <a:latin typeface="Aptos"/>
              </a:defRPr>
            </a:pPr>
            <a:r>
              <a:t>• Terintegrasi dalam berbagai sistem: telekomunikasi, transportasi, militer, medis, industri, dan lainnya.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Jenis Perangkat Lunak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AAAB9"/>
                </a:solidFill>
                <a:latin typeface="Aptos"/>
              </a:defRPr>
            </a:pPr>
            <a:r>
              <a:t>Bagian 1 • Klasifikasi utama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166360" cy="178308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178308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" y="1618488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64592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581912"/>
            <a:ext cx="421538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System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075688"/>
            <a:ext cx="466344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Mengatur software lain dan banyak berinteraksi dengan hardware.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17320"/>
            <a:ext cx="5166360" cy="178308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64008" cy="1783080"/>
          </a:xfrm>
          <a:prstGeom prst="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373368" y="1618488"/>
            <a:ext cx="420624" cy="420624"/>
          </a:xfrm>
          <a:prstGeom prst="ellipse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164592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1581912"/>
            <a:ext cx="421538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Real-time Software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075688"/>
            <a:ext cx="466344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Memiliki waktu tanggap/response time yang singkat.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66160"/>
            <a:ext cx="5166360" cy="178308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566160"/>
            <a:ext cx="64008" cy="17830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6968" y="376732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79476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5607" y="3730752"/>
            <a:ext cx="421538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Business Software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4224528"/>
            <a:ext cx="466344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Mendukung proses seperti penggajian, penjualan, dan persediaan; banyak berhubungan dengan data.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566160"/>
            <a:ext cx="5166360" cy="178308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2200" y="3566160"/>
            <a:ext cx="64008" cy="178308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73368" y="3767328"/>
            <a:ext cx="420624" cy="420624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73368" y="379476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8" y="3730752"/>
            <a:ext cx="421538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Engineering &amp; Scientific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4224528"/>
            <a:ext cx="466344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Banyak memproses angka; contoh peramalan cuaca dan aplikasi geografis.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Jenis Perangkat Lunak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AAAB9"/>
                </a:solidFill>
                <a:latin typeface="Aptos"/>
              </a:defRPr>
            </a:pPr>
            <a:r>
              <a:t>Bagian 2 • Perangkat yang dekat dengan pengguna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166360" cy="178308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178308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" y="1618488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64592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581912"/>
            <a:ext cx="421538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Embedded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075688"/>
            <a:ext cx="466344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Tersimpan/tertanam pada perangkat dan mengatur perangkat keras. Contoh: mesin cuci, microwave, kulkas.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17320"/>
            <a:ext cx="5166360" cy="178308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64008" cy="1783080"/>
          </a:xfrm>
          <a:prstGeom prst="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373368" y="1618488"/>
            <a:ext cx="420624" cy="420624"/>
          </a:xfrm>
          <a:prstGeom prst="ellipse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164592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1581912"/>
            <a:ext cx="421538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Personal Computer Software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075688"/>
            <a:ext cx="466344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Spreadsheet, pengolah kata, dan multimedia.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66160"/>
            <a:ext cx="5166360" cy="178308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566160"/>
            <a:ext cx="64008" cy="17830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6968" y="376732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79476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5607" y="3730752"/>
            <a:ext cx="421538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Web-based Software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4224528"/>
            <a:ext cx="466344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Berbasis teknologi web; contoh e-commerce.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566160"/>
            <a:ext cx="5166360" cy="178308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2200" y="3566160"/>
            <a:ext cx="64008" cy="178308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73368" y="3767328"/>
            <a:ext cx="420624" cy="420624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73368" y="379476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8" y="3730752"/>
            <a:ext cx="421538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Artificial Intelligence Software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4224528"/>
            <a:ext cx="466344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Memanfaatkan teknik AI; contoh pengenalan wajah.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Rekayasa Perangkat Lunak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141732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64008" cy="14173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81912"/>
            <a:ext cx="10268711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Software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075688"/>
            <a:ext cx="101955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E5ECF3"/>
                </a:solidFill>
                <a:latin typeface="Aptos"/>
              </a:defRPr>
            </a:pPr>
            <a:r>
              <a:t>Disiplin yang berfokus pada seluruh aspek pembuatan software, mulai dari spesifikasi hingga pemeliharaan setelah software digunakan.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3337560" cy="182880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3154680"/>
            <a:ext cx="64008" cy="1828800"/>
          </a:xfrm>
          <a:prstGeom prst="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32688" y="3355848"/>
            <a:ext cx="420624" cy="420624"/>
          </a:xfrm>
          <a:prstGeom prst="ellipse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338328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319272"/>
            <a:ext cx="238658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Sistematis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813048"/>
            <a:ext cx="28346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Mengikuti pendekatan yang terstruktur dan teratur.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154680"/>
            <a:ext cx="3337560" cy="182880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34840" y="3154680"/>
            <a:ext cx="64008" cy="1828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636007" y="335584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36007" y="338328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3319272"/>
            <a:ext cx="238658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Teknik &amp; alat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3813048"/>
            <a:ext cx="28346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Menggunakan metode dan tools yang sesuai dengan masalah.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154680"/>
            <a:ext cx="3337560" cy="182880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38160" y="3154680"/>
            <a:ext cx="64008" cy="182880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339328" y="3355848"/>
            <a:ext cx="420624" cy="420624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39328" y="338328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7968" y="3319272"/>
            <a:ext cx="238658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Kendala nyata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3813048"/>
            <a:ext cx="28346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Mempertimbangkan batasan pembangunan dan sumber daya yang tersedia.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Latar Belakang 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E5ECF3"/>
                </a:solidFill>
                <a:latin typeface="Aptos"/>
              </a:defRPr>
            </a:pPr>
            <a:r>
              <a:t>• Ketergantungan manusia, masyarakat, dan industri terhadap software semakin besar.</a:t>
            </a:r>
          </a:p>
          <a:p>
            <a:pPr>
              <a:spcAft>
                <a:spcPts val="1200"/>
              </a:spcAft>
              <a:defRPr sz="1700">
                <a:solidFill>
                  <a:srgbClr val="E5ECF3"/>
                </a:solidFill>
                <a:latin typeface="Aptos"/>
              </a:defRPr>
            </a:pPr>
            <a:r>
              <a:t>• Dibutuhkan proses produksi software yang cepat, andal, dan ekonomis.</a:t>
            </a:r>
          </a:p>
          <a:p>
            <a:pPr>
              <a:spcAft>
                <a:spcPts val="1200"/>
              </a:spcAft>
              <a:defRPr sz="1700">
                <a:solidFill>
                  <a:srgbClr val="E5ECF3"/>
                </a:solidFill>
                <a:latin typeface="Aptos"/>
              </a:defRPr>
            </a:pPr>
            <a:r>
              <a:t>• Semakin banyak sistem dikendalikan oleh perangkat lunak.</a:t>
            </a:r>
          </a:p>
          <a:p>
            <a:pPr>
              <a:spcAft>
                <a:spcPts val="1200"/>
              </a:spcAft>
              <a:defRPr sz="1700">
                <a:solidFill>
                  <a:srgbClr val="E5ECF3"/>
                </a:solidFill>
                <a:latin typeface="Aptos"/>
              </a:defRPr>
            </a:pPr>
            <a:r>
              <a:t>• Software Engineering menyediakan teori, metode, dan alat untuk pembangunan software secara profesional.</a:t>
            </a:r>
          </a:p>
          <a:p>
            <a:pPr>
              <a:spcAft>
                <a:spcPts val="1200"/>
              </a:spcAft>
              <a:defRPr sz="1700">
                <a:solidFill>
                  <a:srgbClr val="E5ECF3"/>
                </a:solidFill>
                <a:latin typeface="Aptos"/>
              </a:defRPr>
            </a:pPr>
            <a:r>
              <a:t>• Fokus pada efektivitas biaya sepanjang pembangunan dan evolusi software.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Tantangan 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520440" cy="182880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64008" cy="18288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95528" y="1618488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64592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581912"/>
            <a:ext cx="256946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Heterogenitas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7568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5ECF3"/>
                </a:solidFill>
                <a:latin typeface="Aptos"/>
              </a:defRPr>
            </a:pPr>
            <a:r>
              <a:t>Keragaman platform, perangkat, dan lingkungan meningkat.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520440" cy="182880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64008" cy="1828800"/>
          </a:xfrm>
          <a:prstGeom prst="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90288" y="1618488"/>
            <a:ext cx="420624" cy="420624"/>
          </a:xfrm>
          <a:prstGeom prst="ellipse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64592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1581912"/>
            <a:ext cx="256946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Keragaman sistem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07568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5ECF3"/>
                </a:solidFill>
                <a:latin typeface="Aptos"/>
              </a:defRPr>
            </a:pPr>
            <a:r>
              <a:t>Tipe sistem software semakin beragam.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417320"/>
            <a:ext cx="3520440" cy="182880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80" y="1417320"/>
            <a:ext cx="64008" cy="1828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85048" y="161848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85048" y="164592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3688" y="1581912"/>
            <a:ext cx="256946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Metode &amp;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2" y="207568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5ECF3"/>
                </a:solidFill>
                <a:latin typeface="Aptos"/>
              </a:defRPr>
            </a:pPr>
            <a:r>
              <a:t>Teknik dan alat bantu harus dipilih sesuai konteks.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657600"/>
            <a:ext cx="3520440" cy="182880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3657600"/>
            <a:ext cx="64008" cy="182880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95528" y="3858768"/>
            <a:ext cx="420624" cy="420624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5528" y="388620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22191"/>
            <a:ext cx="256946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Perubahan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431596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5ECF3"/>
                </a:solidFill>
                <a:latin typeface="Aptos"/>
              </a:defRPr>
            </a:pPr>
            <a:r>
              <a:t>Bisnis dan kebutuhan sosial terus berubah.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3657600"/>
            <a:ext cx="3520440" cy="182880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89120" y="3657600"/>
            <a:ext cx="64008" cy="18288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590288" y="3858768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90288" y="388620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38928" y="3822191"/>
            <a:ext cx="256946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Ketepatan waktu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5152" y="431596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5ECF3"/>
                </a:solidFill>
                <a:latin typeface="Aptos"/>
              </a:defRPr>
            </a:pPr>
            <a:r>
              <a:t>Software perlu dikembangkan dan dirilis tepat waktu.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80" y="3657600"/>
            <a:ext cx="3520440" cy="182880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83880" y="3657600"/>
            <a:ext cx="64008" cy="1828800"/>
          </a:xfrm>
          <a:prstGeom prst="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385048" y="3858768"/>
            <a:ext cx="420624" cy="420624"/>
          </a:xfrm>
          <a:prstGeom prst="ellipse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85048" y="388620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8" y="3822191"/>
            <a:ext cx="256946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Keamanan &amp; kepercayaan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9912" y="431596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5ECF3"/>
                </a:solidFill>
                <a:latin typeface="Aptos"/>
              </a:defRPr>
            </a:pPr>
            <a:r>
              <a:t>Software harus aman dan dapat dipercaya.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CASE • Computer-Aided 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23444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64008" cy="123444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10268711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Apa itu CASE?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121408"/>
            <a:ext cx="10195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E5ECF3"/>
                </a:solidFill>
                <a:latin typeface="Aptos"/>
              </a:defRPr>
            </a:pPr>
            <a:r>
              <a:t>Software aplikasi yang digunakan untuk mendukung proses pembuatan software.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2423160" cy="141732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3063240"/>
            <a:ext cx="64008" cy="14173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24128" y="3264408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329184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227832"/>
            <a:ext cx="147218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Analisis kebutuhan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721608"/>
            <a:ext cx="19202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5ECF3"/>
                </a:solidFill>
                <a:latin typeface="Aptos"/>
              </a:defRPr>
            </a:pPr>
            <a:r>
              <a:t>Didukung oleh CASE 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3063240"/>
            <a:ext cx="2423160" cy="141732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66160" y="3063240"/>
            <a:ext cx="64008" cy="1417320"/>
          </a:xfrm>
          <a:prstGeom prst="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767328" y="3264408"/>
            <a:ext cx="420624" cy="420624"/>
          </a:xfrm>
          <a:prstGeom prst="ellipse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67328" y="329184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3227832"/>
            <a:ext cx="147218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Pemodelan sistem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2191" y="3721608"/>
            <a:ext cx="19202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5ECF3"/>
                </a:solidFill>
                <a:latin typeface="Aptos"/>
              </a:defRPr>
            </a:pPr>
            <a:r>
              <a:t>Didukung oleh CASE 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063240"/>
            <a:ext cx="2423160" cy="141732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3063240"/>
            <a:ext cx="64008" cy="14173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510528" y="326440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8" y="329184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3227832"/>
            <a:ext cx="147218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Debugging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3721608"/>
            <a:ext cx="19202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5ECF3"/>
                </a:solidFill>
                <a:latin typeface="Aptos"/>
              </a:defRPr>
            </a:pPr>
            <a:r>
              <a:t>Didukung oleh CASE tools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3063240"/>
            <a:ext cx="2423160" cy="141732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52560" y="3063240"/>
            <a:ext cx="64008" cy="14173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253728" y="3264408"/>
            <a:ext cx="420624" cy="420624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53728" y="329184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02368" y="3227832"/>
            <a:ext cx="147218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8592" y="3721608"/>
            <a:ext cx="19202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5ECF3"/>
                </a:solidFill>
                <a:latin typeface="Aptos"/>
              </a:defRPr>
            </a:pPr>
            <a:r>
              <a:t>Didukung oleh CASE tools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Karakteristik Software yang Baik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12080" cy="96012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9601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7" y="1527048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55448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554480"/>
            <a:ext cx="4709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Usability — mudah digunakan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212080" cy="96012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325880"/>
            <a:ext cx="64008" cy="960120"/>
          </a:xfrm>
          <a:prstGeom prst="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373368" y="1527048"/>
            <a:ext cx="420624" cy="420624"/>
          </a:xfrm>
          <a:prstGeom prst="ellipse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55448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1554480"/>
            <a:ext cx="4709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Performance — kinerja sesuai kebutuhan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560320"/>
            <a:ext cx="5212080" cy="96012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560320"/>
            <a:ext cx="64008" cy="9601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7" y="276148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278892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2788920"/>
            <a:ext cx="4709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Reliability — dapat diandalkan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560320"/>
            <a:ext cx="5212080" cy="96012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2560320"/>
            <a:ext cx="64008" cy="9601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373368" y="2761488"/>
            <a:ext cx="420624" cy="420624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278892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2788920"/>
            <a:ext cx="4709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Maintainability — mudah dirawat/diperbaiki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794760"/>
            <a:ext cx="5212080" cy="96012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3794760"/>
            <a:ext cx="64008" cy="9601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41247" y="3995928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7" y="402336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4023360"/>
            <a:ext cx="4709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Efficiency — menggunakan sumber daya secara efektif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94760"/>
            <a:ext cx="5212080" cy="96012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72200" y="3794760"/>
            <a:ext cx="64008" cy="960120"/>
          </a:xfrm>
          <a:prstGeom prst="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373368" y="3995928"/>
            <a:ext cx="420624" cy="420624"/>
          </a:xfrm>
          <a:prstGeom prst="ellipse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73368" y="402336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2" y="4023360"/>
            <a:ext cx="4709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Attractive UI — antarmuka menarik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029200"/>
            <a:ext cx="5212080" cy="96012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0080" y="5029200"/>
            <a:ext cx="64008" cy="9601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41247" y="523036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1247" y="525780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5257800"/>
            <a:ext cx="4709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Long lifetime — memiliki siklus hidup yang memadai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Jenis Aplikasi PL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212080" cy="338328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64008" cy="338328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86968" y="1755648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8308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719072"/>
            <a:ext cx="42611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Perangkat lunak sistem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212848"/>
            <a:ext cx="4709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Melayani program-program lain. Contoh: sistem operasi, driver, kompilator, interpreter, utility.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12080" cy="338328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64008" cy="33832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19088" y="175564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78308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719072"/>
            <a:ext cx="42611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Perangkat lunak waktu nyata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212848"/>
            <a:ext cx="4709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Memonitor, menganalisis, mengontrol, dan melaporkan kejadian dunia nyata dengan respons cepat.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Jenis Aplikasi PL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212080" cy="338328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64008" cy="338328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86968" y="1755648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8308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719072"/>
            <a:ext cx="42611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Perangkat lunak teknik &amp; ilmu pengetahuan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212848"/>
            <a:ext cx="4709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Menangani bidang teknik dan ilmu pengetahuan secara rinci. Contoh: simulasi, astronomi, vulkanologi, otomasi pabrik.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12080" cy="338328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64008" cy="33832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19088" y="175564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78308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719072"/>
            <a:ext cx="42611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Embedded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212848"/>
            <a:ext cx="4709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Software yang ditempelkan/dilekatkan pada perangkat lain. Contoh: kamera digital, GPS, automobil, microwave, kulkas cerdas.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Jenis Aplikasi PL (3)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212080" cy="338328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64008" cy="338328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86968" y="1755648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8308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719072"/>
            <a:ext cx="42611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Data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212848"/>
            <a:ext cx="4709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Mengolah data untuk menghasilkan informasi atau keputusan tertentu. Contoh: billing telepon, pengolah statistik.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12080" cy="338328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64008" cy="33832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19088" y="175564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78308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719072"/>
            <a:ext cx="42611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Information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212848"/>
            <a:ext cx="4709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Menyediakan informasi dari suatu sistem secara lebih detail. Contoh: website, perpustakaan digital.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Jenis Aplikasi PL (4)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212080" cy="338328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64008" cy="338328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86968" y="1755648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8308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719072"/>
            <a:ext cx="42611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Perangkat lunak sensor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212848"/>
            <a:ext cx="4709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Mengukur dan mengatur keadaan khusus; dapat termasuk embedded system. Contoh: pengatur suhu.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12080" cy="338328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64008" cy="33832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19088" y="175564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78308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719072"/>
            <a:ext cx="42611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Communication 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212848"/>
            <a:ext cx="4709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Menghubungkan atau mengomunikasikan objek satu dengan lainnya. Contoh: router, telepon seluler.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Jenis Aplikasi PL (5)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212080" cy="338328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64008" cy="338328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86968" y="1755648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8308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719072"/>
            <a:ext cx="42611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Perangkat lunak kantor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212848"/>
            <a:ext cx="4709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Membantu tugas perkantoran. Contoh: word processing, spreadsheet, video conference.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12080" cy="338328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64008" cy="33832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19088" y="175564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78308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719072"/>
            <a:ext cx="42611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Perangkat lunak grafis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212848"/>
            <a:ext cx="4709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Mendukung perancangan grafis. Contoh: pembuatan film dan poster.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Jenis Aplikasi PL (6)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320040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64008" cy="32004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2688" y="1755648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78308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719072"/>
            <a:ext cx="974750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Perangkat lunak kecerdasan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212848"/>
            <a:ext cx="1019555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E5ECF3"/>
                </a:solidFill>
                <a:latin typeface="Aptos"/>
              </a:defRPr>
            </a:pPr>
            <a:r>
              <a:t>Menggunakan algoritma non-numeris untuk masalah kompleks. Contoh: sistem pakar, pembuktian teorema, game strategi, jaringan saraf tiruan.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Tanggung Jawab Etika &amp; Profesi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12080" cy="17373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64008" cy="173736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2688" y="1709928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73736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673351"/>
            <a:ext cx="42611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Konfidensialitas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67128"/>
            <a:ext cx="47091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Menjaga kerahasiaan informasi.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212080" cy="17373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64008" cy="1737360"/>
          </a:xfrm>
          <a:prstGeom prst="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19088" y="1709928"/>
            <a:ext cx="420624" cy="420624"/>
          </a:xfrm>
          <a:prstGeom prst="ellipse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73736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8" y="1673351"/>
            <a:ext cx="42611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Kompetensi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167128"/>
            <a:ext cx="47091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Bekerja sesuai kemampuan dan standar profesional.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5212080" cy="17373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64008" cy="17373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32688" y="385876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388620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3822191"/>
            <a:ext cx="42611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HAKI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315968"/>
            <a:ext cx="47091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Menghormati hak kekayaan intelektual.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657600"/>
            <a:ext cx="5212080" cy="17373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657600"/>
            <a:ext cx="64008" cy="1737360"/>
          </a:xfrm>
          <a:prstGeom prst="rect">
            <a:avLst/>
          </a:prstGeom>
          <a:solidFill>
            <a:srgbClr val="DC5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19088" y="3858768"/>
            <a:ext cx="420624" cy="420624"/>
          </a:xfrm>
          <a:prstGeom prst="ellipse">
            <a:avLst/>
          </a:prstGeom>
          <a:solidFill>
            <a:srgbClr val="DC5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19088" y="388620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3822191"/>
            <a:ext cx="42611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Penyalahgunaan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315968"/>
            <a:ext cx="47091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Mencegah penggunaan komputer/software secara tidak semestinya.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Software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123444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64008" cy="123444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81912"/>
            <a:ext cx="10268711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Definisi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075688"/>
            <a:ext cx="10195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E5ECF3"/>
                </a:solidFill>
                <a:latin typeface="Aptos"/>
              </a:defRPr>
            </a:pPr>
            <a:r>
              <a:t>Serangkaian kegiatan yang dilakukan untuk menghasilkan sebuah produk software.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10698480" cy="182880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971800"/>
            <a:ext cx="64008" cy="1828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32688" y="317296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320040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136392"/>
            <a:ext cx="974750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Plan-driven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630168"/>
            <a:ext cx="1019555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E5ECF3"/>
                </a:solidFill>
                <a:latin typeface="Aptos"/>
              </a:defRPr>
            </a:pPr>
            <a:r>
              <a:t>Semua proses dan aktivitas direncanakan di awal, kemudian kemajuan pekerjaan diukur terhadap rencana tersebut.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Aktivitas Utama Software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2651760" cy="31089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600200"/>
            <a:ext cx="64008" cy="310896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95528" y="1801368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82880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764792"/>
            <a:ext cx="170078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Specification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258568"/>
            <a:ext cx="21488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Mendefinisikan fungsi software dan batasan pengoperasiannya.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00200"/>
            <a:ext cx="2651760" cy="31089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74720" y="1600200"/>
            <a:ext cx="64008" cy="3108960"/>
          </a:xfrm>
          <a:prstGeom prst="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75887" y="1801368"/>
            <a:ext cx="420624" cy="420624"/>
          </a:xfrm>
          <a:prstGeom prst="ellipse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75887" y="182880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1764792"/>
            <a:ext cx="170078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Design &amp; Implementation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2258568"/>
            <a:ext cx="21488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Mendesain dan membuat software sesuai spesifikasi.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600200"/>
            <a:ext cx="2651760" cy="31089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1600200"/>
            <a:ext cx="64008" cy="31089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556248" y="180136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56248" y="182880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4888" y="1764792"/>
            <a:ext cx="170078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1112" y="2258568"/>
            <a:ext cx="21488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Memvalidasi agar software sesuai kebutuhan/customer.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600200"/>
            <a:ext cx="2651760" cy="31089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35440" y="1600200"/>
            <a:ext cx="64008" cy="31089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436608" y="1801368"/>
            <a:ext cx="420624" cy="420624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36608" y="182880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85248" y="1764792"/>
            <a:ext cx="170078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Evolution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91472" y="2258568"/>
            <a:ext cx="21488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Mengembangkan software untuk memenuhi perubahan kebutuhan/customer.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Software Process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2801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64008" cy="128016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36192"/>
            <a:ext cx="10268711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Definisi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029967"/>
            <a:ext cx="1019555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E5ECF3"/>
                </a:solidFill>
                <a:latin typeface="Aptos"/>
              </a:defRPr>
            </a:pPr>
            <a:r>
              <a:t>Representasi yang disederhanakan dari suatu proses software; menjelaskan proses dari sudut pandang tertentu.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63240"/>
            <a:ext cx="2560320" cy="15087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3063240"/>
            <a:ext cx="64008" cy="150876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3264408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329184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3227832"/>
            <a:ext cx="160934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721608"/>
            <a:ext cx="205740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5ECF3"/>
                </a:solidFill>
                <a:latin typeface="Aptos"/>
              </a:defRPr>
            </a:pPr>
            <a:r>
              <a:t>Aktivitas yang berurutan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063240"/>
            <a:ext cx="2560320" cy="15087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29000" y="3063240"/>
            <a:ext cx="64008" cy="1508760"/>
          </a:xfrm>
          <a:prstGeom prst="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630168" y="3264408"/>
            <a:ext cx="420624" cy="420624"/>
          </a:xfrm>
          <a:prstGeom prst="ellipse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30168" y="329184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808" y="3227832"/>
            <a:ext cx="160934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85032" y="3721608"/>
            <a:ext cx="205740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5ECF3"/>
                </a:solidFill>
                <a:latin typeface="Aptos"/>
              </a:defRPr>
            </a:pPr>
            <a:r>
              <a:t>Produk/hasil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063240"/>
            <a:ext cx="2560320" cy="15087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063240"/>
            <a:ext cx="64008" cy="15087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19088" y="326440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19088" y="329184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3227832"/>
            <a:ext cx="160934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Roles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721608"/>
            <a:ext cx="205740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5ECF3"/>
                </a:solidFill>
                <a:latin typeface="Aptos"/>
              </a:defRPr>
            </a:pPr>
            <a:r>
              <a:t>Siapa melakukan apa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39" y="3063240"/>
            <a:ext cx="2560320" cy="15087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06839" y="3063240"/>
            <a:ext cx="64008" cy="15087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208007" y="3264408"/>
            <a:ext cx="420624" cy="420624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08007" y="329184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56647" y="3227832"/>
            <a:ext cx="160934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Conditions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2871" y="3721608"/>
            <a:ext cx="205740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5ECF3"/>
                </a:solidFill>
                <a:latin typeface="Aptos"/>
              </a:defRPr>
            </a:pPr>
            <a:r>
              <a:t>Pre-condition &amp; post-condition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Keluarga Software Process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12080" cy="17373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173736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7" y="1618488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64592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581912"/>
            <a:ext cx="42611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Sequential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75688"/>
            <a:ext cx="47091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Waterfall • V-Model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212080" cy="17373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64008" cy="1737360"/>
          </a:xfrm>
          <a:prstGeom prst="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373368" y="1618488"/>
            <a:ext cx="420624" cy="420624"/>
          </a:xfrm>
          <a:prstGeom prst="ellipse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164592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1581912"/>
            <a:ext cx="42611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Iterative / Incremental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075688"/>
            <a:ext cx="47091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Spiral • RAD • RUP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5212080" cy="17373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64008" cy="17373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1247" y="376732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379476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730752"/>
            <a:ext cx="42611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Agile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224528"/>
            <a:ext cx="47091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Extreme Programming • Scrum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566160"/>
            <a:ext cx="5212080" cy="17373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2200" y="3566160"/>
            <a:ext cx="64008" cy="17373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73368" y="3767328"/>
            <a:ext cx="420624" cy="420624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73368" y="379476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3730752"/>
            <a:ext cx="42611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Reuse-oriented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4224528"/>
            <a:ext cx="47091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Integrasi komponen yang sudah ada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WATERFALL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AAAB9"/>
                </a:solidFill>
                <a:latin typeface="Aptos"/>
              </a:defRPr>
            </a:pPr>
            <a:r>
              <a:t>Model sekuensial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1508760" cy="914400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1" y="257860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t>Requirements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39" y="2788920"/>
            <a:ext cx="338329" cy="0"/>
          </a:xfrm>
          <a:prstGeom prst="line">
            <a:avLst/>
          </a:prstGeom>
          <a:ln w="25400">
            <a:solidFill>
              <a:srgbClr val="9A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514600" y="2331720"/>
            <a:ext cx="1508760" cy="914400"/>
          </a:xfrm>
          <a:prstGeom prst="round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87752" y="257860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t>Design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23360" y="2788920"/>
            <a:ext cx="338328" cy="0"/>
          </a:xfrm>
          <a:prstGeom prst="line">
            <a:avLst/>
          </a:prstGeom>
          <a:ln w="25400">
            <a:solidFill>
              <a:srgbClr val="9A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0" y="2331720"/>
            <a:ext cx="1508760" cy="9144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62272" y="257860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t>Coding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97879" y="2788920"/>
            <a:ext cx="338329" cy="0"/>
          </a:xfrm>
          <a:prstGeom prst="line">
            <a:avLst/>
          </a:prstGeom>
          <a:ln w="25400">
            <a:solidFill>
              <a:srgbClr val="9A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63640" y="2331720"/>
            <a:ext cx="1508760" cy="914400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36792" y="257860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t>Testing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0" y="2788920"/>
            <a:ext cx="338327" cy="0"/>
          </a:xfrm>
          <a:prstGeom prst="line">
            <a:avLst/>
          </a:prstGeom>
          <a:ln w="25400">
            <a:solidFill>
              <a:srgbClr val="9A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38159" y="2331720"/>
            <a:ext cx="1508760" cy="914400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1" y="257860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t>Deployment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46919" y="2788920"/>
            <a:ext cx="338328" cy="0"/>
          </a:xfrm>
          <a:prstGeom prst="line">
            <a:avLst/>
          </a:prstGeom>
          <a:ln w="25400">
            <a:solidFill>
              <a:srgbClr val="9A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012680" y="2331720"/>
            <a:ext cx="1508760" cy="914400"/>
          </a:xfrm>
          <a:prstGeom prst="round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85832" y="257860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t>Maintenance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069080"/>
            <a:ext cx="9966960" cy="91440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97280" y="4069080"/>
            <a:ext cx="64008" cy="914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53312" y="4297680"/>
            <a:ext cx="9464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E5ECF3"/>
                </a:solidFill>
                <a:latin typeface="Aptos"/>
              </a:defRPr>
            </a:pPr>
            <a:r>
              <a:t>Inti model: setiap fase diselesaikan sebelum beralih ke fase berikutnya.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WATERFALL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AAAB9"/>
                </a:solidFill>
                <a:latin typeface="Aptos"/>
              </a:defRPr>
            </a:pPr>
            <a:r>
              <a:t>Tahapan dan konteks penggunaan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12080" cy="35661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64008" cy="356616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90472"/>
            <a:ext cx="47823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Tahapan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984248"/>
            <a:ext cx="4709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1. Requirements</a:t>
            </a:r>
          </a:p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2. Design</a:t>
            </a:r>
          </a:p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3. Coding</a:t>
            </a:r>
          </a:p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4. Testing</a:t>
            </a:r>
          </a:p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5. Deployment</a:t>
            </a:r>
          </a:p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6. Maintenance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12080" cy="35661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64008" cy="3566160"/>
          </a:xfrm>
          <a:prstGeom prst="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490472"/>
            <a:ext cx="47823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Cocok digunakan ketika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984248"/>
            <a:ext cx="4709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Scope &amp; requirement sudah diketahui dengan jelas sejak awal.</a:t>
            </a:r>
          </a:p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Proyek mengharuskan dokumentasi yang lengkap.</a:t>
            </a:r>
          </a:p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Sistem besar dikembangkan oleh beberapa tim/lokasi.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Pro–Cons Waterfall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31089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64008" cy="31089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2688" y="1664208"/>
            <a:ext cx="420624" cy="420624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9164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627632"/>
            <a:ext cx="42611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PRO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121408"/>
            <a:ext cx="4709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E5ECF3"/>
                </a:solidFill>
                <a:latin typeface="Aptos"/>
              </a:defRPr>
            </a:pPr>
            <a:r>
              <a:t>Disiplin proses kuat.</a:t>
            </a:r>
          </a:p>
          <a:p>
            <a:pPr>
              <a:spcAft>
                <a:spcPts val="700"/>
              </a:spcAft>
              <a:defRPr sz="1700">
                <a:solidFill>
                  <a:srgbClr val="E5ECF3"/>
                </a:solidFill>
                <a:latin typeface="Aptos"/>
              </a:defRPr>
            </a:pPr>
            <a:r>
              <a:t>Setiap fase memiliki titik awal &amp; akhir yang jelas.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31089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64008" cy="3108960"/>
          </a:xfrm>
          <a:prstGeom prst="rect">
            <a:avLst/>
          </a:prstGeom>
          <a:solidFill>
            <a:srgbClr val="DC5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19088" y="1664208"/>
            <a:ext cx="420624" cy="420624"/>
          </a:xfrm>
          <a:prstGeom prst="ellipse">
            <a:avLst/>
          </a:prstGeom>
          <a:solidFill>
            <a:srgbClr val="DC5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69164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627632"/>
            <a:ext cx="42611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CONS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121408"/>
            <a:ext cx="4709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E5ECF3"/>
                </a:solidFill>
                <a:latin typeface="Aptos"/>
              </a:defRPr>
            </a:pPr>
            <a:r>
              <a:t>Rigid/kaku.</a:t>
            </a:r>
          </a:p>
          <a:p>
            <a:pPr>
              <a:spcAft>
                <a:spcPts val="700"/>
              </a:spcAft>
              <a:defRPr sz="1700">
                <a:solidFill>
                  <a:srgbClr val="E5ECF3"/>
                </a:solidFill>
                <a:latin typeface="Aptos"/>
              </a:defRPr>
            </a:pPr>
            <a:r>
              <a:t>Delivery relatif lebih lama.</a:t>
            </a:r>
          </a:p>
          <a:p>
            <a:pPr>
              <a:spcAft>
                <a:spcPts val="700"/>
              </a:spcAft>
              <a:defRPr sz="1700">
                <a:solidFill>
                  <a:srgbClr val="E5ECF3"/>
                </a:solidFill>
                <a:latin typeface="Aptos"/>
              </a:defRPr>
            </a:pPr>
            <a:r>
              <a:t>Dokumentasi lebih banyak.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Proses Iterasi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12801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64008" cy="128016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81912"/>
            <a:ext cx="10268711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Mengapa iterasi?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075688"/>
            <a:ext cx="1019555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E5ECF3"/>
                </a:solidFill>
                <a:latin typeface="Aptos"/>
              </a:defRPr>
            </a:pPr>
            <a:r>
              <a:t>Perubahan software tidak dapat dihindari. Iterasi digunakan untuk mengakomodasi perubahan dan menyesuaikan requirement dengan software yang dikembangkan.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2194560"/>
            <a:ext cx="1371600" cy="8229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00600" y="2194560"/>
            <a:ext cx="64008" cy="82296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56632" y="2423160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5ECF3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3200400"/>
            <a:ext cx="1371600" cy="8229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29400" y="3200400"/>
            <a:ext cx="64008" cy="822960"/>
          </a:xfrm>
          <a:prstGeom prst="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85432" y="3429000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5ECF3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4206240"/>
            <a:ext cx="1371600" cy="8229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800600" y="4206240"/>
            <a:ext cx="64008" cy="8229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56632" y="4434840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5ECF3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1800" y="3200400"/>
            <a:ext cx="1371600" cy="8229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971800" y="3200400"/>
            <a:ext cx="64008" cy="8229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27832" y="3429000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5ECF3"/>
                </a:solidFill>
                <a:latin typeface="Aptos"/>
              </a:defRPr>
            </a:pPr>
            <a:r>
              <a:t>Refine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0" y="2606040"/>
            <a:ext cx="1828800" cy="1005840"/>
          </a:xfrm>
          <a:prstGeom prst="line">
            <a:avLst/>
          </a:prstGeom>
          <a:ln w="25400">
            <a:solidFill>
              <a:srgbClr val="9A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486400" y="3611880"/>
            <a:ext cx="1828800" cy="1005840"/>
          </a:xfrm>
          <a:prstGeom prst="line">
            <a:avLst/>
          </a:prstGeom>
          <a:ln w="25400">
            <a:solidFill>
              <a:srgbClr val="9A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3657600" y="3611880"/>
            <a:ext cx="1828800" cy="1005840"/>
          </a:xfrm>
          <a:prstGeom prst="line">
            <a:avLst/>
          </a:prstGeom>
          <a:ln w="25400">
            <a:solidFill>
              <a:srgbClr val="9A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657600" y="2606040"/>
            <a:ext cx="1828800" cy="1005840"/>
          </a:xfrm>
          <a:prstGeom prst="line">
            <a:avLst/>
          </a:prstGeom>
          <a:ln w="25400">
            <a:solidFill>
              <a:srgbClr val="9A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Pro–Cons Iterasi / Incremental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35661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64008" cy="35661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2688" y="1618488"/>
            <a:ext cx="420624" cy="420624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4592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581912"/>
            <a:ext cx="42611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PRO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075688"/>
            <a:ext cx="4709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E5ECF3"/>
                </a:solidFill>
                <a:latin typeface="Aptos"/>
              </a:defRPr>
            </a:pPr>
            <a:r>
              <a:t>Biaya akibat perubahan requirement dapat ditekan.</a:t>
            </a:r>
          </a:p>
          <a:p>
            <a:pPr>
              <a:spcAft>
                <a:spcPts val="700"/>
              </a:spcAft>
              <a:defRPr sz="1600">
                <a:solidFill>
                  <a:srgbClr val="E5ECF3"/>
                </a:solidFill>
                <a:latin typeface="Aptos"/>
              </a:defRPr>
            </a:pPr>
            <a:r>
              <a:t>Feedback customer lebih mudah diperoleh.</a:t>
            </a:r>
          </a:p>
          <a:p>
            <a:pPr>
              <a:spcAft>
                <a:spcPts val="700"/>
              </a:spcAft>
              <a:defRPr sz="1600">
                <a:solidFill>
                  <a:srgbClr val="E5ECF3"/>
                </a:solidFill>
                <a:latin typeface="Aptos"/>
              </a:defRPr>
            </a:pPr>
            <a:r>
              <a:t>Delivery hasil pekerjaan lebih cepat.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212080" cy="35661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64008" cy="3566160"/>
          </a:xfrm>
          <a:prstGeom prst="rect">
            <a:avLst/>
          </a:prstGeom>
          <a:solidFill>
            <a:srgbClr val="DC5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19088" y="1618488"/>
            <a:ext cx="420624" cy="420624"/>
          </a:xfrm>
          <a:prstGeom prst="ellipse">
            <a:avLst/>
          </a:prstGeom>
          <a:solidFill>
            <a:srgbClr val="DC5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64592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81912"/>
            <a:ext cx="42611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CONS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075688"/>
            <a:ext cx="4709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E5ECF3"/>
                </a:solidFill>
                <a:latin typeface="Aptos"/>
              </a:defRPr>
            </a:pPr>
            <a:r>
              <a:t>Proses dapat kurang terdokumentasi.</a:t>
            </a:r>
          </a:p>
          <a:p>
            <a:pPr>
              <a:spcAft>
                <a:spcPts val="700"/>
              </a:spcAft>
              <a:defRPr sz="1600">
                <a:solidFill>
                  <a:srgbClr val="E5ECF3"/>
                </a:solidFill>
                <a:latin typeface="Aptos"/>
              </a:defRPr>
            </a:pPr>
            <a:r>
              <a:t>Perubahan yang terlalu sering dapat memengaruhi struktur software.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PROTOTYPING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AAAB9"/>
                </a:solidFill>
                <a:latin typeface="Aptos"/>
              </a:defRPr>
            </a:pPr>
            <a:r>
              <a:t>Membuat representasi awal untuk mendapatkan umpan balik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11680"/>
            <a:ext cx="2560320" cy="141732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2011680"/>
            <a:ext cx="64008" cy="14173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95528" y="2212848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24028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176272"/>
            <a:ext cx="160934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Kebutuhan awal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011680"/>
            <a:ext cx="2560320" cy="141732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2011680"/>
            <a:ext cx="64008" cy="1417320"/>
          </a:xfrm>
          <a:prstGeom prst="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675887" y="2212848"/>
            <a:ext cx="420624" cy="420624"/>
          </a:xfrm>
          <a:prstGeom prst="ellipse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75887" y="224028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2176272"/>
            <a:ext cx="160934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Prototype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011680"/>
            <a:ext cx="2560320" cy="141732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55080" y="2011680"/>
            <a:ext cx="64008" cy="14173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556248" y="221284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56248" y="224028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2176272"/>
            <a:ext cx="160934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Evaluasi pengguna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011680"/>
            <a:ext cx="2560320" cy="141732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35440" y="2011680"/>
            <a:ext cx="64008" cy="14173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436608" y="2212848"/>
            <a:ext cx="420624" cy="420624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36608" y="224028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85248" y="2176272"/>
            <a:ext cx="160934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Perbaikan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154680" y="2724912"/>
            <a:ext cx="274320" cy="0"/>
          </a:xfrm>
          <a:prstGeom prst="line">
            <a:avLst/>
          </a:prstGeom>
          <a:ln w="25400">
            <a:solidFill>
              <a:srgbClr val="9A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35040" y="2724912"/>
            <a:ext cx="274320" cy="0"/>
          </a:xfrm>
          <a:prstGeom prst="line">
            <a:avLst/>
          </a:prstGeom>
          <a:ln w="25400">
            <a:solidFill>
              <a:srgbClr val="9A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915400" y="2724912"/>
            <a:ext cx="274320" cy="0"/>
          </a:xfrm>
          <a:prstGeom prst="line">
            <a:avLst/>
          </a:prstGeom>
          <a:ln w="25400">
            <a:solidFill>
              <a:srgbClr val="9A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154680" y="3429000"/>
            <a:ext cx="5989320" cy="0"/>
          </a:xfrm>
          <a:prstGeom prst="line">
            <a:avLst/>
          </a:prstGeom>
          <a:ln w="25400">
            <a:solidFill>
              <a:srgbClr val="F4A2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SPIRAL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AAAB9"/>
                </a:solidFill>
                <a:latin typeface="Aptos"/>
              </a:defRPr>
            </a:pPr>
            <a:r>
              <a:t>Iteratif dengan penekanan pada pengelolaan risiko</a:t>
            </a:r>
          </a:p>
        </p:txBody>
      </p:sp>
      <p:sp>
        <p:nvSpPr>
          <p:cNvPr id="5" name="Arc 4"/>
          <p:cNvSpPr/>
          <p:nvPr/>
        </p:nvSpPr>
        <p:spPr>
          <a:xfrm>
            <a:off x="3794760" y="1691640"/>
            <a:ext cx="3383280" cy="3383280"/>
          </a:xfrm>
          <a:prstGeom prst="arc">
            <a:avLst/>
          </a:prstGeom>
          <a:noFill/>
          <a:ln w="508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rc 5"/>
          <p:cNvSpPr/>
          <p:nvPr/>
        </p:nvSpPr>
        <p:spPr>
          <a:xfrm>
            <a:off x="4206240" y="2103120"/>
            <a:ext cx="2560320" cy="2560320"/>
          </a:xfrm>
          <a:prstGeom prst="arc">
            <a:avLst/>
          </a:prstGeom>
          <a:noFill/>
          <a:ln w="50800">
            <a:solidFill>
              <a:srgbClr val="3EC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rc 6"/>
          <p:cNvSpPr/>
          <p:nvPr/>
        </p:nvSpPr>
        <p:spPr>
          <a:xfrm>
            <a:off x="4617720" y="2514600"/>
            <a:ext cx="1737360" cy="1737360"/>
          </a:xfrm>
          <a:prstGeom prst="arc">
            <a:avLst/>
          </a:prstGeom>
          <a:noFill/>
          <a:ln w="508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rc 7"/>
          <p:cNvSpPr/>
          <p:nvPr/>
        </p:nvSpPr>
        <p:spPr>
          <a:xfrm>
            <a:off x="5029200" y="2926080"/>
            <a:ext cx="914400" cy="914400"/>
          </a:xfrm>
          <a:prstGeom prst="arc">
            <a:avLst/>
          </a:prstGeom>
          <a:noFill/>
          <a:ln w="5080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3200400" cy="8229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325880"/>
            <a:ext cx="64008" cy="82296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32688" y="1527048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155448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1490472"/>
            <a:ext cx="224942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Tujuan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423160"/>
            <a:ext cx="3200400" cy="8229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2423160"/>
            <a:ext cx="64008" cy="822960"/>
          </a:xfrm>
          <a:prstGeom prst="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32688" y="2624328"/>
            <a:ext cx="420624" cy="420624"/>
          </a:xfrm>
          <a:prstGeom prst="ellipse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265176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587752"/>
            <a:ext cx="224942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Analisis risiko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520439"/>
            <a:ext cx="3200400" cy="8229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3520439"/>
            <a:ext cx="64008" cy="8229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32688" y="3721607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3749039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685031"/>
            <a:ext cx="224942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Pengembangan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17720"/>
            <a:ext cx="3200400" cy="8229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4617720"/>
            <a:ext cx="64008" cy="8229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32688" y="4818888"/>
            <a:ext cx="420624" cy="420624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484632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4782312"/>
            <a:ext cx="224942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Evaluasi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Agile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AAAB9"/>
                </a:solidFill>
                <a:latin typeface="Aptos"/>
              </a:defRPr>
            </a:pPr>
            <a:r>
              <a:t>Prinsip inti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212080" cy="132588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132588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1527048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55448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554480"/>
            <a:ext cx="4709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Individu &amp; interaksi &gt; proses &amp; 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212080" cy="132588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325880"/>
            <a:ext cx="64008" cy="1325880"/>
          </a:xfrm>
          <a:prstGeom prst="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373368" y="1527048"/>
            <a:ext cx="420624" cy="420624"/>
          </a:xfrm>
          <a:prstGeom prst="ellipse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155448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1554480"/>
            <a:ext cx="4709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Software yang bekerja &gt; dokumentasi komprehensif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71800"/>
            <a:ext cx="5212080" cy="132588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971800"/>
            <a:ext cx="64008" cy="13258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1247" y="317296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" y="320040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200400"/>
            <a:ext cx="4709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Kolaborasi customer &gt; negosiasi kontrak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971800"/>
            <a:ext cx="5212080" cy="132588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2971800"/>
            <a:ext cx="64008" cy="132588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73368" y="3172968"/>
            <a:ext cx="420624" cy="420624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73368" y="320040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200400"/>
            <a:ext cx="4709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Respons terhadap perubahan &gt; mengikuti rencana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0" y="4892040"/>
            <a:ext cx="3749039" cy="86868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011680" y="4892040"/>
            <a:ext cx="64008" cy="8686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240280" y="5056631"/>
            <a:ext cx="3319271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Contoh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7712" y="5550407"/>
            <a:ext cx="324612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5ECF3"/>
                </a:solidFill>
                <a:latin typeface="Aptos"/>
              </a:defRPr>
            </a:pPr>
            <a:r>
              <a:t>Pair Programming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892040"/>
            <a:ext cx="3749039" cy="86868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0" y="4892040"/>
            <a:ext cx="64008" cy="86868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29400" y="5056631"/>
            <a:ext cx="3319271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Contoh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6832" y="5550407"/>
            <a:ext cx="324612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5ECF3"/>
                </a:solidFill>
                <a:latin typeface="Aptos"/>
              </a:defRPr>
            </a:pPr>
            <a:r>
              <a:t>Scrum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Agile Development Life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AAAB9"/>
                </a:solidFill>
                <a:latin typeface="Aptos"/>
              </a:defRPr>
            </a:pPr>
            <a:r>
              <a:t>Siklus pendek, berulang, dan berbasis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31720"/>
            <a:ext cx="1508760" cy="914400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57860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t>Plan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11680" y="2788920"/>
            <a:ext cx="347472" cy="0"/>
          </a:xfrm>
          <a:prstGeom prst="line">
            <a:avLst/>
          </a:prstGeom>
          <a:ln w="25400">
            <a:solidFill>
              <a:srgbClr val="9A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04872" y="2331720"/>
            <a:ext cx="1508760" cy="914400"/>
          </a:xfrm>
          <a:prstGeom prst="round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50591" y="257860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t>Design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13631" y="2788920"/>
            <a:ext cx="347473" cy="0"/>
          </a:xfrm>
          <a:prstGeom prst="line">
            <a:avLst/>
          </a:prstGeom>
          <a:ln w="25400">
            <a:solidFill>
              <a:srgbClr val="9A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06824" y="2331720"/>
            <a:ext cx="1508760" cy="9144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52544" y="257860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t>Develop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15583" y="2788920"/>
            <a:ext cx="347473" cy="0"/>
          </a:xfrm>
          <a:prstGeom prst="line">
            <a:avLst/>
          </a:prstGeom>
          <a:ln w="25400">
            <a:solidFill>
              <a:srgbClr val="9A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08776" y="2331720"/>
            <a:ext cx="1508760" cy="914400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54496" y="257860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t>Test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17536" y="2788920"/>
            <a:ext cx="347472" cy="0"/>
          </a:xfrm>
          <a:prstGeom prst="line">
            <a:avLst/>
          </a:prstGeom>
          <a:ln w="25400">
            <a:solidFill>
              <a:srgbClr val="9A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10728" y="2331720"/>
            <a:ext cx="1508760" cy="914400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257860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t>Review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19488" y="2788920"/>
            <a:ext cx="347472" cy="0"/>
          </a:xfrm>
          <a:prstGeom prst="line">
            <a:avLst/>
          </a:prstGeom>
          <a:ln w="25400">
            <a:solidFill>
              <a:srgbClr val="9A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012680" y="2331720"/>
            <a:ext cx="1508760" cy="914400"/>
          </a:xfrm>
          <a:prstGeom prst="round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0" y="257860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t>Release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1280160" y="3337560"/>
            <a:ext cx="8778240" cy="777240"/>
          </a:xfrm>
          <a:prstGeom prst="line">
            <a:avLst/>
          </a:prstGeom>
          <a:ln w="25400">
            <a:solidFill>
              <a:srgbClr val="F4A2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828800" y="4251960"/>
            <a:ext cx="8503920" cy="91440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828800" y="4251960"/>
            <a:ext cx="64008" cy="914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84832" y="4480560"/>
            <a:ext cx="8001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Setiap iterasi menghasilkan bagian software yang dapat dievaluasi dan menjadi masukan untuk siklus berikutnya.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Pro–Cons Agile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349240" cy="411480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64008" cy="411480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7" y="1481328"/>
            <a:ext cx="420624" cy="420624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50876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444751"/>
            <a:ext cx="439826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PRO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38528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Delivery lebih cepat (mingguan, bukan bulanan).</a:t>
            </a:r>
          </a:p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Lebih fleksibel daripada waterfall.</a:t>
            </a:r>
          </a:p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Responsif terhadap perubahan scope.</a:t>
            </a:r>
          </a:p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Meningkatkan akurasi estimasi.</a:t>
            </a:r>
          </a:p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Mengurangi feature creep.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349240" cy="411480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64008" cy="4114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19088" y="148132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50876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444751"/>
            <a:ext cx="439826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Catatan penting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938528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Keberhasilan membutuhkan keterlibatan project owner/customer yang intensif.</a:t>
            </a:r>
          </a:p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Kesalahpahaman tentang agile dapat menghasilkan budaya kerja yang buruk.</a:t>
            </a:r>
          </a:p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Fokus pada potongan delivery kecil dapat menyulitkan pemikiran strategis bila tidak dikelola.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Reuse-Oriented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98480" cy="114300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64008" cy="1143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10268711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Gagasan utama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984248"/>
            <a:ext cx="10195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E5ECF3"/>
                </a:solidFill>
                <a:latin typeface="Aptos"/>
              </a:defRPr>
            </a:pPr>
            <a:r>
              <a:t>Sistem dibangun dengan mengintegrasikan komponen-komponen sistem yang sudah 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926080"/>
            <a:ext cx="2057400" cy="141732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2926080"/>
            <a:ext cx="64008" cy="14173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95528" y="3127248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315468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3090672"/>
            <a:ext cx="11064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Analisis komponen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926080"/>
            <a:ext cx="2057400" cy="141732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80360" y="2926080"/>
            <a:ext cx="64008" cy="1417320"/>
          </a:xfrm>
          <a:prstGeom prst="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081528" y="3127248"/>
            <a:ext cx="420624" cy="420624"/>
          </a:xfrm>
          <a:prstGeom prst="ellipse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81528" y="315468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3090672"/>
            <a:ext cx="11064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Modifikasi requirement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6360" y="2926080"/>
            <a:ext cx="2057400" cy="141732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66360" y="2926080"/>
            <a:ext cx="64008" cy="14173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367528" y="312724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67528" y="315468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6168" y="3090672"/>
            <a:ext cx="110642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Desain dengan komponen yang ada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2926080"/>
            <a:ext cx="2057400" cy="141732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452360" y="2926080"/>
            <a:ext cx="64008" cy="14173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653528" y="3127248"/>
            <a:ext cx="420624" cy="420624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53528" y="315468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2168" y="3090672"/>
            <a:ext cx="110642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Pengembangan &amp; integrasi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38360" y="2926080"/>
            <a:ext cx="2057400" cy="141732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738360" y="2926080"/>
            <a:ext cx="64008" cy="14173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939528" y="3127248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39528" y="315468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88168" y="3090672"/>
            <a:ext cx="110642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Validasi sistem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Reuse-Oriented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AAAB9"/>
                </a:solidFill>
                <a:latin typeface="Aptos"/>
              </a:defRPr>
            </a:pPr>
            <a:r>
              <a:t>Tipe komponen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4754880" cy="237744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1645920"/>
            <a:ext cx="64008" cy="237744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15568" y="1847088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1874519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7" y="1810512"/>
            <a:ext cx="38039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Web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304288"/>
            <a:ext cx="4251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E5ECF3"/>
                </a:solidFill>
                <a:latin typeface="Aptos"/>
              </a:defRPr>
            </a:pPr>
            <a:r>
              <a:t>Komponen yang menyediakan fungsi melalui layanan yang dapat diintegrasikan oleh sistem lain.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4754880" cy="237744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1645920"/>
            <a:ext cx="64008" cy="2377440"/>
          </a:xfrm>
          <a:prstGeom prst="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601968" y="1847088"/>
            <a:ext cx="420624" cy="420624"/>
          </a:xfrm>
          <a:prstGeom prst="ellipse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01968" y="1874519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0608" y="1810512"/>
            <a:ext cx="38039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Component-based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2304288"/>
            <a:ext cx="4251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E5ECF3"/>
                </a:solidFill>
                <a:latin typeface="Aptos"/>
              </a:defRPr>
            </a:pPr>
            <a:r>
              <a:t>Framework berbasis komponen, misalnya .NET atau J2EE.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Biaya Rekayasa Perangkat Lunak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6400800" cy="141732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64008" cy="14173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597103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Gambaran distribusi biaya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984248"/>
            <a:ext cx="5897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Secara kasar, materi sumber menyebut 60% untuk pembangunan dan 40% untuk pengujian. Pada software custom, biaya evolusi dapat melebihi biaya pembangunan.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063240"/>
            <a:ext cx="3749039" cy="59436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3218688"/>
            <a:ext cx="3602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Aptos"/>
              </a:defRPr>
            </a:pPr>
            <a:r>
              <a:t>Pembangunan • 60%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3063240"/>
            <a:ext cx="2514600" cy="5943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8032" y="3218688"/>
            <a:ext cx="23682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Aptos"/>
              </a:defRPr>
            </a:pPr>
            <a:r>
              <a:t>Pengujian • 40%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1325880"/>
            <a:ext cx="4023360" cy="233172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52360" y="1325880"/>
            <a:ext cx="64008" cy="2331720"/>
          </a:xfrm>
          <a:prstGeom prst="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0" y="1490472"/>
            <a:ext cx="359359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Faktor yang memengaruhi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984248"/>
            <a:ext cx="3520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Tipe sistem.</a:t>
            </a:r>
          </a:p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Kinerja yang dibutuhkan.</a:t>
            </a:r>
          </a:p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Keandalan sistem.</a:t>
            </a:r>
          </a:p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Model pembangunan yang digunakan.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10698480" cy="91440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4114800"/>
            <a:ext cx="64008" cy="914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4343400"/>
            <a:ext cx="101955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Catatan: distribusi biaya bergantung pada konteks proyek; angka di atas mengikuti materi sumber.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Penyebab Permasalahan Etika dalam Sistem Informasi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292608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64008" cy="292608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2688" y="1618488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4592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581912"/>
            <a:ext cx="42611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Pengaruh 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075688"/>
            <a:ext cx="4709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E5ECF3"/>
                </a:solidFill>
                <a:latin typeface="Aptos"/>
              </a:defRPr>
            </a:pPr>
            <a:r>
              <a:t>Pengaruh teknologi informasi yang mendalam membawa konsekuensi terhadap kehidupan manusia dan memunculkan pertanyaan etika.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212080" cy="292608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64008" cy="29260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19088" y="161848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64592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81912"/>
            <a:ext cx="42611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Tanggung jawab manajer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075688"/>
            <a:ext cx="4709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E5ECF3"/>
                </a:solidFill>
                <a:latin typeface="Aptos"/>
              </a:defRPr>
            </a:pPr>
            <a:r>
              <a:t>Manajer yang menentukan penerapan TI dalam organisasi ikut bertanggung jawab terhadap permasalahan etika yang muncul.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Permasalahan Etika dalam Lingkungan Sistem Informasi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2057400" cy="118872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64008" cy="11887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04088" y="1435608"/>
            <a:ext cx="420624" cy="42062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46304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46304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5ECF3"/>
                </a:solidFill>
                <a:latin typeface="Aptos"/>
              </a:defRPr>
            </a:pPr>
            <a:r>
              <a:t>Privacy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234440"/>
            <a:ext cx="2057400" cy="118872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88920" y="1234440"/>
            <a:ext cx="64008" cy="1188720"/>
          </a:xfrm>
          <a:prstGeom prst="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990088" y="1435608"/>
            <a:ext cx="420624" cy="420624"/>
          </a:xfrm>
          <a:prstGeom prst="ellipse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90088" y="146304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146304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5ECF3"/>
                </a:solidFill>
                <a:latin typeface="Aptos"/>
              </a:defRPr>
            </a:pPr>
            <a:r>
              <a:t>Intellectual Property Rights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234440"/>
            <a:ext cx="2057400" cy="118872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74920" y="1234440"/>
            <a:ext cx="64008" cy="1188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276088" y="143560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76088" y="146304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2" y="146304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5ECF3"/>
                </a:solidFill>
                <a:latin typeface="Aptos"/>
              </a:defRPr>
            </a:pPr>
            <a:r>
              <a:t>Penghentian kerja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1234440"/>
            <a:ext cx="2057400" cy="118872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60920" y="1234440"/>
            <a:ext cx="64008" cy="1188720"/>
          </a:xfrm>
          <a:prstGeom prst="rect">
            <a:avLst/>
          </a:prstGeom>
          <a:solidFill>
            <a:srgbClr val="DC5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562088" y="1435608"/>
            <a:ext cx="420624" cy="420624"/>
          </a:xfrm>
          <a:prstGeom prst="ellipse">
            <a:avLst/>
          </a:prstGeom>
          <a:solidFill>
            <a:srgbClr val="DC5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62088" y="146304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6952" y="146304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5ECF3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20" y="1234440"/>
            <a:ext cx="2057400" cy="118872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646920" y="1234440"/>
            <a:ext cx="64008" cy="1188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848088" y="1435608"/>
            <a:ext cx="420624" cy="420624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48088" y="146304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2952" y="146304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5ECF3"/>
                </a:solidFill>
                <a:latin typeface="Aptos"/>
              </a:defRPr>
            </a:pPr>
            <a:r>
              <a:t>Accuracy &amp; Health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2880360"/>
            <a:ext cx="10515600" cy="182880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2960" y="2880360"/>
            <a:ext cx="64008" cy="18288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1560" y="3044952"/>
            <a:ext cx="1008583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Privacy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3538728"/>
            <a:ext cx="10012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Tuntutan seseorang untuk tidak dicampuri, diawasi, atau diganggu oleh orang lain, organisasi, maupun negara. Perlindungan privacy diatur melalui hukum di berbagai negara.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Intellectual Property Rights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98480" cy="109728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64008" cy="1097280"/>
          </a:xfrm>
          <a:prstGeom prst="rect">
            <a:avLst/>
          </a:prstGeom>
          <a:solidFill>
            <a:srgbClr val="DC5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10268711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Isu utama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984248"/>
            <a:ext cx="10195559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E5ECF3"/>
                </a:solidFill>
                <a:latin typeface="Aptos"/>
              </a:defRPr>
            </a:pPr>
            <a:r>
              <a:t>Pembajakan software melanggar hak kekayaan intelektual.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0241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• Mudah dilakukan dan dapat dilakukan di berbagai tempat.</a:t>
            </a:r>
          </a:p>
          <a:p>
            <a:pPr>
              <a:spcAft>
                <a:spcPts val="12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• Hasil salinan tampak sama dengan produk yang dibeli.</a:t>
            </a:r>
          </a:p>
          <a:p>
            <a:pPr>
              <a:spcAft>
                <a:spcPts val="12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• Harga software asli dapat dianggap mahal.</a:t>
            </a:r>
          </a:p>
          <a:p>
            <a:pPr>
              <a:spcAft>
                <a:spcPts val="12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• Anggapan bahwa perusahaan pembuat software tidak dirugikan tidak menghilangkan pelanggaran HAKI.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Penghentian Kerja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303520" cy="35661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64008" cy="35661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44751"/>
            <a:ext cx="487375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Dampak penerapan TI terhadap pekerjaan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38528"/>
            <a:ext cx="4800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Positif: meningkatkan produktivitas.</a:t>
            </a:r>
          </a:p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Positif: meningkatkan kualitas pekerjaan.</a:t>
            </a:r>
          </a:p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Positif: memperkaya pekerjaan.</a:t>
            </a:r>
          </a:p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Potensi negatif: sebagian pekerjaan manusia dapat digantikan oleh teknologi demi efisiensi.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03520" cy="35661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64008" cy="3566160"/>
          </a:xfrm>
          <a:prstGeom prst="rect">
            <a:avLst/>
          </a:prstGeom>
          <a:solidFill>
            <a:srgbClr val="DC5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444751"/>
            <a:ext cx="487375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938528"/>
            <a:ext cx="4800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Kelalaian maupun kesengajaan dapat merusak keamanan sistem.</a:t>
            </a:r>
          </a:p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Contoh risiko: meninggalkan terminal tanpa dijaga.</a:t>
            </a:r>
          </a:p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Menuliskan password di tempat yang dapat dibaca orang lain.</a:t>
            </a:r>
          </a:p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Memberikan password kepada orang lain.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Accuracy &amp;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98480" cy="132588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64008" cy="132588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10268711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984248"/>
            <a:ext cx="10195559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Software yang dipasarkan seharusnya memiliki kualitas yang memadai; menjual sistem yang masih mengandung kesalahan (bug) menimbulkan persoalan etika.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10698480" cy="150876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971800"/>
            <a:ext cx="64008" cy="15087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32688" y="317296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320040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136392"/>
            <a:ext cx="974750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Repetitive Stress Injury (RSI)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630168"/>
            <a:ext cx="10195559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Aktivitas komputer yang berulang dan postur yang kurang tepat dapat memicu keluhan fisik. Materi menekankan pentingnya rancangan kerja yang ergonomis.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Health: Computer Vision Syndrome &amp; Technostress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AAAB9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329184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64008" cy="3291840"/>
          </a:xfrm>
          <a:prstGeom prst="rect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2688" y="1527048"/>
            <a:ext cx="420624" cy="420624"/>
          </a:xfrm>
          <a:prstGeom prst="ellipse">
            <a:avLst/>
          </a:prstGeom>
          <a:solidFill>
            <a:srgbClr val="3E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5448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490472"/>
            <a:ext cx="42611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Computer Vision Syndrome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984248"/>
            <a:ext cx="4709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Materi mengaitkannya dengan penggunaan monitor yang berkepanjangan, seperti mata kering/iritasi, pandangan kabur, dan pusing. Pencegahan perlu memperhatikan kebiasaan penggunaan layar dan ergonomi.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212080" cy="329184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64008" cy="32918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19088" y="152704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554480"/>
            <a:ext cx="420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490472"/>
            <a:ext cx="42611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Technostress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984248"/>
            <a:ext cx="4709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5ECF3"/>
                </a:solidFill>
                <a:latin typeface="Aptos"/>
              </a:defRPr>
            </a:pPr>
            <a:r>
              <a:t>Tekanan/stres yang berkaitan dengan penggunaan komputer secara terus-menerus dapat memengaruhi kenyamanan dan perilaku kerja.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5074920"/>
            <a:ext cx="8321040" cy="685800"/>
          </a:xfrm>
          <a:prstGeom prst="roundRect">
            <a:avLst/>
          </a:prstGeom>
          <a:solidFill>
            <a:srgbClr val="1B3046"/>
          </a:solidFill>
          <a:ln w="12700">
            <a:solidFill>
              <a:srgbClr val="30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920240" y="5074920"/>
            <a:ext cx="64008" cy="6858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76272" y="5303520"/>
            <a:ext cx="7818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5ECF3"/>
                </a:solidFill>
                <a:latin typeface="Aptos"/>
              </a:defRPr>
            </a:pPr>
            <a:r>
              <a:t>Pesan penutup: software yang baik bukan hanya berfungsi, tetapi juga aman, dapat dipelihara, dan dikembangkan secara bertanggung jawab.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166</TotalTime>
  <Words>2444</Words>
  <Application>Microsoft Office PowerPoint</Application>
  <PresentationFormat>Widescreen</PresentationFormat>
  <Paragraphs>574</Paragraphs>
  <Slides>48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Aptos</vt:lpstr>
      <vt:lpstr>Aptos Display</vt:lpstr>
      <vt:lpstr>Arial</vt:lpstr>
      <vt:lpstr>Calibri</vt:lpstr>
      <vt:lpstr>Century Gothic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Rekayasa Perangkat Lunak — Pendahuluan</dc:title>
  <dc:subject>Pertemuan 1: Software Engineering</dc:subject>
  <dc:creator>Dosen / Materi Perkuliahan</dc:creator>
  <cp:keywords/>
  <dc:description>generated using python-pptx</dc:description>
  <cp:lastModifiedBy>mansih</cp:lastModifiedBy>
  <cp:revision>7</cp:revision>
  <dcterms:created xsi:type="dcterms:W3CDTF">2013-01-27T09:14:16Z</dcterms:created>
  <dcterms:modified xsi:type="dcterms:W3CDTF">2026-09-21T02:56:33Z</dcterms:modified>
  <cp:category/>
</cp:coreProperties>
</file>